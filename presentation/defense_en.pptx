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1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2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db24eec608645d7" /><Relationship Type="http://schemas.openxmlformats.org/officeDocument/2006/relationships/extended-properties" Target="/docProps/app.xml" Id="Rdd522a6228464dba" /><Relationship Type="http://schemas.openxmlformats.org/officeDocument/2006/relationships/officeDocument" Target="/ppt/presentation.xml" Id="Rdb967cdc19a84f7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e9ecef4cd584d6b"/>
  </p:sldMasterIdLst>
  <p:notesMasterIdLst>
    <p:notesMasterId xmlns:r="http://schemas.openxmlformats.org/officeDocument/2006/relationships" r:id="R5998e4e1269f4cf3"/>
  </p:notesMasterIdLst>
  <p:sldIdLst>
    <p:sldId xmlns:r="http://schemas.openxmlformats.org/officeDocument/2006/relationships" id="256" r:id="R6be71ca01bc240c3"/>
    <p:sldId xmlns:r="http://schemas.openxmlformats.org/officeDocument/2006/relationships" id="257" r:id="R2a5bcc1177d44b42"/>
    <p:sldId xmlns:r="http://schemas.openxmlformats.org/officeDocument/2006/relationships" id="258" r:id="R966c3968ab53443d"/>
    <p:sldId xmlns:r="http://schemas.openxmlformats.org/officeDocument/2006/relationships" id="259" r:id="R175fd2f340ef4159"/>
    <p:sldId xmlns:r="http://schemas.openxmlformats.org/officeDocument/2006/relationships" id="260" r:id="Red7d673da19f40c6"/>
    <p:sldId xmlns:r="http://schemas.openxmlformats.org/officeDocument/2006/relationships" id="261" r:id="Rd8ffca2d8a5646e8"/>
    <p:sldId xmlns:r="http://schemas.openxmlformats.org/officeDocument/2006/relationships" id="262" r:id="R7be6d736e5e04ad5"/>
    <p:sldId xmlns:r="http://schemas.openxmlformats.org/officeDocument/2006/relationships" id="263" r:id="Rfe5107614a8e4566"/>
    <p:sldId xmlns:r="http://schemas.openxmlformats.org/officeDocument/2006/relationships" id="264" r:id="Rb704c90fd0274ab7"/>
    <p:sldId xmlns:r="http://schemas.openxmlformats.org/officeDocument/2006/relationships" id="265" r:id="Rdb298019ba21474d"/>
    <p:sldId xmlns:r="http://schemas.openxmlformats.org/officeDocument/2006/relationships" id="266" r:id="Rdfbcea0686d14821"/>
    <p:sldId xmlns:r="http://schemas.openxmlformats.org/officeDocument/2006/relationships" id="267" r:id="Rda04a9c2c75c48e5"/>
    <p:sldId xmlns:r="http://schemas.openxmlformats.org/officeDocument/2006/relationships" id="268" r:id="Rff23752581044eb5"/>
    <p:sldId xmlns:r="http://schemas.openxmlformats.org/officeDocument/2006/relationships" id="269" r:id="R49edb88410324cf6"/>
    <p:sldId xmlns:r="http://schemas.openxmlformats.org/officeDocument/2006/relationships" id="270" r:id="Rbc9b78a20d874d5b"/>
    <p:sldId xmlns:r="http://schemas.openxmlformats.org/officeDocument/2006/relationships" id="271" r:id="R769235def7e04aa0"/>
    <p:sldId xmlns:r="http://schemas.openxmlformats.org/officeDocument/2006/relationships" id="272" r:id="Rf16fef99ec254c47"/>
    <p:sldId xmlns:r="http://schemas.openxmlformats.org/officeDocument/2006/relationships" id="273" r:id="R294557da44cd47a0"/>
    <p:sldId xmlns:r="http://schemas.openxmlformats.org/officeDocument/2006/relationships" id="274" r:id="R05398058f3724fa7"/>
    <p:sldId xmlns:r="http://schemas.openxmlformats.org/officeDocument/2006/relationships" id="275" r:id="R470bee3a9c8440c8"/>
    <p:sldId xmlns:r="http://schemas.openxmlformats.org/officeDocument/2006/relationships" id="276" r:id="R68c80263ea864c1f"/>
    <p:sldId xmlns:r="http://schemas.openxmlformats.org/officeDocument/2006/relationships" id="277" r:id="Rc1a714f177fe4544"/>
    <p:sldId xmlns:r="http://schemas.openxmlformats.org/officeDocument/2006/relationships" id="278" r:id="R02a97b08d5f241f0"/>
    <p:sldId xmlns:r="http://schemas.openxmlformats.org/officeDocument/2006/relationships" id="279" r:id="R467333aa494f40de"/>
    <p:sldId xmlns:r="http://schemas.openxmlformats.org/officeDocument/2006/relationships" id="280" r:id="Rce1fc3b1bf3c4cc2"/>
    <p:sldId xmlns:r="http://schemas.openxmlformats.org/officeDocument/2006/relationships" id="281" r:id="R9953bf4520704f19"/>
    <p:sldId xmlns:r="http://schemas.openxmlformats.org/officeDocument/2006/relationships" id="282" r:id="Rdaec58b89fa640fa"/>
    <p:sldId xmlns:r="http://schemas.openxmlformats.org/officeDocument/2006/relationships" id="283" r:id="R354553c1cd3d4cfd"/>
    <p:sldId xmlns:r="http://schemas.openxmlformats.org/officeDocument/2006/relationships" id="284" r:id="R24d209c2f58a4833"/>
    <p:sldId xmlns:r="http://schemas.openxmlformats.org/officeDocument/2006/relationships" id="285" r:id="Red076cb9277e4509"/>
    <p:sldId xmlns:r="http://schemas.openxmlformats.org/officeDocument/2006/relationships" id="286" r:id="R6fed6d53a4b14ac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faef2876ab34d6c" /><Relationship Type="http://schemas.openxmlformats.org/officeDocument/2006/relationships/slideMaster" Target="/ppt/slideMasters/slideMaster1.xml" Id="R2e9ecef4cd584d6b" /><Relationship Type="http://schemas.openxmlformats.org/officeDocument/2006/relationships/notesMaster" Target="/ppt/notesMasters/notesMaster1.xml" Id="R5998e4e1269f4cf3" /><Relationship Type="http://schemas.openxmlformats.org/officeDocument/2006/relationships/presProps" Target="/ppt/presProps.xml" Id="R85b2bb1128994583" /><Relationship Type="http://schemas.openxmlformats.org/officeDocument/2006/relationships/tableStyles" Target="/ppt/tableStyles.xml" Id="R6bc03d885a52449f" /><Relationship Type="http://schemas.openxmlformats.org/officeDocument/2006/relationships/slide" Target="/ppt/slides/slide1.xml" Id="R6be71ca01bc240c3" /><Relationship Type="http://schemas.openxmlformats.org/officeDocument/2006/relationships/slide" Target="/ppt/slides/slide2.xml" Id="R2a5bcc1177d44b42" /><Relationship Type="http://schemas.openxmlformats.org/officeDocument/2006/relationships/slide" Target="/ppt/slides/slide3.xml" Id="R966c3968ab53443d" /><Relationship Type="http://schemas.openxmlformats.org/officeDocument/2006/relationships/slide" Target="/ppt/slides/slide4.xml" Id="R175fd2f340ef4159" /><Relationship Type="http://schemas.openxmlformats.org/officeDocument/2006/relationships/slide" Target="/ppt/slides/slide5.xml" Id="Red7d673da19f40c6" /><Relationship Type="http://schemas.openxmlformats.org/officeDocument/2006/relationships/slide" Target="/ppt/slides/slide6.xml" Id="Rd8ffca2d8a5646e8" /><Relationship Type="http://schemas.openxmlformats.org/officeDocument/2006/relationships/slide" Target="/ppt/slides/slide7.xml" Id="R7be6d736e5e04ad5" /><Relationship Type="http://schemas.openxmlformats.org/officeDocument/2006/relationships/slide" Target="/ppt/slides/slide8.xml" Id="Rfe5107614a8e4566" /><Relationship Type="http://schemas.openxmlformats.org/officeDocument/2006/relationships/slide" Target="/ppt/slides/slide9.xml" Id="Rb704c90fd0274ab7" /><Relationship Type="http://schemas.openxmlformats.org/officeDocument/2006/relationships/slide" Target="/ppt/slides/slide10.xml" Id="Rdb298019ba21474d" /><Relationship Type="http://schemas.openxmlformats.org/officeDocument/2006/relationships/slide" Target="/ppt/slides/slide11.xml" Id="Rdfbcea0686d14821" /><Relationship Type="http://schemas.openxmlformats.org/officeDocument/2006/relationships/slide" Target="/ppt/slides/slide12.xml" Id="Rda04a9c2c75c48e5" /><Relationship Type="http://schemas.openxmlformats.org/officeDocument/2006/relationships/slide" Target="/ppt/slides/slide13.xml" Id="Rff23752581044eb5" /><Relationship Type="http://schemas.openxmlformats.org/officeDocument/2006/relationships/slide" Target="/ppt/slides/slide14.xml" Id="R49edb88410324cf6" /><Relationship Type="http://schemas.openxmlformats.org/officeDocument/2006/relationships/slide" Target="/ppt/slides/slide15.xml" Id="Rbc9b78a20d874d5b" /><Relationship Type="http://schemas.openxmlformats.org/officeDocument/2006/relationships/slide" Target="/ppt/slides/slide16.xml" Id="R769235def7e04aa0" /><Relationship Type="http://schemas.openxmlformats.org/officeDocument/2006/relationships/slide" Target="/ppt/slides/slide17.xml" Id="Rf16fef99ec254c47" /><Relationship Type="http://schemas.openxmlformats.org/officeDocument/2006/relationships/slide" Target="/ppt/slides/slide18.xml" Id="R294557da44cd47a0" /><Relationship Type="http://schemas.openxmlformats.org/officeDocument/2006/relationships/slide" Target="/ppt/slides/slide19.xml" Id="R05398058f3724fa7" /><Relationship Type="http://schemas.openxmlformats.org/officeDocument/2006/relationships/slide" Target="/ppt/slides/slide20.xml" Id="R470bee3a9c8440c8" /><Relationship Type="http://schemas.openxmlformats.org/officeDocument/2006/relationships/slide" Target="/ppt/slides/slide21.xml" Id="R68c80263ea864c1f" /><Relationship Type="http://schemas.openxmlformats.org/officeDocument/2006/relationships/slide" Target="/ppt/slides/slide22.xml" Id="Rc1a714f177fe4544" /><Relationship Type="http://schemas.openxmlformats.org/officeDocument/2006/relationships/slide" Target="/ppt/slides/slide23.xml" Id="R02a97b08d5f241f0" /><Relationship Type="http://schemas.openxmlformats.org/officeDocument/2006/relationships/slide" Target="/ppt/slides/slide24.xml" Id="R467333aa494f40de" /><Relationship Type="http://schemas.openxmlformats.org/officeDocument/2006/relationships/slide" Target="/ppt/slides/slide25.xml" Id="Rce1fc3b1bf3c4cc2" /><Relationship Type="http://schemas.openxmlformats.org/officeDocument/2006/relationships/slide" Target="/ppt/slides/slide26.xml" Id="R9953bf4520704f19" /><Relationship Type="http://schemas.openxmlformats.org/officeDocument/2006/relationships/slide" Target="/ppt/slides/slide27.xml" Id="Rdaec58b89fa640fa" /><Relationship Type="http://schemas.openxmlformats.org/officeDocument/2006/relationships/slide" Target="/ppt/slides/slide28.xml" Id="R354553c1cd3d4cfd" /><Relationship Type="http://schemas.openxmlformats.org/officeDocument/2006/relationships/slide" Target="/ppt/slides/slide29.xml" Id="R24d209c2f58a4833" /><Relationship Type="http://schemas.openxmlformats.org/officeDocument/2006/relationships/slide" Target="/ppt/slides/slide30.xml" Id="Red076cb9277e4509" /><Relationship Type="http://schemas.openxmlformats.org/officeDocument/2006/relationships/slide" Target="/ppt/slides/slide31.xml" Id="R6fed6d53a4b14ac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a7224483d9b473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c401dae3135414e" /><Relationship Type="http://schemas.openxmlformats.org/officeDocument/2006/relationships/notesMaster" Target="/ppt/notesMasters/notesMaster1.xml" Id="R45928f7a680647d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2c59ebe4a1d49cc" /><Relationship Type="http://schemas.openxmlformats.org/officeDocument/2006/relationships/notesMaster" Target="/ppt/notesMasters/notesMaster1.xml" Id="Rc746eb2898814fe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f864c371f154b34" /><Relationship Type="http://schemas.openxmlformats.org/officeDocument/2006/relationships/notesMaster" Target="/ppt/notesMasters/notesMaster1.xml" Id="Rcfe75aa74456436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7c5e983bd574a93" /><Relationship Type="http://schemas.openxmlformats.org/officeDocument/2006/relationships/notesMaster" Target="/ppt/notesMasters/notesMaster1.xml" Id="Red87c5e7063f4f9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ae44a9cba3f47a3" /><Relationship Type="http://schemas.openxmlformats.org/officeDocument/2006/relationships/notesMaster" Target="/ppt/notesMasters/notesMaster1.xml" Id="Rfcb4fd3646524d2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96f2b007bde44c8" /><Relationship Type="http://schemas.openxmlformats.org/officeDocument/2006/relationships/notesMaster" Target="/ppt/notesMasters/notesMaster1.xml" Id="Ra65e7486189047d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c2941be3a444cf7" /><Relationship Type="http://schemas.openxmlformats.org/officeDocument/2006/relationships/notesMaster" Target="/ppt/notesMasters/notesMaster1.xml" Id="R5606087371f64e6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a18bb33a5be46db" /><Relationship Type="http://schemas.openxmlformats.org/officeDocument/2006/relationships/notesMaster" Target="/ppt/notesMasters/notesMaster1.xml" Id="R1ca439953d83402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1efb16b40344526" /><Relationship Type="http://schemas.openxmlformats.org/officeDocument/2006/relationships/notesMaster" Target="/ppt/notesMasters/notesMaster1.xml" Id="R2d6f9729f5684b2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88606d77f5b4a8a" /><Relationship Type="http://schemas.openxmlformats.org/officeDocument/2006/relationships/notesMaster" Target="/ppt/notesMasters/notesMaster1.xml" Id="R1eecc9922a10442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2dff435b8ba4e54" /><Relationship Type="http://schemas.openxmlformats.org/officeDocument/2006/relationships/notesMaster" Target="/ppt/notesMasters/notesMaster1.xml" Id="R4c8665d3758f44f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cecd57bb4b94e8b" /><Relationship Type="http://schemas.openxmlformats.org/officeDocument/2006/relationships/notesMaster" Target="/ppt/notesMasters/notesMaster1.xml" Id="Re1121b42766341d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686cbd9c29f4146" /><Relationship Type="http://schemas.openxmlformats.org/officeDocument/2006/relationships/notesMaster" Target="/ppt/notesMasters/notesMaster1.xml" Id="R15e40586539d4b8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221b08b7e2a4b93" /><Relationship Type="http://schemas.openxmlformats.org/officeDocument/2006/relationships/notesMaster" Target="/ppt/notesMasters/notesMaster1.xml" Id="R275d72b9619344c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3fa7ce50a124b40" /><Relationship Type="http://schemas.openxmlformats.org/officeDocument/2006/relationships/notesMaster" Target="/ppt/notesMasters/notesMaster1.xml" Id="Rab30079718124c0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2845a0c7f694270" /><Relationship Type="http://schemas.openxmlformats.org/officeDocument/2006/relationships/notesMaster" Target="/ppt/notesMasters/notesMaster1.xml" Id="Ra639656dd22a419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b60e55a91bf4d94" /><Relationship Type="http://schemas.openxmlformats.org/officeDocument/2006/relationships/notesMaster" Target="/ppt/notesMasters/notesMaster1.xml" Id="R7305dd58f1f145b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335aadf9f574514" /><Relationship Type="http://schemas.openxmlformats.org/officeDocument/2006/relationships/notesMaster" Target="/ppt/notesMasters/notesMaster1.xml" Id="R27091626c9834dcc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2033cf7286784ed7" /><Relationship Type="http://schemas.openxmlformats.org/officeDocument/2006/relationships/notesMaster" Target="/ppt/notesMasters/notesMaster1.xml" Id="R34b33bc2befc4a4e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07a80b849064a2b" /><Relationship Type="http://schemas.openxmlformats.org/officeDocument/2006/relationships/notesMaster" Target="/ppt/notesMasters/notesMaster1.xml" Id="Rb73e9fef0620498d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9e21f49eb95341d8" /><Relationship Type="http://schemas.openxmlformats.org/officeDocument/2006/relationships/notesMaster" Target="/ppt/notesMasters/notesMaster1.xml" Id="R3e621faeffa84fbb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2ed2e6dc3b2e4dce" /><Relationship Type="http://schemas.openxmlformats.org/officeDocument/2006/relationships/notesMaster" Target="/ppt/notesMasters/notesMaster1.xml" Id="R1296c24aca6940ff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6c1e0de138ae4f59" /><Relationship Type="http://schemas.openxmlformats.org/officeDocument/2006/relationships/notesMaster" Target="/ppt/notesMasters/notesMaster1.xml" Id="Rdc3e2fe61c6d455f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c7f0b47cfde14ee3" /><Relationship Type="http://schemas.openxmlformats.org/officeDocument/2006/relationships/notesMaster" Target="/ppt/notesMasters/notesMaster1.xml" Id="Rd03542dada284ca5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b6ac39e8303c460e" /><Relationship Type="http://schemas.openxmlformats.org/officeDocument/2006/relationships/notesMaster" Target="/ppt/notesMasters/notesMaster1.xml" Id="R5d4e5f691b9748ab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c5e216fef592487a" /><Relationship Type="http://schemas.openxmlformats.org/officeDocument/2006/relationships/notesMaster" Target="/ppt/notesMasters/notesMaster1.xml" Id="Rbeeebf403347401e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9bc8fadf3c2b4f5e" /><Relationship Type="http://schemas.openxmlformats.org/officeDocument/2006/relationships/notesMaster" Target="/ppt/notesMasters/notesMaster1.xml" Id="Rd57bf81ae87e4b6f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3d14d9d9a9c343a0" /><Relationship Type="http://schemas.openxmlformats.org/officeDocument/2006/relationships/notesMaster" Target="/ppt/notesMasters/notesMaster1.xml" Id="Rd17845b5f5f4496d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759ff10a52aa427b" /><Relationship Type="http://schemas.openxmlformats.org/officeDocument/2006/relationships/notesMaster" Target="/ppt/notesMasters/notesMaster1.xml" Id="Rfc1725e2f3214af4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c99aefe7992d497b" /><Relationship Type="http://schemas.openxmlformats.org/officeDocument/2006/relationships/notesMaster" Target="/ppt/notesMasters/notesMaster1.xml" Id="Ra5b0501edf2f402c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47188815a0fe41b5" /><Relationship Type="http://schemas.openxmlformats.org/officeDocument/2006/relationships/notesMaster" Target="/ppt/notesMasters/notesMaster1.xml" Id="R53894d3d56c8457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research question: can a memory system decide whether a new claim should be committed, replace an older claim, or be refused? Preview that the thesis evaluates this decision directly, not only downstream answer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Frame memory as an epistemic state. The key risk appears before retrieval: a bad write can remain active and influence many future answers.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Contrast the two abstractions. This thesis does not argue retrieval is unnecessary; it argues retrieval begins after a governance decision has already shaped the state.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State the narrow gap. Avoid primacy claims: related systems contain update actions, versioning, and abstention-like ideas. The contribution is the operationalized combination and layered evaluation.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Define each action precisely. Stress that ABSTAIN is a no-mutation safety action, not an answer-level refusal, and that SUPERSEDE preserves the old record for audit.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right. Extraction and relation classification can be model-assisted; the action vocabulary, no-mutation behavior, lineage update, and active-only retrieval remain deterministic invariants.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ordered rule. Abstention is evaluated first. Supersession also requires contradiction pressure, so a high score alone cannot deactivate a prior record.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Describe lineage as a state invariant, not a decorative log. Normal retrieval excludes inactive records, while explicitly historical questions can still inspect the chain.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Position MGP-6 correctly: it is a controlled diagnostic, not a community benchmark or population sample. Its role is causal localization of write-policy behavior.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methodological core. Separating layers prevents a downstream answer score from hiding unsafe writes or a decision score from hiding broken lineage.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Lead with the completed full-corpus results. The safest inferential contrast is structured rule governance versus the unstructured zero-shot decision baseline. Do not claim the rule policy beats the LLM policy statistically.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Interpret the error direction. The controller sometimes fails to update under weak evidence, but it does not commit a false write on any gold-ABSTAIN item in this diagnostic.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slide to justify each component. The no-lineage row is especially important: action labels stay unchanged while the stored-state audit property collapses.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why adapter comparisons need two mappings. These values describe behavior under the harness interface, not the systems’ full native capabilities.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 precise about annotation. There is one independent annotator, not a multi-human panel. The four-model agreement study is a model audit and must never be described as human inter-annotator agreement.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Treat this as a negative-result slide. The decisive top-up found 13 regressions among 84 previously successful items. Even the most favorable bound cannot reach 77.2 percent.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Emphasize that no SSP failure was traced to the governance decision policy. The dominant mechanisms are retrieval ranking and answer realization, which demonstrates why layered evaluation matters.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Tie each observed failure to a distinct layer. This is stronger than a single aggregate score because it tells us what intervention would actually address the failure.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 not rush this slide. The thesis makes a narrow supported claim and preserves null and negative findings. These limitations define the next experiments rather than invalidating the controlled diagnostic.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answering the research question: an interpretable governed write path can make memory revision explicit and measurable, but the evidence supports a controlled diagnostic claim, not a final downstream superiority claim.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backup if asked for notation or metric definitions. Clarify that premise resistance and invalid-commit rate are project-defined diagnostic metrics.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when a committee member asks whether baselines are capability-matched. They are reference mechanisms designed to isolate memory policies, not broad system rankings.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Mention exact paired two-sided McNemar tests, Holm correction across the prespecified family, and paired risk differences. No LongMemEval hypothesis test is valid for the incomplete heterogeneous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disagreement sits on the same SUPERSEDE/ABSTAIN boundary as the controller’s conservative errors. It is retained with an explicit blinded-adjudication protocol.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slide to answer leakage concerns. The largest researcher degree of freedom was the LongMemEval failure-replay construction; the audit explicitly rejects it and preserves the contradiction from the complementary top-up.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selection bias visually. Replaying only failures and retaining all old successes can inflate the merged score. The top-up directly tests that assumption and finds regressions.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table if asked for exact adapter values. Repeat that both mappings are disclosed and MemOS is not included as a final-candidate capability result.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State the allowed novelty claim: operationalization and controlled layered evaluation of this combination. Do not claim invention of update actions, abstention, lineage, provenance, or memory governance.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Clarify that governance here is epistemic, not a legal-compliance guarantee. Deployment requires organizational access control and privacy policy beyond this research prototype.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six-shot row is coverage-aware: six missing predictions are aligned as INVALID. It remains incomplete and is excluded from completed-run inferential comparisons.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Point to the repository structure if implementation questions arise: src/ksa contains the library; scripts contain frozen runners and verification; benchmarks contain the redistributable MGP-6 diagnostic; artifacts and reports contain ledgers and audit outputs.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3470c12f0843c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4acceba45bf4e99" /><Relationship Type="http://schemas.openxmlformats.org/officeDocument/2006/relationships/slideLayout" Target="/ppt/slideLayouts/slideLayout1.xml" Id="R82906bba06c048b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2906bba06c048b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35e386cb054c0c" /><Relationship Type="http://schemas.openxmlformats.org/officeDocument/2006/relationships/notesSlide" Target="/ppt/notesSlides/notesSlide1.xml" Id="R2ece458e7c9c447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f4215adc0d4126" /><Relationship Type="http://schemas.openxmlformats.org/officeDocument/2006/relationships/notesSlide" Target="/ppt/notesSlides/notesSlide2.xml" Id="R6fa72b46e9824c8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27b99efa6a4dd7" /><Relationship Type="http://schemas.openxmlformats.org/officeDocument/2006/relationships/notesSlide" Target="/ppt/notesSlides/notesSlide3.xml" Id="R2c426d982ca340b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6af8e8ea264ee1" /><Relationship Type="http://schemas.openxmlformats.org/officeDocument/2006/relationships/notesSlide" Target="/ppt/notesSlides/notesSlide4.xml" Id="Rc158c424e90843f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ec9d19eb924183" /><Relationship Type="http://schemas.openxmlformats.org/officeDocument/2006/relationships/notesSlide" Target="/ppt/notesSlides/notesSlide5.xml" Id="R07e499aa46c0408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78d6df81df4e9e" /><Relationship Type="http://schemas.openxmlformats.org/officeDocument/2006/relationships/notesSlide" Target="/ppt/notesSlides/notesSlide6.xml" Id="Rf976179e62884f3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df49a3aebe47f0" /><Relationship Type="http://schemas.openxmlformats.org/officeDocument/2006/relationships/notesSlide" Target="/ppt/notesSlides/notesSlide7.xml" Id="R2729cbef51594cc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8d63a8eee54b55" /><Relationship Type="http://schemas.openxmlformats.org/officeDocument/2006/relationships/notesSlide" Target="/ppt/notesSlides/notesSlide8.xml" Id="Rc0f6f4de8225409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da4eb6f5ff4ea0" /><Relationship Type="http://schemas.openxmlformats.org/officeDocument/2006/relationships/notesSlide" Target="/ppt/notesSlides/notesSlide9.xml" Id="R443aa5cf0ee24f1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4dd484f38f4822" /><Relationship Type="http://schemas.openxmlformats.org/officeDocument/2006/relationships/notesSlide" Target="/ppt/notesSlides/notesSlide10.xml" Id="R0433fc9da0f74f9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dbd1c2666a4146" /><Relationship Type="http://schemas.openxmlformats.org/officeDocument/2006/relationships/chart" Target="/ppt/slides/charts/chart1.xml" Id="Rc7d1d762913a4dc2" /><Relationship Type="http://schemas.openxmlformats.org/officeDocument/2006/relationships/notesSlide" Target="/ppt/notesSlides/notesSlide11.xml" Id="Rf061bd6d5bf3471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8632853aa1456b" /><Relationship Type="http://schemas.openxmlformats.org/officeDocument/2006/relationships/notesSlide" Target="/ppt/notesSlides/notesSlide12.xml" Id="Re5d0a02346e94bb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09fc88d5ee4c8f" /><Relationship Type="http://schemas.openxmlformats.org/officeDocument/2006/relationships/notesSlide" Target="/ppt/notesSlides/notesSlide13.xml" Id="Rd182b6c111564fb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1e0eba38774071" /><Relationship Type="http://schemas.openxmlformats.org/officeDocument/2006/relationships/chart" Target="/ppt/slides/charts/chart2.xml" Id="R34deb4ea7e7a4e5d" /><Relationship Type="http://schemas.openxmlformats.org/officeDocument/2006/relationships/notesSlide" Target="/ppt/notesSlides/notesSlide14.xml" Id="R1ee0efff35eb436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4af8bad31b4397" /><Relationship Type="http://schemas.openxmlformats.org/officeDocument/2006/relationships/notesSlide" Target="/ppt/notesSlides/notesSlide15.xml" Id="R8b25fb77cdb042e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d61485aaa04b17" /><Relationship Type="http://schemas.openxmlformats.org/officeDocument/2006/relationships/notesSlide" Target="/ppt/notesSlides/notesSlide16.xml" Id="Reedc1e51fc71484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25ef84573e4da2" /><Relationship Type="http://schemas.openxmlformats.org/officeDocument/2006/relationships/notesSlide" Target="/ppt/notesSlides/notesSlide17.xml" Id="R7be11079e9d6463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79ad89e409467c" /><Relationship Type="http://schemas.openxmlformats.org/officeDocument/2006/relationships/notesSlide" Target="/ppt/notesSlides/notesSlide18.xml" Id="R48ef1bedca1446b5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41d782f87c4bb2" /><Relationship Type="http://schemas.openxmlformats.org/officeDocument/2006/relationships/notesSlide" Target="/ppt/notesSlides/notesSlide19.xml" Id="Rdd0645aacc464c5e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68757ee6ab4e9e" /><Relationship Type="http://schemas.openxmlformats.org/officeDocument/2006/relationships/notesSlide" Target="/ppt/notesSlides/notesSlide20.xml" Id="R3778f7952b1d4960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107ebaf5624929" /><Relationship Type="http://schemas.openxmlformats.org/officeDocument/2006/relationships/notesSlide" Target="/ppt/notesSlides/notesSlide21.xml" Id="Rb71e450435944543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7b4baa23424416" /><Relationship Type="http://schemas.openxmlformats.org/officeDocument/2006/relationships/notesSlide" Target="/ppt/notesSlides/notesSlide22.xml" Id="R1c0eb7fd73044fbd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80407a869746bc" /><Relationship Type="http://schemas.openxmlformats.org/officeDocument/2006/relationships/notesSlide" Target="/ppt/notesSlides/notesSlide23.xml" Id="R2114db3b49604a39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d1b01126c94845" /><Relationship Type="http://schemas.openxmlformats.org/officeDocument/2006/relationships/notesSlide" Target="/ppt/notesSlides/notesSlide24.xml" Id="R0ea6a1ca7f7f445e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b7146bfb8346ca" /><Relationship Type="http://schemas.openxmlformats.org/officeDocument/2006/relationships/notesSlide" Target="/ppt/notesSlides/notesSlide25.xml" Id="R19581cedce544bfa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adb6be8b244916" /><Relationship Type="http://schemas.openxmlformats.org/officeDocument/2006/relationships/notesSlide" Target="/ppt/notesSlides/notesSlide26.xml" Id="Ra62ba04eb347413b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77931f698e49a9" /><Relationship Type="http://schemas.openxmlformats.org/officeDocument/2006/relationships/notesSlide" Target="/ppt/notesSlides/notesSlide27.xml" Id="R7c7907fbde3146fa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563957928d460b" /><Relationship Type="http://schemas.openxmlformats.org/officeDocument/2006/relationships/notesSlide" Target="/ppt/notesSlides/notesSlide28.xml" Id="R015d3acf8dbd4d28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db01de1dac428b" /><Relationship Type="http://schemas.openxmlformats.org/officeDocument/2006/relationships/notesSlide" Target="/ppt/notesSlides/notesSlide29.xml" Id="Rb03cce0e9fcd4843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5108e8e33a4771" /><Relationship Type="http://schemas.openxmlformats.org/officeDocument/2006/relationships/notesSlide" Target="/ppt/notesSlides/notesSlide30.xml" Id="R286a84eff1ae4b7c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cd482a800946cf" /><Relationship Type="http://schemas.openxmlformats.org/officeDocument/2006/relationships/notesSlide" Target="/ppt/notesSlides/notesSlide31.xml" Id="R880c87a8adb94cdc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Action accuracy</c:v>
          </c:tx>
          <c:spPr>
            <a:solidFill xmlns:a="http://schemas.openxmlformats.org/drawingml/2006/main">
              <a:srgbClr val="6DCBF4"/>
            </a:solidFill>
          </c:spPr>
          <c:cat>
            <c:strLit>
              <c:ptCount val="7"/>
              <c:pt idx="0">
                <c:v>B2 flat</c:v>
              </c:pt>
              <c:pt idx="1">
                <c:v>B1 none</c:v>
              </c:pt>
              <c:pt idx="2">
                <c:v>B3 recency</c:v>
              </c:pt>
              <c:pt idx="3">
                <c:v>B4 overwrite</c:v>
              </c:pt>
              <c:pt idx="4">
                <c:v>Zero-shot</c:v>
              </c:pt>
              <c:pt idx="5">
                <c:v>LLM KSA</c:v>
              </c:pt>
              <c:pt idx="6">
                <c:v>Rule KSA</c:v>
              </c:pt>
            </c:strLit>
          </c:cat>
          <c:val>
            <c:numLit>
              <c:formatCode>General</c:formatCode>
              <c:ptCount val="7"/>
              <c:pt idx="0">
                <c:v>0.1333</c:v>
              </c:pt>
              <c:pt idx="1">
                <c:v>0.3667</c:v>
              </c:pt>
              <c:pt idx="2">
                <c:v>0.4222</c:v>
              </c:pt>
              <c:pt idx="3">
                <c:v>0.4222</c:v>
              </c:pt>
              <c:pt idx="4">
                <c:v>0.7</c:v>
              </c:pt>
              <c:pt idx="5">
                <c:v>0.8889</c:v>
              </c:pt>
              <c:pt idx="6">
                <c:v>0.9222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350" b="1">
                  <a:solidFill>
                    <a:srgbClr val="111111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5E7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F6368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11111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NOOP→ABSTAIN</c:v>
          </c:tx>
          <c:spPr>
            <a:solidFill xmlns:a="http://schemas.openxmlformats.org/drawingml/2006/main">
              <a:srgbClr val="3D8DFF"/>
            </a:solidFill>
          </c:spPr>
          <c:cat>
            <c:strLit>
              <c:ptCount val="3"/>
              <c:pt idx="0">
                <c:v>Graph</c:v>
              </c:pt>
              <c:pt idx="1">
                <c:v>Mem0</c:v>
              </c:pt>
              <c:pt idx="2">
                <c:v>Letta</c:v>
              </c:pt>
            </c:strLit>
          </c:cat>
          <c:val>
            <c:numLit>
              <c:formatCode>General</c:formatCode>
              <c:ptCount val="3"/>
              <c:pt idx="0">
                <c:v>0.383</c:v>
              </c:pt>
              <c:pt idx="1">
                <c:v>0.622</c:v>
              </c:pt>
              <c:pt idx="2">
                <c:v>0.678</c:v>
              </c:pt>
            </c:numLit>
          </c:val>
        </c:ser>
        <c:ser>
          <c:idx val="1"/>
          <c:order val="1"/>
          <c:tx>
            <c:v>NOOP→KEEP</c:v>
          </c:tx>
          <c:spPr>
            <a:solidFill xmlns:a="http://schemas.openxmlformats.org/drawingml/2006/main">
              <a:srgbClr val="6DCBF4"/>
            </a:solidFill>
          </c:spPr>
          <c:cat>
            <c:strLit>
              <c:ptCount val="3"/>
              <c:pt idx="0">
                <c:v>Graph</c:v>
              </c:pt>
              <c:pt idx="1">
                <c:v>Mem0</c:v>
              </c:pt>
              <c:pt idx="2">
                <c:v>Letta</c:v>
              </c:pt>
            </c:strLit>
          </c:cat>
          <c:val>
            <c:numLit>
              <c:formatCode>General</c:formatCode>
              <c:ptCount val="3"/>
              <c:pt idx="0">
                <c:v>0.139</c:v>
              </c:pt>
              <c:pt idx="1">
                <c:v>0.4</c:v>
              </c:pt>
              <c:pt idx="2">
                <c:v>0.489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350" b="1">
                  <a:solidFill>
                    <a:srgbClr val="111111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5E7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F6368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11111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75">
              <a:solidFill>
                <a:srgbClr val="5F6368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A42567F-59AB-43B2-A7EE-4322FA02D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5300"/>
            <a:ext cx="11201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5F6368"/>
                </a:solidFill>
                <a:latin typeface="Arial"/>
                <a:ea typeface="Arial"/>
                <a:cs typeface="Arial"/>
              </a:rPr>
              <a:t>MASTER’S THESIS DEFENSE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74C4EF-0885-4887-83DB-091169D81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09750"/>
            <a:ext cx="112014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54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54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Governing Long-Term Memory Before Retrieval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7E42D1-573C-4655-9DBE-6B10EC2A8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438650"/>
            <a:ext cx="752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KEEP · SUPERSEDE · ABSTAIN over typed, provenance-tracked, lineage-preserving memory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032C79-80C1-477F-B704-DD9BF84F7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810250"/>
            <a:ext cx="11201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Ali Mohammadi · KSA Memory Governance · 2026</a:t>
            </a:r>
          </a:p>
        </p:txBody>
      </p:sp>
    </p:spTree>
    <p:extLst>
      <p:ext uri="{BB962C8B-B14F-4D97-AF65-F5344CB8AC3E}">
        <p14:creationId xmlns:p14="http://schemas.microsoft.com/office/powerpoint/2010/main" val="52505324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4263C8E-45BD-45A5-9B24-AD8536E2C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95275"/>
            <a:ext cx="11201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F6368"/>
                </a:solidFill>
                <a:latin typeface="Arial"/>
                <a:ea typeface="Arial"/>
                <a:cs typeface="Arial"/>
              </a:rPr>
              <a:t>MOTIVATION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FE9790-B6CA-4024-ADC5-40A74866F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9125"/>
            <a:ext cx="11201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9736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Long-term memory is a mutable state, not a document collection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7F7085-2264-4D35-8C32-7DEBFE8C4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008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4B039D-357C-4A05-906A-62812B5BD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62125"/>
            <a:ext cx="112014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0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Every write changes what the agent will later treat as true.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1172D8-3DA8-4434-B488-23864D1AD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619625"/>
            <a:ext cx="5715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F18B9B-BD11-495F-ACBB-DE878B23A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57750"/>
            <a:ext cx="5181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8511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 retrieval score cannot decide whether evidence is compatible, superseding, or too ambiguous to commit.</a:t>
            </a:r>
          </a:p>
        </p:txBody>
      </p:sp>
    </p:spTree>
    <p:extLst>
      <p:ext uri="{BB962C8B-B14F-4D97-AF65-F5344CB8AC3E}">
        <p14:creationId xmlns:p14="http://schemas.microsoft.com/office/powerpoint/2010/main" val="185146661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E3C4310-3AA2-41F6-B7F4-97D3E1248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1475"/>
            <a:ext cx="11201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18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Retrieval-only pipelines leave the write decision implicit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B16F80-3A99-4442-A596-E6F017F32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008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E76078-FF74-4D2C-8BB0-D8FFA8941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95450"/>
            <a:ext cx="5467350" cy="3790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698302-B6A7-40B8-A48D-CA3BDAE9C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90725"/>
            <a:ext cx="4933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Retrieval-centric memory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33D739-3A07-4268-A5CE-87AE5AF96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86050"/>
            <a:ext cx="4933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store → rank → answer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6B32CB-F2E3-431E-8025-670EE5528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49339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Optimizes whether a relevant item is found. Conflict handling, uncertainty, and history are side effects.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1FCE11-C3F4-445C-9D16-B0D496FB3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695450"/>
            <a:ext cx="5467350" cy="3790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363C08-B467-435E-9147-C3797E542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990725"/>
            <a:ext cx="4933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Governed memory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60DE71-3CFC-494B-9F68-4945B9BA2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686050"/>
            <a:ext cx="4933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inspect → decide → transition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0996F0-BB49-45D2-BABC-D46F39366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657600"/>
            <a:ext cx="49339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Makes the write action explicit, preserves superseded history, and audits why state changed.</a:t>
            </a:r>
          </a:p>
        </p:txBody>
      </p:sp>
    </p:spTree>
    <p:extLst>
      <p:ext uri="{BB962C8B-B14F-4D97-AF65-F5344CB8AC3E}">
        <p14:creationId xmlns:p14="http://schemas.microsoft.com/office/powerpoint/2010/main" val="81172057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241AF47-8E4E-4DB0-ABBC-78F21CB21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1475"/>
            <a:ext cx="11201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993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The research gap is a missing, measurable write boundary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20C666-743D-46C6-B097-8E10D01F8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008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F7DB4F-E458-424A-AF52-55B8B3B5C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66875"/>
            <a:ext cx="546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76B474-13CC-454E-89A7-F29B924C8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57425"/>
            <a:ext cx="54673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Most systems expose ADD/UPDATE/NOOP but do not score whether the operation was correct under conflict.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74ABA6-30CE-422A-86AB-1094664AB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666875"/>
            <a:ext cx="546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Uncertainty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AC3F27-C2CA-4382-9D5C-C83D08C21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257425"/>
            <a:ext cx="54673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NOOP often means ‘nothing new,’ not ‘evidence is unsafe to commit.’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16BC63-E386-497C-91C1-DEDC8C989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86200"/>
            <a:ext cx="546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History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738C68-0BB6-41AD-A6D4-D94F05104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476750"/>
            <a:ext cx="54673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Overwrite can hide the losing claim; append-only memory can leave contradictions simultaneously active.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DA987E-283F-43F9-AAC8-BEB3D84C4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886200"/>
            <a:ext cx="546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Evaluation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39D41A-894F-4441-87F4-6B7EDD1CE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476750"/>
            <a:ext cx="54673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Answer accuracy cannot localize whether failure came from a write, state transition, retrieval, or generation.</a:t>
            </a:r>
          </a:p>
        </p:txBody>
      </p:sp>
    </p:spTree>
    <p:extLst>
      <p:ext uri="{BB962C8B-B14F-4D97-AF65-F5344CB8AC3E}">
        <p14:creationId xmlns:p14="http://schemas.microsoft.com/office/powerpoint/2010/main" val="103865082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7542D90-0A2A-4979-88F7-ACA6D74E8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1475"/>
            <a:ext cx="11201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478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The policy fixes three write actions and their state semantics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77EDF6-1A0D-4047-95A3-9082571D1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008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F2BE07-6693-4AE6-8DA6-93AD7A2DA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314450"/>
            <a:ext cx="11201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The action vocabulary is fixed by code; the model may propose, but cannot invent a fourth transition.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CE8040-B8EC-4540-815A-05B7D3FC6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190750"/>
            <a:ext cx="35623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048DEB-D6D5-423C-B6A4-0DB72E5C8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30289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KEEP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A00F69-8296-4665-B073-7041DA62D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33750"/>
            <a:ext cx="30289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Insert a compatible claim as active. Existing non-conflicting records remain active.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85697C-54D3-4B04-99F0-B5B162683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190750"/>
            <a:ext cx="35623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565BE2-5F4B-4FC1-85BF-B2BB69626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2571750"/>
            <a:ext cx="30289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SUPERSEDE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9939EA-B77F-4DBD-B82F-5BBB268A6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333750"/>
            <a:ext cx="30289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Insert the new claim, deactivate the conflicting prior, and record a lineage link.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639173-2D3C-4DD4-9953-818B8DF95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190750"/>
            <a:ext cx="35623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13305B-1A34-4972-B38C-DAC48EDD8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571750"/>
            <a:ext cx="30289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ABSTAIN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BFF948-EEE1-4A1C-85CF-92622B4D2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333750"/>
            <a:ext cx="30289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Do not mutate memory. Record the conflict or ambiguity for review.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68F2AC-CCCA-4D60-8354-B251D6899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53175"/>
            <a:ext cx="10191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6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Source: thesis §3–4; src/ksa/memory/operations.py</a:t>
            </a:r>
          </a:p>
        </p:txBody>
      </p:sp>
    </p:spTree>
    <p:extLst>
      <p:ext uri="{BB962C8B-B14F-4D97-AF65-F5344CB8AC3E}">
        <p14:creationId xmlns:p14="http://schemas.microsoft.com/office/powerpoint/2010/main" val="120634203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5DD2936-B98F-4B46-81CD-7994361D1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1475"/>
            <a:ext cx="11201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4653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KSA places model proposals inside a deterministic governance boundary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1A3585-3D18-4CFC-9565-AA0ABA6E2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008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F70B44-ED79-40DE-ABFD-05A16BAB4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57450"/>
            <a:ext cx="1524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B8CE68-6396-4717-A4B2-8202B504B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28900"/>
            <a:ext cx="133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Normalize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7314EE-6AE7-4D1C-9680-8A9ED39B4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705100"/>
            <a:ext cx="28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5F6368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8ECEAE-D589-4CEA-A599-1758E0C2B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2457450"/>
            <a:ext cx="1524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E650B5-8F11-48DA-A6CD-B5AD25710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2628900"/>
            <a:ext cx="133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Extract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C9906E-C2D6-4144-A2D0-69E5A370D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2705100"/>
            <a:ext cx="28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5F6368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2ABFBA-5259-43F3-853C-22EE3E54D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457450"/>
            <a:ext cx="1524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6E21A3-C121-4906-9B83-9A6B1838F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628900"/>
            <a:ext cx="133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Resolve prior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7D4FE2-2040-4583-A3CD-0704ACE99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705100"/>
            <a:ext cx="28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5F6368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991A99-F784-4739-8E9C-09F5CDB9F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457450"/>
            <a:ext cx="1524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735911-DD4B-4F1C-B8E6-08A2F6790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2628900"/>
            <a:ext cx="133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Decide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2CC24B-607F-4E10-970F-94EB327F2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2705100"/>
            <a:ext cx="28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5F6368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BBC473-F797-4B62-96FC-E462691EF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457450"/>
            <a:ext cx="1524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A32F8DD-87BD-4C61-90BE-9565AEACB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628900"/>
            <a:ext cx="133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Apply transition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A373AF-226F-4306-A396-90E3C27D3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705100"/>
            <a:ext cx="28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5F6368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94F093-5015-4CB1-8A74-7E33B34BF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2457450"/>
            <a:ext cx="1524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C930AC-2C4D-42CA-AD3D-0F2B1182E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2628900"/>
            <a:ext cx="133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Retrieve / answer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6C0E48-B42D-452B-8056-4590967E0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095750"/>
            <a:ext cx="7429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B28BE74-05A3-4E04-8210-7BF22D787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343400"/>
            <a:ext cx="68199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Typed evidence + relation signals → fixed policy → atomic, auditable memory transition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9F137D-491B-4BC0-9DD2-278503C38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53175"/>
            <a:ext cx="10191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6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Source: src/ksa/pipeline/orchestrator.py; docs/figures/figure_07_ksa_controller_architecture.svg</a:t>
            </a:r>
          </a:p>
        </p:txBody>
      </p:sp>
    </p:spTree>
    <p:extLst>
      <p:ext uri="{BB962C8B-B14F-4D97-AF65-F5344CB8AC3E}">
        <p14:creationId xmlns:p14="http://schemas.microsoft.com/office/powerpoint/2010/main" val="191711668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4366D9D-A991-46DB-83E9-9DDCB1A55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1475"/>
            <a:ext cx="11201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4653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The interpretable controller uses two scores and an ordered decision rule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3353CA-FA1E-461B-BFA4-9CC2410C7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008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9DF819-CE57-4E78-9A04-286F23216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19250"/>
            <a:ext cx="7239000" cy="3562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08D934-6D1D-4EC8-8F27-3F5EE986B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09775"/>
            <a:ext cx="666750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if S_abs &gt; θ_abs(τ):</a:t>
            </a:r>
          </a:p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ABSTAIN</a:t>
            </a:r>
          </a:p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elif S_sup &gt; θ_sup(τ) and max(0, −r) &gt; 0:</a:t>
            </a:r>
          </a:p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SUPERSEDE</a:t>
            </a:r>
          </a:p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else:</a:t>
            </a:r>
          </a:p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KEEP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384E75-2407-4961-BC9B-F5BE1B3A7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19250"/>
            <a:ext cx="360045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EAA09F-90DC-4E08-AC63-EEE6BCFDD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885950"/>
            <a:ext cx="3067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Five legible features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57856C-8334-404F-A464-421838D36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381250"/>
            <a:ext cx="3067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652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Relation evidence, type compatibility, provenance, confidence, conflict signals.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F4B082-0B9B-496A-AE1A-0767821A0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00450"/>
            <a:ext cx="360045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54E0DB-FE32-49EF-8F4F-011BE0AA0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867150"/>
            <a:ext cx="3067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Explainable branch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CE5C88-BA72-4DBE-A403-7F24512D2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362450"/>
            <a:ext cx="3067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Every action logs scores, active thresholds, and the branch taken.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3DDA61-9E8D-4A90-9A51-644025879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53175"/>
            <a:ext cx="10191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6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Source: src/ksa/controller/policy.py and scoring.py</a:t>
            </a:r>
          </a:p>
        </p:txBody>
      </p:sp>
    </p:spTree>
    <p:extLst>
      <p:ext uri="{BB962C8B-B14F-4D97-AF65-F5344CB8AC3E}">
        <p14:creationId xmlns:p14="http://schemas.microsoft.com/office/powerpoint/2010/main" val="10445655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913D53F-69E5-4BE4-90B5-845AF7320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1475"/>
            <a:ext cx="11201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Lineage makes revision reversible and auditable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0A543A-D2B8-4C6E-ADD5-EE134B512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008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EDDC07-DBD5-4F66-AF52-D0FA807F0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861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C639EA-2FFC-4B27-9144-42F81540C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099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EDBDDC-55E5-44EE-BECA-51F016DD0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28875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t₀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A2666E-0C3E-49D3-8331-E2D05DA14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814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Prior active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22B357-D399-4193-BB85-67F91F1A6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71950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The current claim is retrievable as present state.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05036C-BD55-4E46-AAFB-84EDBC202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0099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712488-4B64-45D2-A6FA-40C4155DB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428875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t₁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277612-20EA-4F97-86C0-4FF99FFE5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5814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New conflicting evidence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368781-B2FC-4D27-8887-D91FA71B5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171950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Policy selects SUPERSEDE only with an identified prior.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CEBD33-988B-4FAF-BA39-EC17B3029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0099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6E909A-271A-40CC-BE9A-D517CFEFF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428875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t₂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228FAD-1AD5-42D3-93E2-45CFD3A44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5814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Linked transition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6589FE-5A90-4377-B3AF-039D39BD2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171950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New record is active; old record is inactive but remains queryable.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12F734-1F94-49D9-9717-C923D1F8B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53175"/>
            <a:ext cx="10191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6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Source: src/ksa/memory/operations.py; lineage-integrity metric</a:t>
            </a:r>
          </a:p>
        </p:txBody>
      </p:sp>
    </p:spTree>
    <p:extLst>
      <p:ext uri="{BB962C8B-B14F-4D97-AF65-F5344CB8AC3E}">
        <p14:creationId xmlns:p14="http://schemas.microsoft.com/office/powerpoint/2010/main" val="183720325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0E75562-7019-43FC-B6AD-F5A9D3DB0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1475"/>
            <a:ext cx="11201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17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MGP-6 isolates the write decision across six conflict types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577D3D-D94E-459D-8BC9-12E3B7153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008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DC9F46-260D-4392-B9DF-992834C69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66825"/>
            <a:ext cx="11201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Author-designed synthetic diagnostic; 60 train, 30 development, 90 held-out test items.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29893F-B866-4D5D-8A83-A606B8FE2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38375"/>
            <a:ext cx="35623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A51864-4246-45F3-8319-2A1B57DBB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33700"/>
            <a:ext cx="295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180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D0CE5D-29A5-4A1E-BFA0-1314C2A32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24325"/>
            <a:ext cx="295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scenarios with stable IDs and gold actions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AC76A6-177B-4AB9-9029-FE10EAE02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238375"/>
            <a:ext cx="35623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92E1F8-2478-42E1-85A9-27EFE5860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933700"/>
            <a:ext cx="295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3D8D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E2BCDC-E126-482A-B1B3-630E72EFB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124325"/>
            <a:ext cx="295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scenario types spanning update, conflict, and ambiguity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D5492F-D5BC-426E-B972-9F9B254C8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238375"/>
            <a:ext cx="35623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C363B0-2313-42A4-9598-D1D5BC574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933700"/>
            <a:ext cx="295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90/66/24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0EFBC0-8992-4526-A795-9DAC283F5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124325"/>
            <a:ext cx="295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SUPERSEDE / ABSTAIN / KEEP gold distribution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3163DD-B77B-4920-92BD-FB18AB31C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53175"/>
            <a:ext cx="10191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6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Source: MGP-6 v2 canonical reports; n=180 unless stated</a:t>
            </a:r>
          </a:p>
        </p:txBody>
      </p:sp>
    </p:spTree>
    <p:extLst>
      <p:ext uri="{BB962C8B-B14F-4D97-AF65-F5344CB8AC3E}">
        <p14:creationId xmlns:p14="http://schemas.microsoft.com/office/powerpoint/2010/main" val="8305430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51B2479-6CD8-47C7-9CBA-99E55552F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1475"/>
            <a:ext cx="11201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341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The protocol separates result status and evaluation layer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CD9B93-E417-49CE-AB82-1919280B1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008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DDED3B-4BDB-4FDA-BDC0-23417C9F7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66875"/>
            <a:ext cx="546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Decision layer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165BC9-1009-486B-A82F-FAE6BAF64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57425"/>
            <a:ext cx="54673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Action accuracy, macro-F1, per-action confusion, invalid commits.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8BEDD4-9C25-4077-A026-D3E6F0895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666875"/>
            <a:ext cx="546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Stored-state layer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B3378F-B39F-48A9-8EE1-268A86A81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257425"/>
            <a:ext cx="54673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Lineage integrity, stale retrieval, and transition invariants.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1CB67D-B5EF-4B6E-863F-E8384A110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86200"/>
            <a:ext cx="546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Answer layer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9F32DD-4287-4AF6-BAC0-F72A8EF2C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476750"/>
            <a:ext cx="54673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Premise resistance, implicit application, and downstream QA.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759A1C-33C0-42B4-AAD7-5D1D10F9A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886200"/>
            <a:ext cx="546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Claim gate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D6DD4A-9EB8-47A0-9B2C-C0797E6A9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476750"/>
            <a:ext cx="54673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Only complete, provenance-valid rows become final_candidate; diagnostics remain labeled.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48C9D6-708C-4757-8A86-93EB4B9E2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53175"/>
            <a:ext cx="10191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6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Source: FINAL_EVALUATION_PROTOCOL.md; results ledger v1.1</a:t>
            </a:r>
          </a:p>
        </p:txBody>
      </p:sp>
    </p:spTree>
    <p:extLst>
      <p:ext uri="{BB962C8B-B14F-4D97-AF65-F5344CB8AC3E}">
        <p14:creationId xmlns:p14="http://schemas.microsoft.com/office/powerpoint/2010/main" val="52057546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4101156-7B36-43D4-B19E-A5D6FF4BB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1475"/>
            <a:ext cx="11201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4653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Structured governance reaches the strongest MGP-6 decision accuracy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000B25-AFF9-4BF7-8FDE-B1A3414C6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008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graphicFrame>
        <p:nvGraphicFramePr>
          <p:cNvPr id="10" name="Chart"/>
          <p:cNvGraphicFramePr/>
          <p:nvPr/>
        </p:nvGraphicFramePr>
        <p:xfrm>
          <a:off xmlns:a="http://schemas.openxmlformats.org/drawingml/2006/main" x="457200" y="1381125"/>
          <a:ext xmlns:a="http://schemas.openxmlformats.org/drawingml/2006/main" cx="7000875" cy="4762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7d1d762913a4dc2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049B94-486F-44AE-A036-C0B5DE641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00200"/>
            <a:ext cx="3838575" cy="398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8BC7B5-6686-486C-9097-DC6471571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1962150"/>
            <a:ext cx="32670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+18.9 points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B4ECE9-66AE-42CC-9ECB-D119F283A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762250"/>
            <a:ext cx="3267075" cy="2324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Rule KSA vs unstructured zero-shot decision baseline. Holm-adjusted p = 1.6×10⁻⁵.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The rule and LLM controllers are not significantly different on action accuracy (p = 0.286).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89453D-C2F8-489D-8D96-0C6170BE6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53175"/>
            <a:ext cx="10191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6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Source: MGP-6 v2 canonical reports; n=180 unless stated; Source: reports/STATISTICAL_ANALYSIS.md; paired n=180</a:t>
            </a:r>
          </a:p>
        </p:txBody>
      </p:sp>
    </p:spTree>
    <p:extLst>
      <p:ext uri="{BB962C8B-B14F-4D97-AF65-F5344CB8AC3E}">
        <p14:creationId xmlns:p14="http://schemas.microsoft.com/office/powerpoint/2010/main" val="185709258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225B394-66EE-44C1-BC67-B627C0ECB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1475"/>
            <a:ext cx="11201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193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The rule controller’s remaining errors are conservative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B5F207-DC9D-45EC-8E73-D2875B772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008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AD3B70-8101-417B-8F0A-B442333AC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66825"/>
            <a:ext cx="11201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Full-corpus confusion: KEEP 24/24; ABSTAIN 66/66; SUPERSEDE 76/90.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A16EB4-3365-4AB0-886B-1D16D13DA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38375"/>
            <a:ext cx="35623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91ED97-A031-45FB-B5AF-B6A99671C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33700"/>
            <a:ext cx="295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0.9222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870778-95E3-45AB-A81E-117849C99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24325"/>
            <a:ext cx="295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action accuracy; macro-F1 0.9399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58EDEA-D022-4F4A-A510-5E984297E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238375"/>
            <a:ext cx="35623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FB797D-4B76-44F2-8794-E017D9721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933700"/>
            <a:ext cx="295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3D8DFF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5EA01A-5EB0-4EE3-B56B-8B61FA975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124325"/>
            <a:ext cx="295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invalid-commit rate on gold-ABSTAIN items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808E12-12CF-4273-B041-1DB5627B7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238375"/>
            <a:ext cx="35623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55AF92-FD0C-473B-8FAC-46C90CA90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933700"/>
            <a:ext cx="295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137DBD-C39D-487D-B828-94FEE0E26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124325"/>
            <a:ext cx="295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all misses are SUPERSEDE → ABSTAIN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374BDF-CBE9-4006-85F4-4C8767C64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53175"/>
            <a:ext cx="10191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6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Source: MGP-6 v2 canonical reports; n=180 unless stated</a:t>
            </a:r>
          </a:p>
        </p:txBody>
      </p:sp>
    </p:spTree>
    <p:extLst>
      <p:ext uri="{BB962C8B-B14F-4D97-AF65-F5344CB8AC3E}">
        <p14:creationId xmlns:p14="http://schemas.microsoft.com/office/powerpoint/2010/main" val="57219728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A19333E-8E8D-4BDC-A471-D08363BE3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1475"/>
            <a:ext cx="11201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1807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Ablations attach a distinct failure signature to each component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2849F7-8371-46FE-9D27-9D329AC19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008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A6A5D8-76E3-4E55-B0B5-5468F6F51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57300"/>
            <a:ext cx="11201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Action accuracy alone misses lineage degradation; safety metrics expose different mechanisms.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495300" y="2095500"/>
          <a:ext xmlns:a="http://schemas.openxmlformats.org/drawingml/2006/main" cx="11201400" cy="38481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623982"/>
                <a:gridCol w="1647265"/>
                <a:gridCol w="1647265"/>
                <a:gridCol w="4282888"/>
              </a:tblGrid>
              <a:tr h="641350">
                <a:tc>
                  <a:txBody>
                    <a:bodyPr/>
                    <a:lstStyle/>
                    <a:p>
                      <a:pPr algn="l"/>
                      <a:r>
                        <a:rPr sz="1425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System</a:t>
                      </a:r>
                    </a:p>
                  </a:txBody>
                  <a:tcPr marL="91440" marR="91440" marT="45720" marB="45720">
                    <a:solidFill>
                      <a:srgbClr val="DCEB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Accuracy</a:t>
                      </a:r>
                    </a:p>
                  </a:txBody>
                  <a:tcPr marL="91440" marR="91440" marT="45720" marB="45720">
                    <a:solidFill>
                      <a:srgbClr val="DCEB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Macro-F1</a:t>
                      </a:r>
                    </a:p>
                  </a:txBody>
                  <a:tcPr marL="91440" marR="91440" marT="45720" marB="45720">
                    <a:solidFill>
                      <a:srgbClr val="DCEB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Measured signature</a:t>
                      </a:r>
                    </a:p>
                  </a:txBody>
                  <a:tcPr marL="91440" marR="91440" marT="45720" marB="45720">
                    <a:solidFill>
                      <a:srgbClr val="DCEBFA"/>
                    </a:solidFill>
                  </a:tcPr>
                </a:tc>
              </a:tr>
              <a:tr h="64135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Full KSA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0.9222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0.9399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Invalid commit 0.0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</a:tr>
              <a:tr h="64135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− abstain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0.5556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0.4278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Invalid commit → 1.0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4135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− provenance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0.7000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0.7428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Invalid commit → 0.606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</a:tr>
              <a:tr h="64135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− typing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0.7889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0.5680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KEEP F1 → 0.0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4135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− lineage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0.9222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Lineage 0.8556 → 0.3689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4488FB-244B-4060-9A71-4B7A09803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53175"/>
            <a:ext cx="10191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6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Source: MGP-6 v2 canonical reports; n=180 unless stated</a:t>
            </a:r>
          </a:p>
        </p:txBody>
      </p:sp>
    </p:spTree>
    <p:extLst>
      <p:ext uri="{BB962C8B-B14F-4D97-AF65-F5344CB8AC3E}">
        <p14:creationId xmlns:p14="http://schemas.microsoft.com/office/powerpoint/2010/main" val="179857083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DBADA47-6CE0-4F11-AB66-B883BD71C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1475"/>
            <a:ext cx="11201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757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External-system scores depend strongly on how NOOP is mapped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9F6997-0B5E-40E0-BDCC-A51591C06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008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graphicFrame>
        <p:nvGraphicFramePr>
          <p:cNvPr id="10" name="Chart"/>
          <p:cNvGraphicFramePr/>
          <p:nvPr/>
        </p:nvGraphicFramePr>
        <p:xfrm>
          <a:off xmlns:a="http://schemas.openxmlformats.org/drawingml/2006/main" x="457200" y="1381125"/>
          <a:ext xmlns:a="http://schemas.openxmlformats.org/drawingml/2006/main" cx="7000875" cy="4762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4deb4ea7e7a4e5d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8EA8B0-0FE9-48C3-BF5F-6BF893557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00200"/>
            <a:ext cx="3838575" cy="398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AC949A-31A9-49B1-BDE6-D266BB512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1962150"/>
            <a:ext cx="32670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Mapping-specific bounds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FC776E-FADF-4B2A-9A51-52B2B5354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762250"/>
            <a:ext cx="3267075" cy="2324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These adapters do not expose KSA’s native action semantics. Report both mappings; do not read the favourable mapping as a capability estimate.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MemOS 0.144 is diagnostic_only because supersession is unobservable.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A7DADF-5AE6-499E-B665-B0B109918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53175"/>
            <a:ext cx="10191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6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Source: MGP-6 v2 canonical reports; n=180 unless stated</a:t>
            </a:r>
          </a:p>
        </p:txBody>
      </p:sp>
    </p:spTree>
    <p:extLst>
      <p:ext uri="{BB962C8B-B14F-4D97-AF65-F5344CB8AC3E}">
        <p14:creationId xmlns:p14="http://schemas.microsoft.com/office/powerpoint/2010/main" val="200865062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1AD2391-E06B-4FA2-82AE-68D350FF4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1475"/>
            <a:ext cx="11201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4653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Annotation evidence is strong but comes from one independent annotator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D25C17-8C8D-42F6-B280-7D8B5C1DD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008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DCE2AF-3FB0-45B3-AFD8-7240ADF0D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66825"/>
            <a:ext cx="11201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Held-out test split only; raw labels are withheld from public release pending redistribution consent.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4DB87F-CC52-4EB2-ACB0-B7EA6722C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38375"/>
            <a:ext cx="35623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EDDD61-E837-4F7B-8D39-5FC097D4C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33700"/>
            <a:ext cx="295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89/90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1F445E-48FE-42C9-838A-232840A12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24325"/>
            <a:ext cx="295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independent action-label agreement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057100-286D-4999-965C-A8982E459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238375"/>
            <a:ext cx="35623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5BDF59-4197-459B-A606-A66DFDBCF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933700"/>
            <a:ext cx="295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3D8DFF"/>
                </a:solidFill>
                <a:latin typeface="Arial"/>
                <a:ea typeface="Arial"/>
                <a:cs typeface="Arial"/>
              </a:rPr>
              <a:t>κ=0.981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E25B86-1E34-45A8-99A9-771106632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124325"/>
            <a:ext cx="295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Cohen’s kappa; 95% interval 0.940–1.0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194610-965C-4F9E-80A5-A83C321F3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238375"/>
            <a:ext cx="35623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868A9D-A1C4-452E-8BDB-9695BBBA2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933700"/>
            <a:ext cx="295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4 LLMs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C3C75A-3BBD-406D-A86E-5FCCF5FDC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124325"/>
            <a:ext cx="295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separate audit panel; Fleiss κ 0.9815—not human IAA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E18EF0-238F-4BF8-9FEA-08C290E82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53175"/>
            <a:ext cx="10191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6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Source: human_annotation_agreement_summary.json; LLM panel audit</a:t>
            </a:r>
          </a:p>
        </p:txBody>
      </p:sp>
    </p:spTree>
    <p:extLst>
      <p:ext uri="{BB962C8B-B14F-4D97-AF65-F5344CB8AC3E}">
        <p14:creationId xmlns:p14="http://schemas.microsoft.com/office/powerpoint/2010/main" val="44454606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795A501-2DCD-4296-A9F8-4D137A3CC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1475"/>
            <a:ext cx="11201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4653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LongMemEval has no final result—and the 77.2% construction is rejected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F7C24C-3ED9-4239-A268-81CB951BD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008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90A01F-01CB-41D6-94E3-28E6B2CCB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57300"/>
            <a:ext cx="112014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The clean homogeneous final-1.1 run is externally_pending after HTTP 403 before inference.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A96833-7AF5-4246-B3E3-15854AABF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171700"/>
            <a:ext cx="3562350" cy="2228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49ACB7-B371-4F4A-958F-5A45A7720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19375"/>
            <a:ext cx="3028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96/154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709074-601E-4FAA-B788-3B2C9D90B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52825"/>
            <a:ext cx="3028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raw correct across observed replay + top-up items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F5630C-11C6-472A-B1C5-B5C32D270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171700"/>
            <a:ext cx="3562350" cy="2228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0AA714-8CC6-4930-AB8B-A700CDB99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2619375"/>
            <a:ext cx="3028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53.3–67.8%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8F9FE0-A58F-4FA6-BA9F-014A31F38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552825"/>
            <a:ext cx="3028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full-180 raw worst/best-case bounds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689311-0B4E-4E79-BAE7-AFBF86CF7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171700"/>
            <a:ext cx="3562350" cy="2228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81BB0E-CB4B-409B-8C12-09931010D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619375"/>
            <a:ext cx="3028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55.6–70.0%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DBD2BB-3193-4307-A0C5-C43FBBB26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552825"/>
            <a:ext cx="3028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bounds if four Codex/GPT-5 overrides are retained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567B18-81BB-4D3C-B8F4-283C432E6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810125"/>
            <a:ext cx="84582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CEC"/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C0A036-7E99-4E0F-AB9F-D442C8B6B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5010150"/>
            <a:ext cx="7848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B4231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The historical 139/180 = 77.2% merge replayed only prior failures, carried prior successes forward, and is failure_replay_only—not a result.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ECA980-3327-4ADF-8064-5DF0DB753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53175"/>
            <a:ext cx="10191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6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Source: docs/audit/SCIENTIFIC_SOURCE_OF_TRUTH.md; controller_run_comparison.json</a:t>
            </a:r>
          </a:p>
        </p:txBody>
      </p:sp>
    </p:spTree>
    <p:extLst>
      <p:ext uri="{BB962C8B-B14F-4D97-AF65-F5344CB8AC3E}">
        <p14:creationId xmlns:p14="http://schemas.microsoft.com/office/powerpoint/2010/main" val="172236852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8A5C276-0442-497D-93E7-FCE1E2D64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1475"/>
            <a:ext cx="11201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4653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Single-session preference remains the hardest downstream competency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A5D567-F7BE-4EFD-BD60-1A3E99BC7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008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C34A54-7AEB-4937-980E-77E689206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66825"/>
            <a:ext cx="11201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The failure replay changed prompts, so its 0/19 repair count cannot isolate the answer model.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B00895-287B-4CB4-907D-54F731E8C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38375"/>
            <a:ext cx="35623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23C6EA-3FE0-4FB1-9EF1-2BD344D70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33700"/>
            <a:ext cx="295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8/29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0E8BC2-E272-4BBB-B390-28CC33FA3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24325"/>
            <a:ext cx="295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observed correct across resolved SSP items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E73A7A-2551-4468-9378-1B74764EA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238375"/>
            <a:ext cx="35623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A82B19-00FB-476C-AA55-DDD62E000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933700"/>
            <a:ext cx="295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3D8DFF"/>
                </a:solidFill>
                <a:latin typeface="Arial"/>
                <a:ea typeface="Arial"/>
                <a:cs typeface="Arial"/>
              </a:rPr>
              <a:t>≤9/30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04FF10-F370-432C-B638-A71528D24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124325"/>
            <a:ext cx="295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most favorable full-competency total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2AC39A-CD16-4277-BCB0-0F4073A81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238375"/>
            <a:ext cx="35623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3FF6FF-F044-44A5-9B62-D22BE669C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933700"/>
            <a:ext cx="295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12/19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69953F-E6C7-4E8C-9083-B0A6E43EB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124325"/>
            <a:ext cx="295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failure cases localized to retrieval ranking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AC994E-33FD-42CC-AB2B-4765C35E0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53175"/>
            <a:ext cx="10191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6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Source: artifacts/single_session_preference_error_taxonomy.json; ledger v1.1</a:t>
            </a:r>
          </a:p>
        </p:txBody>
      </p:sp>
    </p:spTree>
    <p:extLst>
      <p:ext uri="{BB962C8B-B14F-4D97-AF65-F5344CB8AC3E}">
        <p14:creationId xmlns:p14="http://schemas.microsoft.com/office/powerpoint/2010/main" val="13970348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F4060C8-9118-4AF1-8CB0-81CBE426B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1475"/>
            <a:ext cx="11201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603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The error analysis separates safety failures from coverage failures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B6DDAD-77C9-4EE7-BF27-8DEC515B9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008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4AF571-5E48-4630-80F0-6AEBAB999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66875"/>
            <a:ext cx="546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Rule KSA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988E4B-2D82-4D3A-B51B-2BC85D862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57425"/>
            <a:ext cx="54673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Conservative supersession recall: every residual error abstains instead of overwriting.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7FB053-D966-4455-8FB4-59AEC372F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666875"/>
            <a:ext cx="546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Zero-shot decision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35A460-4716-4CA9-A17F-39F4E82EE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257425"/>
            <a:ext cx="54673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Invalid commits on 60.6% of gold-ABSTAIN items.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098408-65C5-450D-A1D2-A3C8F9881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86200"/>
            <a:ext cx="546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No-lineage ablation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B1E8A0-FC03-476E-AA66-DA0815C5B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476750"/>
            <a:ext cx="54673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Decision accuracy is unchanged while auditability degrades sharply.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E28681-2906-4349-B9EC-4E6A01781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886200"/>
            <a:ext cx="546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LongMemEval SSP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1B587B-4E6A-43F2-B672-CA5B9D7B1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476750"/>
            <a:ext cx="54673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Failures localize downstream to ranking, context construction, attribution, and generation.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E42880-7D11-4F03-853D-F2A55ABC2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53175"/>
            <a:ext cx="10191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6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Ref: ERROR_TAXONOMY.md · SSP taxonomy</a:t>
            </a:r>
          </a:p>
        </p:txBody>
      </p:sp>
    </p:spTree>
    <p:extLst>
      <p:ext uri="{BB962C8B-B14F-4D97-AF65-F5344CB8AC3E}">
        <p14:creationId xmlns:p14="http://schemas.microsoft.com/office/powerpoint/2010/main" val="58539355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E948B79-F4BC-4748-96CE-9B3303FD5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1475"/>
            <a:ext cx="11201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The conclusions are deliberately bounded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10C508-0735-4671-AD80-CDCE420B0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008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FC2E15-0A61-4089-A370-A7B5154C9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66875"/>
            <a:ext cx="546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Synthetic diagnostic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569995-F870-4D62-93C6-D4322C8E1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57425"/>
            <a:ext cx="54673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MGP-6 is author-designed, small, and not a representative population sample.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13A0AE-3755-43E9-8E48-64233BD47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666875"/>
            <a:ext cx="546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Annotation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884440-3281-470C-8AE4-8C531CCC9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257425"/>
            <a:ext cx="54673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One independent annotator; identity and independence rest on author attestation.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6288DE-4999-4961-9754-496A0AF93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86200"/>
            <a:ext cx="546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Adapter validity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5A630A-9032-4DCB-AB51-8029BBBC0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476750"/>
            <a:ext cx="54673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External comparisons are harness- and mapping-dependent upper bounds.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0C4F99-A5C0-4D44-BEC4-16F7BC320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886200"/>
            <a:ext cx="546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Downstream evidence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370A11-5AE9-4B30-8A60-371D82F42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476750"/>
            <a:ext cx="54673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No clean final LongMemEval comparison; bespoke safety metrics need external validation.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304F19-79E3-4772-AB9F-AD70351F4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53175"/>
            <a:ext cx="10191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6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Source: reports/THREATS_TO_VALIDITY.md; docs/limitations.md</a:t>
            </a:r>
          </a:p>
        </p:txBody>
      </p:sp>
    </p:spTree>
    <p:extLst>
      <p:ext uri="{BB962C8B-B14F-4D97-AF65-F5344CB8AC3E}">
        <p14:creationId xmlns:p14="http://schemas.microsoft.com/office/powerpoint/2010/main" val="1081078741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4412FB5-6989-453A-BE20-C272EA41C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8625"/>
            <a:ext cx="11201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5F6368"/>
                </a:solidFill>
                <a:latin typeface="Arial"/>
                <a:ea typeface="Arial"/>
                <a:cs typeface="Arial"/>
              </a:rPr>
              <a:t>CONCLUSION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DC0940-549A-4494-959D-0F158B26A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38250"/>
            <a:ext cx="112014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Govern the write; then evaluate the state and the answer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B84FF7-6B7C-41FA-B4F9-A8353E7F9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29000"/>
            <a:ext cx="685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187451-AE8D-4B0E-9243-E815004AC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48125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 fixed KEEP / SUPERSEDE / ABSTAIN boundary makes memory transitions explicit and auditable.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ACC2CC-054F-429F-A440-9F1E53A69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429000"/>
            <a:ext cx="685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7F4F06-4980-4AEB-8CBF-56DD03381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4048125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MGP-6 shows distinct safety and lineage signatures that answer accuracy alone would hide.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B08F6E-0206-4528-8957-5C9C4A12C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429000"/>
            <a:ext cx="685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9140DE-6C4A-46BF-81C3-FA22034E3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048125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The downstream evidence remains incomplete; the clean homogeneous run is the next external action.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6098D9-37D4-4396-967D-7F534347D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924550"/>
            <a:ext cx="11201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5F6368"/>
                </a:solidFill>
                <a:latin typeface="Arial"/>
                <a:ea typeface="Arial"/>
                <a:cs typeface="Arial"/>
              </a:rPr>
              <a:t>Questions — backup slides follow</a:t>
            </a:r>
          </a:p>
        </p:txBody>
      </p:sp>
    </p:spTree>
    <p:extLst>
      <p:ext uri="{BB962C8B-B14F-4D97-AF65-F5344CB8AC3E}">
        <p14:creationId xmlns:p14="http://schemas.microsoft.com/office/powerpoint/2010/main" val="59102323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8BDD96B-DF16-440D-B203-5BCDDB35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1475"/>
            <a:ext cx="11201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Backup — formal decision and failure definitions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A42830-36CB-4A05-9060-D885FB4D5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008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09648B-13BA-468A-ADC8-09D768078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19250"/>
            <a:ext cx="7239000" cy="3562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BE0F7A-B774-4DB3-9AF2-860196FF0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09775"/>
            <a:ext cx="666750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d_t = π(c_t, r_t, M_t) ∈ {KEEP, SUPERSEDE, ABSTAIN}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Invalid commit = Pr(ŷ ∈ {K,S} | y=A)</a:t>
            </a:r>
          </a:p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Missed supersession = Pr(ŷ ≠ S | y=S)</a:t>
            </a:r>
          </a:p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Lineage integrity = valid links / expected links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999A30-2F5B-47FE-8D8B-DAF43F866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19250"/>
            <a:ext cx="360045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8DE9F7-BCD7-4772-A065-4156D09D4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885950"/>
            <a:ext cx="3067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Commit safety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66832B-10D5-4892-AE36-7B559DF49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381250"/>
            <a:ext cx="3067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982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ABSTAIN is the gold action whenever evidence must not mutate state.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78FBB6-8A68-482F-B800-29A820911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00450"/>
            <a:ext cx="360045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F56BA2-6659-4656-8507-0AD8F22F5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867150"/>
            <a:ext cx="3067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State correctness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B59304-3557-419B-8466-9CD4D5280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362450"/>
            <a:ext cx="3067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 correct label is insufficient if the transition or lineage is malformed.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F3BD0B-33D2-4969-92E3-8A60629C7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53175"/>
            <a:ext cx="10191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6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Source: thesis Appendix C; FINAL_METRIC_DEFINITIONS.md</a:t>
            </a:r>
          </a:p>
        </p:txBody>
      </p:sp>
    </p:spTree>
    <p:extLst>
      <p:ext uri="{BB962C8B-B14F-4D97-AF65-F5344CB8AC3E}">
        <p14:creationId xmlns:p14="http://schemas.microsoft.com/office/powerpoint/2010/main" val="141524337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9543295-831A-401F-AAC9-EFF1ADF58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1475"/>
            <a:ext cx="11201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268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Backup — baseline mechanisms and what each can express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0AA41E-BEE4-41BC-87F3-20D6195F4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008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graphicFrame>
        <p:nvGraphicFramePr>
          <p:cNvPr id="7" name=""/>
          <p:cNvGraphicFramePr/>
          <p:nvPr/>
        </p:nvGraphicFramePr>
        <p:xfrm>
          <a:off xmlns:a="http://schemas.openxmlformats.org/drawingml/2006/main" x="495300" y="1543050"/>
          <a:ext xmlns:a="http://schemas.openxmlformats.org/drawingml/2006/main" cx="11201400" cy="4476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12609"/>
                <a:gridCol w="4652889"/>
                <a:gridCol w="2067951"/>
                <a:gridCol w="2067951"/>
              </a:tblGrid>
              <a:tr h="639536">
                <a:tc>
                  <a:txBody>
                    <a:bodyPr/>
                    <a:lstStyle/>
                    <a:p>
                      <a:pPr algn="l"/>
                      <a:r>
                        <a:rPr sz="1425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System</a:t>
                      </a:r>
                    </a:p>
                  </a:txBody>
                  <a:tcPr marL="91440" marR="91440" marT="45720" marB="45720">
                    <a:solidFill>
                      <a:srgbClr val="DCEB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Mechanism</a:t>
                      </a:r>
                    </a:p>
                  </a:txBody>
                  <a:tcPr marL="91440" marR="91440" marT="45720" marB="45720">
                    <a:solidFill>
                      <a:srgbClr val="DCEB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Abstain?</a:t>
                      </a:r>
                    </a:p>
                  </a:txBody>
                  <a:tcPr marL="91440" marR="91440" marT="45720" marB="45720">
                    <a:solidFill>
                      <a:srgbClr val="DCEB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Lineage?</a:t>
                      </a:r>
                    </a:p>
                  </a:txBody>
                  <a:tcPr marL="91440" marR="91440" marT="45720" marB="45720">
                    <a:solidFill>
                      <a:srgbClr val="DCEBFA"/>
                    </a:solidFill>
                  </a:tcPr>
                </a:tc>
              </a:tr>
              <a:tr h="639536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B1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No persistent memory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</a:tr>
              <a:tr h="639536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B2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Flat vector retrieval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39536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B3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Recency pruning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</a:tr>
              <a:tr h="639536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B4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Naive overwrite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39536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Rule KSA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Five-feature governed policy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</a:tr>
              <a:tr h="639536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LLM KSA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Qwen decision in same scaffold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B24388-DCA5-4D13-8276-9108E2272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53175"/>
            <a:ext cx="10191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6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Source: thesis §5.3; benchmark adapters</a:t>
            </a:r>
          </a:p>
        </p:txBody>
      </p:sp>
    </p:spTree>
    <p:extLst>
      <p:ext uri="{BB962C8B-B14F-4D97-AF65-F5344CB8AC3E}">
        <p14:creationId xmlns:p14="http://schemas.microsoft.com/office/powerpoint/2010/main" val="822254732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36601E0-652E-4D20-99B5-3469284E8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1475"/>
            <a:ext cx="11201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Backup — statistical tests and inferential scope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4109A4-2AF5-4B5B-BDC2-8FEE80D24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008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graphicFrame>
        <p:nvGraphicFramePr>
          <p:cNvPr id="7" name=""/>
          <p:cNvGraphicFramePr/>
          <p:nvPr/>
        </p:nvGraphicFramePr>
        <p:xfrm>
          <a:off xmlns:a="http://schemas.openxmlformats.org/drawingml/2006/main" x="495300" y="1543050"/>
          <a:ext xmlns:a="http://schemas.openxmlformats.org/drawingml/2006/main" cx="11201400" cy="4476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845257"/>
                <a:gridCol w="2173406"/>
                <a:gridCol w="2173406"/>
                <a:gridCol w="3009331"/>
              </a:tblGrid>
              <a:tr h="895350">
                <a:tc>
                  <a:txBody>
                    <a:bodyPr/>
                    <a:lstStyle/>
                    <a:p>
                      <a:pPr algn="l"/>
                      <a:r>
                        <a:rPr sz="1425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Contrast</a:t>
                      </a:r>
                    </a:p>
                  </a:txBody>
                  <a:tcPr marL="91440" marR="91440" marT="45720" marB="45720">
                    <a:solidFill>
                      <a:srgbClr val="DCEB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Risk diff.</a:t>
                      </a:r>
                    </a:p>
                  </a:txBody>
                  <a:tcPr marL="91440" marR="91440" marT="45720" marB="45720">
                    <a:solidFill>
                      <a:srgbClr val="DCEB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Holm p</a:t>
                      </a:r>
                    </a:p>
                  </a:txBody>
                  <a:tcPr marL="91440" marR="91440" marT="45720" marB="45720">
                    <a:solidFill>
                      <a:srgbClr val="DCEB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Interpretation</a:t>
                      </a:r>
                    </a:p>
                  </a:txBody>
                  <a:tcPr marL="91440" marR="91440" marT="45720" marB="45720">
                    <a:solidFill>
                      <a:srgbClr val="DCEBFA"/>
                    </a:solidFill>
                  </a:tcPr>
                </a:tc>
              </a:tr>
              <a:tr h="89535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Rule vs zero-shot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+0.2222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1.6×10⁻⁵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Supported improvement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</a:tr>
              <a:tr h="89535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Rule vs LLM KSA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+0.0333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0.286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Not significant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89535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Rule vs B4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+0.5000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&lt;0.001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Diagnostic contrast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</a:tr>
              <a:tr h="89535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LongMemEval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No test: no clean design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410E50-6BAD-424D-89DC-694E965C3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53175"/>
            <a:ext cx="10191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6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Source: reports/STATISTICAL_ANALYSIS.md; paired n=180</a:t>
            </a:r>
          </a:p>
        </p:txBody>
      </p:sp>
    </p:spTree>
    <p:extLst>
      <p:ext uri="{BB962C8B-B14F-4D97-AF65-F5344CB8AC3E}">
        <p14:creationId xmlns:p14="http://schemas.microsoft.com/office/powerpoint/2010/main" val="1947430433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B106A49-A79C-4EE1-9F8C-EE0391327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1475"/>
            <a:ext cx="11201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1795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Backup — annotation agreement and the single boundary case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0337EB-6AB4-4282-8395-9EC2B834C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008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A02323-8D13-4257-9C25-94A6255F6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66825"/>
            <a:ext cx="11201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The one disagreement is an implicit-conflict item: gold SUPERSEDE, independent annotator ABSTAIN.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ED5483-2CB2-44A1-A698-0B66F3EF3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38375"/>
            <a:ext cx="35623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F36FEF-F578-42E3-9E2B-AEC521688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33700"/>
            <a:ext cx="295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0.9889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C76A3E-883B-49EC-85C8-6837557B2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24325"/>
            <a:ext cx="295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raw agreement on 90 held-out items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41014E-BCD0-42C7-B280-DD8E890F0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238375"/>
            <a:ext cx="35623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9068F7-0099-4E44-8949-D02685E22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933700"/>
            <a:ext cx="295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3D8DFF"/>
                </a:solidFill>
                <a:latin typeface="Arial"/>
                <a:ea typeface="Arial"/>
                <a:cs typeface="Arial"/>
              </a:rPr>
              <a:t>0.9815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8FE25E-7C30-4643-AB68-B46CAD3E2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124325"/>
            <a:ext cx="295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four-LLM Fleiss kappa; separate model audit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38D1CE-8A7E-4959-B5E8-1FA47E808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238375"/>
            <a:ext cx="35623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B956F2-AD38-46F0-B736-0E7387E47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933700"/>
            <a:ext cx="295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±1.1%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0DFDB4-A164-4DD6-B201-07BC5E4D3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124325"/>
            <a:ext cx="295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test-split sensitivity of one disputed item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3E90CD-E67B-4ECF-987F-991551FBF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53175"/>
            <a:ext cx="10191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6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Source: annotation audit package and thesis Appendix D</a:t>
            </a:r>
          </a:p>
        </p:txBody>
      </p:sp>
    </p:spTree>
    <p:extLst>
      <p:ext uri="{BB962C8B-B14F-4D97-AF65-F5344CB8AC3E}">
        <p14:creationId xmlns:p14="http://schemas.microsoft.com/office/powerpoint/2010/main" val="525490356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EC055ED-8BBE-4190-AB15-BF38C72F0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1475"/>
            <a:ext cx="11201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1486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Backup — leakage controls and researcher degrees of freedom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20F2FB-CCBD-4845-B030-CEC5A5DBD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008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9C37CD-8D1E-4A15-9CAC-433A73542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66875"/>
            <a:ext cx="546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Fixed identifiers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6F3CD3-862A-4FED-8C5F-9397D7EDB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57425"/>
            <a:ext cx="54673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Predictions align by stable scenario/session ID; duplicates and coverage are verified.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FE1835-1F17-4E91-AC04-1F97FEE43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666875"/>
            <a:ext cx="546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Split disclosure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FD5037-FCC8-4E24-A078-BF77FD780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257425"/>
            <a:ext cx="54673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Full-180 MGP results include train and development; held-out test-90 is reported separately.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4AABE7-B31B-424B-9CD7-D9FC8EB7F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86200"/>
            <a:ext cx="546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Run status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E41FAB-EA87-4BDF-A3DA-1BC8640F3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476750"/>
            <a:ext cx="54673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Replay-only, incomplete, invalid, and diagnostic runs cannot enter final main tables.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EC1CEE-4515-40E4-893A-07F6936C6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886200"/>
            <a:ext cx="546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Post-hoc changes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C2F8E7-72F4-461E-9B9A-F6501DE2D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476750"/>
            <a:ext cx="54673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Overrides, selected-failure replay, model changes, and top-ups are recorded—not blended silently.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1A260E-7266-4B19-A63F-EC9CD3DCE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53175"/>
            <a:ext cx="10191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6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Source: docs/audit/DATA_LEAKAGE_AND_RESEARCHER_DOF.md</a:t>
            </a:r>
          </a:p>
        </p:txBody>
      </p:sp>
    </p:spTree>
    <p:extLst>
      <p:ext uri="{BB962C8B-B14F-4D97-AF65-F5344CB8AC3E}">
        <p14:creationId xmlns:p14="http://schemas.microsoft.com/office/powerpoint/2010/main" val="665447065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159A286-A14D-4459-923E-5B280D7A9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1475"/>
            <a:ext cx="11201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816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Backup — why the LongMemEval evidence is diagnostic only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19B258-FD2F-47D9-8F49-CF5D0D83E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008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8EFF82-C329-460A-AAFA-709980931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861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C85CD8-0658-423C-80B4-EF94A266C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099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51DB22-C15A-453D-9851-DBC8BEDE4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28875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v7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40A1B7-6FAF-4670-9D6E-CDE6A14A4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814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Contaminated 180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0D0657-F1DD-4925-8718-6B3CE85EE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71950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316 HTTP-402 traces; 388 empty fallbacks; no-op escalation.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8158E4-D2FA-4324-A4D2-65F6C6A23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0099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B435D8-461E-4389-B667-F73D5CD0D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428875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Replay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05BD78-2944-410E-A96E-39C7CAB0C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5814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Selected 70 failures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C870E3-9CEB-4179-940A-34D9BCE1D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171950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25/70 correct under changed prompts and judge regime.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9D75C8-5BFA-417C-BA85-7CDFD7C36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0099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61B20A-1F54-47F8-AE2C-0385190BD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428875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Top-up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7E4EA4-4484-437C-992F-DA99D8942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5814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Complementary 110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60C0B3-0FE9-469B-A8C7-D26C9DD3A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171950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84 completed; 71 correct and 13 regressions.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9BA276-039E-41EF-8B94-06B29D7C8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53175"/>
            <a:ext cx="10191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6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Source: docs/audit/SCIENTIFIC_SOURCE_OF_TRUTH.md; controller_run_comparison.json</a:t>
            </a:r>
          </a:p>
        </p:txBody>
      </p:sp>
    </p:spTree>
    <p:extLst>
      <p:ext uri="{BB962C8B-B14F-4D97-AF65-F5344CB8AC3E}">
        <p14:creationId xmlns:p14="http://schemas.microsoft.com/office/powerpoint/2010/main" val="58188919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9B4C1FF-A9B7-49BD-B2A9-103561157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1475"/>
            <a:ext cx="11201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Backup — external action mappings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6529AE-9BA6-4D07-B163-1DB1141A8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008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graphicFrame>
        <p:nvGraphicFramePr>
          <p:cNvPr id="7" name=""/>
          <p:cNvGraphicFramePr/>
          <p:nvPr/>
        </p:nvGraphicFramePr>
        <p:xfrm>
          <a:off xmlns:a="http://schemas.openxmlformats.org/drawingml/2006/main" x="495300" y="1543050"/>
          <a:ext xmlns:a="http://schemas.openxmlformats.org/drawingml/2006/main" cx="11201400" cy="4476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40280"/>
                <a:gridCol w="2720340"/>
                <a:gridCol w="2720340"/>
                <a:gridCol w="3520440"/>
              </a:tblGrid>
              <a:tr h="895350">
                <a:tc>
                  <a:txBody>
                    <a:bodyPr/>
                    <a:lstStyle/>
                    <a:p>
                      <a:pPr algn="l"/>
                      <a:r>
                        <a:rPr sz="1425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Adapter</a:t>
                      </a:r>
                    </a:p>
                  </a:txBody>
                  <a:tcPr marL="91440" marR="91440" marT="45720" marB="45720">
                    <a:solidFill>
                      <a:srgbClr val="DCEB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NOOP→ABSTAIN</a:t>
                      </a:r>
                    </a:p>
                  </a:txBody>
                  <a:tcPr marL="91440" marR="91440" marT="45720" marB="45720">
                    <a:solidFill>
                      <a:srgbClr val="DCEB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NOOP→KEEP</a:t>
                      </a:r>
                    </a:p>
                  </a:txBody>
                  <a:tcPr marL="91440" marR="91440" marT="45720" marB="45720">
                    <a:solidFill>
                      <a:srgbClr val="DCEB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Structural caveat</a:t>
                      </a:r>
                    </a:p>
                  </a:txBody>
                  <a:tcPr marL="91440" marR="91440" marT="45720" marB="45720">
                    <a:solidFill>
                      <a:srgbClr val="DCEBFA"/>
                    </a:solidFill>
                  </a:tcPr>
                </a:tc>
              </a:tr>
              <a:tr h="89535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Letta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0.678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0.489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No native KSA abstain semantics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</a:tr>
              <a:tr h="89535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Mem0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0.622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0.400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NOOP means no update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89535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Graphiti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0.383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0.139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Graph invalidation ≠ gold action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</a:tr>
              <a:tr h="89535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MemOS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0.144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Supersession unobservable; bound only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F14C5E-836B-4ED8-BE1A-65FA5C9BC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53175"/>
            <a:ext cx="10191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6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Source: external-system reports; ledger v1.1</a:t>
            </a:r>
          </a:p>
        </p:txBody>
      </p:sp>
    </p:spTree>
    <p:extLst>
      <p:ext uri="{BB962C8B-B14F-4D97-AF65-F5344CB8AC3E}">
        <p14:creationId xmlns:p14="http://schemas.microsoft.com/office/powerpoint/2010/main" val="1125016527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B52E980-38F0-44D4-ABFC-3AAA4888F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1475"/>
            <a:ext cx="11201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803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Backup — nearest conceptual neighbors narrow the novelty claim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121DEC-6102-4B19-81F6-5A7ED8610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008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graphicFrame>
        <p:nvGraphicFramePr>
          <p:cNvPr id="7" name=""/>
          <p:cNvGraphicFramePr/>
          <p:nvPr/>
        </p:nvGraphicFramePr>
        <p:xfrm>
          <a:off xmlns:a="http://schemas.openxmlformats.org/drawingml/2006/main" x="495300" y="1543050"/>
          <a:ext xmlns:a="http://schemas.openxmlformats.org/drawingml/2006/main" cx="11201400" cy="4476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40280"/>
                <a:gridCol w="4135902"/>
                <a:gridCol w="4825218"/>
              </a:tblGrid>
              <a:tr h="746125">
                <a:tc>
                  <a:txBody>
                    <a:bodyPr/>
                    <a:lstStyle/>
                    <a:p>
                      <a:pPr algn="l"/>
                      <a:r>
                        <a:rPr sz="1425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Neighbor</a:t>
                      </a:r>
                    </a:p>
                  </a:txBody>
                  <a:tcPr marL="91440" marR="91440" marT="45720" marB="45720">
                    <a:solidFill>
                      <a:srgbClr val="DCEB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Shared idea</a:t>
                      </a:r>
                    </a:p>
                  </a:txBody>
                  <a:tcPr marL="91440" marR="91440" marT="45720" marB="45720">
                    <a:solidFill>
                      <a:srgbClr val="DCEB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Difference from evaluated KSA combination</a:t>
                      </a:r>
                    </a:p>
                  </a:txBody>
                  <a:tcPr marL="91440" marR="91440" marT="45720" marB="45720">
                    <a:solidFill>
                      <a:srgbClr val="DCEBFA"/>
                    </a:solidFill>
                  </a:tcPr>
                </a:tc>
              </a:tr>
              <a:tr h="746125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TOKI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Await-confirmation; audit rows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Formal database contract; no LLM policy evaluation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</a:tr>
              <a:tr h="746125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Memory-R1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Discrete write actions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Opaque RL policy; answer-level reward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46125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MemGuard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Typed memories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No three-action conflict policy or lineage test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</a:tr>
              <a:tr h="746125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STALE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State resolution; premise resistance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Read-side benchmark, not write transitions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46125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Graphiti/Zep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Temporal invalidation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Invalidation not scored as governed action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BE1417-513C-49AC-99F0-A7831540D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53175"/>
            <a:ext cx="10191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6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Source: reports/NEAREST_NEIGHBOR_ANALYSIS.md; NOVELTY_MATRIX.csv</a:t>
            </a:r>
          </a:p>
        </p:txBody>
      </p:sp>
    </p:spTree>
    <p:extLst>
      <p:ext uri="{BB962C8B-B14F-4D97-AF65-F5344CB8AC3E}">
        <p14:creationId xmlns:p14="http://schemas.microsoft.com/office/powerpoint/2010/main" val="330578855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AB23805-0DB1-44EE-8FCD-53DD74819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1475"/>
            <a:ext cx="11201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Backup — ethical and deployment risks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602373-A881-44DD-A52C-36934DAD5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008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5D65BB-1A5A-4F1B-AE75-7C34557F9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66875"/>
            <a:ext cx="546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Revision abuse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D752D1-BDCF-4978-9827-2A2735117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57425"/>
            <a:ext cx="54673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Supersession can be used to rewrite records or manufacture provenance.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B0418D-032F-4705-8DA5-8B98FEB83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666875"/>
            <a:ext cx="546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Retention risk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6F3A79-14AC-4443-816D-F43B8D5EC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257425"/>
            <a:ext cx="54673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Preserved history increases privacy, extraction, and membership-inference exposure.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4B5CAF-CCE5-4E8F-9FEC-EF949C2F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86200"/>
            <a:ext cx="546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Automation boundary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990DED-41EE-4A35-BAEB-ABBAF7ECB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476750"/>
            <a:ext cx="54673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Research results do not justify unrestricted autonomous memory mutation.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BDF90A-85FB-4245-8DA2-FB686A373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886200"/>
            <a:ext cx="546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Mitigations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99B7B2-C395-44D6-BDB4-3D0EF8772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476750"/>
            <a:ext cx="54673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Append-only lineage, access control, dual control, review routing, and retention policy.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24F608-0967-4258-8134-E57A85C1B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53175"/>
            <a:ext cx="10191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6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Source: thesis §9; NIST AI RMF discussion</a:t>
            </a:r>
          </a:p>
        </p:txBody>
      </p:sp>
    </p:spTree>
    <p:extLst>
      <p:ext uri="{BB962C8B-B14F-4D97-AF65-F5344CB8AC3E}">
        <p14:creationId xmlns:p14="http://schemas.microsoft.com/office/powerpoint/2010/main" val="1898592322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74EA373-B19B-4699-8EE7-DBAB21D03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1475"/>
            <a:ext cx="11201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Backup — additional complete MGP-6 results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6BF750-D67C-46A9-9A05-BE8F36BB9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008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graphicFrame>
        <p:nvGraphicFramePr>
          <p:cNvPr id="7" name=""/>
          <p:cNvGraphicFramePr/>
          <p:nvPr/>
        </p:nvGraphicFramePr>
        <p:xfrm>
          <a:off xmlns:a="http://schemas.openxmlformats.org/drawingml/2006/main" x="495300" y="1543050"/>
          <a:ext xmlns:a="http://schemas.openxmlformats.org/drawingml/2006/main" cx="11201400" cy="4476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22321"/>
                <a:gridCol w="1687882"/>
                <a:gridCol w="1687882"/>
                <a:gridCol w="2301658"/>
                <a:gridCol w="2301658"/>
              </a:tblGrid>
              <a:tr h="746125">
                <a:tc>
                  <a:txBody>
                    <a:bodyPr/>
                    <a:lstStyle/>
                    <a:p>
                      <a:pPr algn="l"/>
                      <a:r>
                        <a:rPr sz="1425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System</a:t>
                      </a:r>
                    </a:p>
                  </a:txBody>
                  <a:tcPr marL="91440" marR="91440" marT="45720" marB="45720">
                    <a:solidFill>
                      <a:srgbClr val="DCEB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Accuracy</a:t>
                      </a:r>
                    </a:p>
                  </a:txBody>
                  <a:tcPr marL="91440" marR="91440" marT="45720" marB="45720">
                    <a:solidFill>
                      <a:srgbClr val="DCEB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Macro-F1</a:t>
                      </a:r>
                    </a:p>
                  </a:txBody>
                  <a:tcPr marL="91440" marR="91440" marT="45720" marB="45720">
                    <a:solidFill>
                      <a:srgbClr val="DCEB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Invalid commit</a:t>
                      </a:r>
                    </a:p>
                  </a:txBody>
                  <a:tcPr marL="91440" marR="91440" marT="45720" marB="45720">
                    <a:solidFill>
                      <a:srgbClr val="DCEB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Premise resistance</a:t>
                      </a:r>
                    </a:p>
                  </a:txBody>
                  <a:tcPr marL="91440" marR="91440" marT="45720" marB="45720">
                    <a:solidFill>
                      <a:srgbClr val="DCEBFA"/>
                    </a:solidFill>
                  </a:tcPr>
                </a:tc>
              </a:tr>
              <a:tr h="746125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Rule KSA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0.9222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0.9399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0.0000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1.0000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</a:tr>
              <a:tr h="746125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LLM KSA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0.8889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0.8913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0.0758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0.0889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46125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Zero-shot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0.7000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0.6657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0.6061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</a:tr>
              <a:tr h="746125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B4 overwrite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0.4222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0.2203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1.0000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46125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Few-shot 6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0.7833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0.7692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incomplete 174/180</a:t>
                      </a:r>
                    </a:p>
                  </a:txBody>
                  <a:tcPr marL="91440" marR="91440" marT="45720" marB="45720"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50B352-F3CC-4C7A-A128-125A2EC58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53175"/>
            <a:ext cx="10191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6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Source: MGP-6 v2 canonical reports; n=180 unless stated</a:t>
            </a:r>
          </a:p>
        </p:txBody>
      </p:sp>
    </p:spTree>
    <p:extLst>
      <p:ext uri="{BB962C8B-B14F-4D97-AF65-F5344CB8AC3E}">
        <p14:creationId xmlns:p14="http://schemas.microsoft.com/office/powerpoint/2010/main" val="1621691395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6734304-1B74-42AF-B128-14B0C7E33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1475"/>
            <a:ext cx="11201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4653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Backup — architecture and code ownership follow the evaluation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9BF214-835D-400B-A94E-86D372631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008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D9296A-6FFB-49BE-8E9D-17123B2EF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57450"/>
            <a:ext cx="1524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D59F04-2BE4-4329-BDE9-15DE96CEF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28900"/>
            <a:ext cx="133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data / schema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B66244-6762-45EE-981F-9769AE83A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705100"/>
            <a:ext cx="28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5F6368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4EDA77-D922-44AB-9696-801890593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2457450"/>
            <a:ext cx="1524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78FE3A-8AE8-4010-AAE6-25C873CBA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2628900"/>
            <a:ext cx="133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extraction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ADD3ED-E4BD-4230-BF77-984F01F30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2705100"/>
            <a:ext cx="28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5F6368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D9C817-7928-405A-9293-A5A4A555F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457450"/>
            <a:ext cx="1524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305F13-DE4A-4B24-924F-ED7486D24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628900"/>
            <a:ext cx="133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controller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6F4191-3CA5-48F6-9DEC-4D4D6FF95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705100"/>
            <a:ext cx="28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5F6368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9427DD-4A37-4B7E-8BCA-A33E1519D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457450"/>
            <a:ext cx="1524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D133F0-26F9-4254-B63F-23927A175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2628900"/>
            <a:ext cx="133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memory store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441D9B-B1B7-4AF3-82ED-2BA8432B0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2705100"/>
            <a:ext cx="28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5F6368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DB413F-A5B7-4D48-BDCC-EAADF3933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457450"/>
            <a:ext cx="1524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D5E453-05E3-4048-8E56-5307E8622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628900"/>
            <a:ext cx="133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retrieval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74C48A-531F-4E10-80A2-D65491D89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705100"/>
            <a:ext cx="28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5F6368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DA0010-5C06-4D78-976D-359E4B1A9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2457450"/>
            <a:ext cx="1524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3CE7CE-B4D6-410B-980C-951A73FDB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2628900"/>
            <a:ext cx="133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evaluation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95A763-CBD2-43BF-BB0F-B8509290C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095750"/>
            <a:ext cx="7429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C3B3A7-E63B-4FB8-9916-15DF8B75E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343400"/>
            <a:ext cx="68199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Tests cover invariants, recovery, merge, provenance verification, and deterministic MGP scoring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9416778-EA18-4BC9-B911-A4A07EA1D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53175"/>
            <a:ext cx="10191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6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Source: src/ksa; scripts/evaluation; tests; docs/audit/BEHAVIOR_TO_CODE_TRACEABILITY.md</a:t>
            </a:r>
          </a:p>
        </p:txBody>
      </p:sp>
    </p:spTree>
    <p:extLst>
      <p:ext uri="{BB962C8B-B14F-4D97-AF65-F5344CB8AC3E}">
        <p14:creationId xmlns:p14="http://schemas.microsoft.com/office/powerpoint/2010/main" val="55788656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2026-07-13T09:35:27.1250000Z</dcterms:created>
  <dcterms:modified xsi:type="dcterms:W3CDTF">2026-07-13T09:35:27.1250000Z</dcterms:modified>
</coreProperties>
</file>