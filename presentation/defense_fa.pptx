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a90df606e41424b" /><Relationship Type="http://schemas.openxmlformats.org/officeDocument/2006/relationships/extended-properties" Target="/docProps/app.xml" Id="R64349b1e88e54098" /><Relationship Type="http://schemas.openxmlformats.org/officeDocument/2006/relationships/officeDocument" Target="/ppt/presentation.xml" Id="Rd79c86a6c04d41af" /></Relationships>
</file>

<file path=ppt/presentation.xml><?xml version="1.0" encoding="utf-8"?>
<p:presentation xmlns:p="http://schemas.openxmlformats.org/presentationml/2006/main">
  <p:sldMasterIdLst>
    <p:sldMasterId xmlns:r="http://schemas.openxmlformats.org/officeDocument/2006/relationships" id="2147483648" r:id="R4aad6e118ca3409c"/>
  </p:sldMasterIdLst>
  <p:notesMasterIdLst>
    <p:notesMasterId xmlns:r="http://schemas.openxmlformats.org/officeDocument/2006/relationships" r:id="Re2e9946a331148c4"/>
  </p:notesMasterIdLst>
  <p:sldIdLst>
    <p:sldId xmlns:r="http://schemas.openxmlformats.org/officeDocument/2006/relationships" id="256" r:id="R1bc2ddb645d54590"/>
    <p:sldId xmlns:r="http://schemas.openxmlformats.org/officeDocument/2006/relationships" id="257" r:id="Ra9577b2bc64b4401"/>
    <p:sldId xmlns:r="http://schemas.openxmlformats.org/officeDocument/2006/relationships" id="258" r:id="R100f5b3e8fa143cc"/>
    <p:sldId xmlns:r="http://schemas.openxmlformats.org/officeDocument/2006/relationships" id="259" r:id="R291b7183ca4348c3"/>
    <p:sldId xmlns:r="http://schemas.openxmlformats.org/officeDocument/2006/relationships" id="260" r:id="R5ba131a01564420b"/>
    <p:sldId xmlns:r="http://schemas.openxmlformats.org/officeDocument/2006/relationships" id="261" r:id="R18ebfd7b2d1b4819"/>
    <p:sldId xmlns:r="http://schemas.openxmlformats.org/officeDocument/2006/relationships" id="262" r:id="R5eb98f27bc734ae8"/>
    <p:sldId xmlns:r="http://schemas.openxmlformats.org/officeDocument/2006/relationships" id="263" r:id="R3faaeeee5abf4e92"/>
    <p:sldId xmlns:r="http://schemas.openxmlformats.org/officeDocument/2006/relationships" id="264" r:id="Rb63d411301244fe7"/>
    <p:sldId xmlns:r="http://schemas.openxmlformats.org/officeDocument/2006/relationships" id="265" r:id="R3bd98d47b0fe46cd"/>
    <p:sldId xmlns:r="http://schemas.openxmlformats.org/officeDocument/2006/relationships" id="266" r:id="R435fe8ca397e448d"/>
    <p:sldId xmlns:r="http://schemas.openxmlformats.org/officeDocument/2006/relationships" id="267" r:id="Ra9caead379be4a5a"/>
    <p:sldId xmlns:r="http://schemas.openxmlformats.org/officeDocument/2006/relationships" id="268" r:id="R0e90c25fcbe14c5b"/>
    <p:sldId xmlns:r="http://schemas.openxmlformats.org/officeDocument/2006/relationships" id="269" r:id="R3ae934edd1444c6e"/>
    <p:sldId xmlns:r="http://schemas.openxmlformats.org/officeDocument/2006/relationships" id="270" r:id="R2b884966da9c430b"/>
    <p:sldId xmlns:r="http://schemas.openxmlformats.org/officeDocument/2006/relationships" id="271" r:id="Rab6845fa3442481f"/>
    <p:sldId xmlns:r="http://schemas.openxmlformats.org/officeDocument/2006/relationships" id="272" r:id="Re6fb385cd5824253"/>
    <p:sldId xmlns:r="http://schemas.openxmlformats.org/officeDocument/2006/relationships" id="273" r:id="Rede780187e7a4684"/>
    <p:sldId xmlns:r="http://schemas.openxmlformats.org/officeDocument/2006/relationships" id="274" r:id="R18defaed14904ef5"/>
    <p:sldId xmlns:r="http://schemas.openxmlformats.org/officeDocument/2006/relationships" id="275" r:id="R7eb19b5f1b554700"/>
    <p:sldId xmlns:r="http://schemas.openxmlformats.org/officeDocument/2006/relationships" id="276" r:id="R7a06045518114d00"/>
    <p:sldId xmlns:r="http://schemas.openxmlformats.org/officeDocument/2006/relationships" id="277" r:id="Rb1a9b7d5a42b4b68"/>
    <p:sldId xmlns:r="http://schemas.openxmlformats.org/officeDocument/2006/relationships" id="278" r:id="R0b88f30beeb14b30"/>
    <p:sldId xmlns:r="http://schemas.openxmlformats.org/officeDocument/2006/relationships" id="279" r:id="R692fe5de8f77452a"/>
    <p:sldId xmlns:r="http://schemas.openxmlformats.org/officeDocument/2006/relationships" id="280" r:id="Reb92c8e9a1c1463e"/>
    <p:sldId xmlns:r="http://schemas.openxmlformats.org/officeDocument/2006/relationships" id="281" r:id="Rdba8c3af2cfb470a"/>
    <p:sldId xmlns:r="http://schemas.openxmlformats.org/officeDocument/2006/relationships" id="282" r:id="R9255fee06f974492"/>
    <p:sldId xmlns:r="http://schemas.openxmlformats.org/officeDocument/2006/relationships" id="283" r:id="R0bfb411cfd154e52"/>
    <p:sldId xmlns:r="http://schemas.openxmlformats.org/officeDocument/2006/relationships" id="284" r:id="R038550d212294359"/>
    <p:sldId xmlns:r="http://schemas.openxmlformats.org/officeDocument/2006/relationships" id="285" r:id="R80daeb6782e64dc2"/>
    <p:sldId xmlns:r="http://schemas.openxmlformats.org/officeDocument/2006/relationships" id="286" r:id="Rf7a7ebecdaa042d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1fa50b434c4d50" /><Relationship Type="http://schemas.openxmlformats.org/officeDocument/2006/relationships/slideMaster" Target="/ppt/slideMasters/slideMaster1.xml" Id="R4aad6e118ca3409c" /><Relationship Type="http://schemas.openxmlformats.org/officeDocument/2006/relationships/notesMaster" Target="/ppt/notesMasters/notesMaster1.xml" Id="Re2e9946a331148c4" /><Relationship Type="http://schemas.openxmlformats.org/officeDocument/2006/relationships/presProps" Target="/ppt/presProps.xml" Id="R7d6251107b554a68" /><Relationship Type="http://schemas.openxmlformats.org/officeDocument/2006/relationships/tableStyles" Target="/ppt/tableStyles.xml" Id="R4652c16178984280" /><Relationship Type="http://schemas.openxmlformats.org/officeDocument/2006/relationships/slide" Target="/ppt/slides/slide1.xml" Id="R1bc2ddb645d54590" /><Relationship Type="http://schemas.openxmlformats.org/officeDocument/2006/relationships/slide" Target="/ppt/slides/slide2.xml" Id="Ra9577b2bc64b4401" /><Relationship Type="http://schemas.openxmlformats.org/officeDocument/2006/relationships/slide" Target="/ppt/slides/slide3.xml" Id="R100f5b3e8fa143cc" /><Relationship Type="http://schemas.openxmlformats.org/officeDocument/2006/relationships/slide" Target="/ppt/slides/slide4.xml" Id="R291b7183ca4348c3" /><Relationship Type="http://schemas.openxmlformats.org/officeDocument/2006/relationships/slide" Target="/ppt/slides/slide5.xml" Id="R5ba131a01564420b" /><Relationship Type="http://schemas.openxmlformats.org/officeDocument/2006/relationships/slide" Target="/ppt/slides/slide6.xml" Id="R18ebfd7b2d1b4819" /><Relationship Type="http://schemas.openxmlformats.org/officeDocument/2006/relationships/slide" Target="/ppt/slides/slide7.xml" Id="R5eb98f27bc734ae8" /><Relationship Type="http://schemas.openxmlformats.org/officeDocument/2006/relationships/slide" Target="/ppt/slides/slide8.xml" Id="R3faaeeee5abf4e92" /><Relationship Type="http://schemas.openxmlformats.org/officeDocument/2006/relationships/slide" Target="/ppt/slides/slide9.xml" Id="Rb63d411301244fe7" /><Relationship Type="http://schemas.openxmlformats.org/officeDocument/2006/relationships/slide" Target="/ppt/slides/slide10.xml" Id="R3bd98d47b0fe46cd" /><Relationship Type="http://schemas.openxmlformats.org/officeDocument/2006/relationships/slide" Target="/ppt/slides/slide11.xml" Id="R435fe8ca397e448d" /><Relationship Type="http://schemas.openxmlformats.org/officeDocument/2006/relationships/slide" Target="/ppt/slides/slide12.xml" Id="Ra9caead379be4a5a" /><Relationship Type="http://schemas.openxmlformats.org/officeDocument/2006/relationships/slide" Target="/ppt/slides/slide13.xml" Id="R0e90c25fcbe14c5b" /><Relationship Type="http://schemas.openxmlformats.org/officeDocument/2006/relationships/slide" Target="/ppt/slides/slide14.xml" Id="R3ae934edd1444c6e" /><Relationship Type="http://schemas.openxmlformats.org/officeDocument/2006/relationships/slide" Target="/ppt/slides/slide15.xml" Id="R2b884966da9c430b" /><Relationship Type="http://schemas.openxmlformats.org/officeDocument/2006/relationships/slide" Target="/ppt/slides/slide16.xml" Id="Rab6845fa3442481f" /><Relationship Type="http://schemas.openxmlformats.org/officeDocument/2006/relationships/slide" Target="/ppt/slides/slide17.xml" Id="Re6fb385cd5824253" /><Relationship Type="http://schemas.openxmlformats.org/officeDocument/2006/relationships/slide" Target="/ppt/slides/slide18.xml" Id="Rede780187e7a4684" /><Relationship Type="http://schemas.openxmlformats.org/officeDocument/2006/relationships/slide" Target="/ppt/slides/slide19.xml" Id="R18defaed14904ef5" /><Relationship Type="http://schemas.openxmlformats.org/officeDocument/2006/relationships/slide" Target="/ppt/slides/slide20.xml" Id="R7eb19b5f1b554700" /><Relationship Type="http://schemas.openxmlformats.org/officeDocument/2006/relationships/slide" Target="/ppt/slides/slide21.xml" Id="R7a06045518114d00" /><Relationship Type="http://schemas.openxmlformats.org/officeDocument/2006/relationships/slide" Target="/ppt/slides/slide22.xml" Id="Rb1a9b7d5a42b4b68" /><Relationship Type="http://schemas.openxmlformats.org/officeDocument/2006/relationships/slide" Target="/ppt/slides/slide23.xml" Id="R0b88f30beeb14b30" /><Relationship Type="http://schemas.openxmlformats.org/officeDocument/2006/relationships/slide" Target="/ppt/slides/slide24.xml" Id="R692fe5de8f77452a" /><Relationship Type="http://schemas.openxmlformats.org/officeDocument/2006/relationships/slide" Target="/ppt/slides/slide25.xml" Id="Reb92c8e9a1c1463e" /><Relationship Type="http://schemas.openxmlformats.org/officeDocument/2006/relationships/slide" Target="/ppt/slides/slide26.xml" Id="Rdba8c3af2cfb470a" /><Relationship Type="http://schemas.openxmlformats.org/officeDocument/2006/relationships/slide" Target="/ppt/slides/slide27.xml" Id="R9255fee06f974492" /><Relationship Type="http://schemas.openxmlformats.org/officeDocument/2006/relationships/slide" Target="/ppt/slides/slide28.xml" Id="R0bfb411cfd154e52" /><Relationship Type="http://schemas.openxmlformats.org/officeDocument/2006/relationships/slide" Target="/ppt/slides/slide29.xml" Id="R038550d212294359" /><Relationship Type="http://schemas.openxmlformats.org/officeDocument/2006/relationships/slide" Target="/ppt/slides/slide30.xml" Id="R80daeb6782e64dc2" /><Relationship Type="http://schemas.openxmlformats.org/officeDocument/2006/relationships/slide" Target="/ppt/slides/slide31.xml" Id="Rf7a7ebecdaa042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ddd7a5684f48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feae2214504c79" /><Relationship Type="http://schemas.openxmlformats.org/officeDocument/2006/relationships/notesMaster" Target="/ppt/notesMasters/notesMaster1.xml" Id="Rfdf7c7b96d524f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b6fc174c2bf4960" /><Relationship Type="http://schemas.openxmlformats.org/officeDocument/2006/relationships/notesMaster" Target="/ppt/notesMasters/notesMaster1.xml" Id="R7bb0fe6631fd4e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c59211002294b4b" /><Relationship Type="http://schemas.openxmlformats.org/officeDocument/2006/relationships/notesMaster" Target="/ppt/notesMasters/notesMaster1.xml" Id="Rdc4e694170ea4c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e7bc62765a470f" /><Relationship Type="http://schemas.openxmlformats.org/officeDocument/2006/relationships/notesMaster" Target="/ppt/notesMasters/notesMaster1.xml" Id="Rcf69e70e029f42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71f55fae6a4c1e" /><Relationship Type="http://schemas.openxmlformats.org/officeDocument/2006/relationships/notesMaster" Target="/ppt/notesMasters/notesMaster1.xml" Id="Raee6dc51018441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d0f69b657143eb" /><Relationship Type="http://schemas.openxmlformats.org/officeDocument/2006/relationships/notesMaster" Target="/ppt/notesMasters/notesMaster1.xml" Id="R7a59fffd90124d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629f5f666d45dc" /><Relationship Type="http://schemas.openxmlformats.org/officeDocument/2006/relationships/notesMaster" Target="/ppt/notesMasters/notesMaster1.xml" Id="R1e542c50f6274d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46a606efe6f4917" /><Relationship Type="http://schemas.openxmlformats.org/officeDocument/2006/relationships/notesMaster" Target="/ppt/notesMasters/notesMaster1.xml" Id="R3b9db642f71749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95feaa09f9540cc" /><Relationship Type="http://schemas.openxmlformats.org/officeDocument/2006/relationships/notesMaster" Target="/ppt/notesMasters/notesMaster1.xml" Id="R9f3667d9b1c241f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581a2e7afd54f32" /><Relationship Type="http://schemas.openxmlformats.org/officeDocument/2006/relationships/notesMaster" Target="/ppt/notesMasters/notesMaster1.xml" Id="Rbc0601a321e64a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80d161b99a74b63" /><Relationship Type="http://schemas.openxmlformats.org/officeDocument/2006/relationships/notesMaster" Target="/ppt/notesMasters/notesMaster1.xml" Id="R08e076e1304a4ea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e3259db539a4c30" /><Relationship Type="http://schemas.openxmlformats.org/officeDocument/2006/relationships/notesMaster" Target="/ppt/notesMasters/notesMaster1.xml" Id="R06d067d01c274e6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2f8aecc215c44e8" /><Relationship Type="http://schemas.openxmlformats.org/officeDocument/2006/relationships/notesMaster" Target="/ppt/notesMasters/notesMaster1.xml" Id="R1505d0003f86434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043f80650874f82" /><Relationship Type="http://schemas.openxmlformats.org/officeDocument/2006/relationships/notesMaster" Target="/ppt/notesMasters/notesMaster1.xml" Id="R2a7bb0415a42423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e690e7bfa2e445e" /><Relationship Type="http://schemas.openxmlformats.org/officeDocument/2006/relationships/notesMaster" Target="/ppt/notesMasters/notesMaster1.xml" Id="R5fc06bab5efd4ba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b19d900c09e4ea4" /><Relationship Type="http://schemas.openxmlformats.org/officeDocument/2006/relationships/notesMaster" Target="/ppt/notesMasters/notesMaster1.xml" Id="R633f03c1457c466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e8032d67b6d477b" /><Relationship Type="http://schemas.openxmlformats.org/officeDocument/2006/relationships/notesMaster" Target="/ppt/notesMasters/notesMaster1.xml" Id="R7b2894f704d646f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22d44dbbbf7430b" /><Relationship Type="http://schemas.openxmlformats.org/officeDocument/2006/relationships/notesMaster" Target="/ppt/notesMasters/notesMaster1.xml" Id="R108fae454c104d6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cda7e4344604cdc" /><Relationship Type="http://schemas.openxmlformats.org/officeDocument/2006/relationships/notesMaster" Target="/ppt/notesMasters/notesMaster1.xml" Id="R7dced98705ae471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db5aff7caef4d3c" /><Relationship Type="http://schemas.openxmlformats.org/officeDocument/2006/relationships/notesMaster" Target="/ppt/notesMasters/notesMaster1.xml" Id="R89ed7df6769e43a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00fe85d5e1d40a6" /><Relationship Type="http://schemas.openxmlformats.org/officeDocument/2006/relationships/notesMaster" Target="/ppt/notesMasters/notesMaster1.xml" Id="R2c9887393a02435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93d3d0f11ae4a1b" /><Relationship Type="http://schemas.openxmlformats.org/officeDocument/2006/relationships/notesMaster" Target="/ppt/notesMasters/notesMaster1.xml" Id="R73e3011e549240f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323010c81fc468c" /><Relationship Type="http://schemas.openxmlformats.org/officeDocument/2006/relationships/notesMaster" Target="/ppt/notesMasters/notesMaster1.xml" Id="Rb8a6a007ab474ed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f45b522b5684a59" /><Relationship Type="http://schemas.openxmlformats.org/officeDocument/2006/relationships/notesMaster" Target="/ppt/notesMasters/notesMaster1.xml" Id="Rc4b429e19586462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50efafe663340b3" /><Relationship Type="http://schemas.openxmlformats.org/officeDocument/2006/relationships/notesMaster" Target="/ppt/notesMasters/notesMaster1.xml" Id="R3b46965294ec452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8cfa06438ec47e2" /><Relationship Type="http://schemas.openxmlformats.org/officeDocument/2006/relationships/notesMaster" Target="/ppt/notesMasters/notesMaster1.xml" Id="Rfa8511fd55ba4c3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5409d1c0153481b" /><Relationship Type="http://schemas.openxmlformats.org/officeDocument/2006/relationships/notesMaster" Target="/ppt/notesMasters/notesMaster1.xml" Id="Rcecff7844f144a3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082eda992214e7b" /><Relationship Type="http://schemas.openxmlformats.org/officeDocument/2006/relationships/notesMaster" Target="/ppt/notesMasters/notesMaster1.xml" Id="R4c12bf7236d1442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ebec5122cc54ec2" /><Relationship Type="http://schemas.openxmlformats.org/officeDocument/2006/relationships/notesMaster" Target="/ppt/notesMasters/notesMaster1.xml" Id="R1253782b7d8c4d7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eac2f041f864983" /><Relationship Type="http://schemas.openxmlformats.org/officeDocument/2006/relationships/notesMaster" Target="/ppt/notesMasters/notesMaster1.xml" Id="Ra6ff38711a1f4bb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1b63021e5e547e7" /><Relationship Type="http://schemas.openxmlformats.org/officeDocument/2006/relationships/notesMaster" Target="/ppt/notesMasters/notesMaster1.xml" Id="R236545c06caf4d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با پرسش اصلی شروع کنید: سامانهٔ حافظه چگونه تصمیم بگیرد یک ادعا ثبت شود، ادعای قبلی را جایگزین کند، یا به‌دلیل ابهام از تغییر حافظه خودداری کند؟ تأکید کنید که این پایان‌نامه خودِ تصمیم نوشتن را مستقل از دقت پاسخ می‌سنجد.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حافظه را به‌عنوان حالت معرفتی معرفی کنید. خطر اصلی پیش از بازیابی رخ می‌دهد: یک ثبت نادرست می‌تواند فعال بماند و پاسخ‌های متعدد آینده را منحرف کند.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دو انتزاع را مقایسه کنید. بازیابی ضروری است، اما بازیابی پس از تصمیمی آغاز می‌شود که از قبل حالت حافظه را شکل داده است.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ادعای شکاف را محدود نگه دارید. سهم این کار ابداع نسخه‌بندی یا خودداری نیست؛ سهم، عملیاتی‌سازی ترکیب سیاست سه‌گانه و ارزیابی چندلایه است.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سه کنش را دقیق تعریف کنید. خودداری یک کنش ایمنیِ بدون تغییر حالت است، نه امتناع در پاسخ‌گویی. جایگزینی نیز رکورد قدیمی را حذف نمی‌کند.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از راست به چپ مسیر را توضیح دهید. استخراج و طبقه‌بندی رابطه می‌توانند مدل‌یار باشند، اما واژگان کنش، رفتار بدون تغییر، پیوند تبار و بازیابی رکوردهای فعال قیدهای قطعی‌اند.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قاعدهٔ ترتیبی را شرح دهید: ابتدا خودداری بررسی می‌شود. جایگزینی علاوه بر امتیاز بالا به فشار تعارض نیاز دارد، بنابراین صرف امتیاز بالا رکورد قبلی را غیرفعال نمی‌کند.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تبار را یک قید حالت معرفی کنید. بازیابی عادی رکورد غیرفعال را نمی‌آورد، ولی پرسش تاریخی می‌تواند زنجیره را ببیند.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جایگاه MGP-6 را درست بیان کنید: آزمون کنترل‌شده است، نه معیار عمومی جامعه. هدف آن تعیین سازوکار خطای سیاست نوشتن است.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این هستهٔ روش‌شناختی است. تفکیک لایه‌ها مانع می‌شود یک امتیاز پاسخ، ثبت ناایمن یا تبار خراب را پنهان کند.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نتایج کامل را ارائه کنید. کنتراست استنباطی اصلی، سیاست قاعده‌ای ساخت‌یافته در برابر تصمیم بدون ساختار است. برتری آماری نسبت به کنترل‌گر مدل‌محور ادعا نکنید.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جهت خطا را تفسیر کنید. کنترل‌گر گاهی با شواهد ضعیف به‌روزرسانی نمی‌کند، اما در هیچ مورد طلاییِ خودداری، ثبت نادرست انجام نمی‌دهد.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برای توجیه هر مؤلفه از این جدول استفاده کنید. مهم‌ترین ردیف، حذف تبار است: برچسب تصمیم ثابت می‌ماند ولی قابلیت ممیزی سقوط می‌کند.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دلیل دو نگاشت را توضیح دهید. این اعداد رفتار رابط آزمایش را نشان می‌دهند، نه توانایی کامل سامانه‌ها در کاربرد اصلی‌شان.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دقیق باشید: یک برچسب‌زن مستقل داریم، نه پنل چندانسانی. مطالعهٔ چهار مدل فقط ممیزی مدل است و نباید توافق بین برچسب‌زن انسانی نامیده شود.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این اسلاید را به‌عنوان نتیجهٔ منفی ارائه کنید. تکمیل مکمل در ۸۴ موفقیت قبلی، ۱۳ پسرفت یافت. حتی خوش‌بینانه‌ترین کران به ۷۷٫۲٪ نمی‌رسد.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تأکید کنید هیچ شکست SSP به سیاست حاکمیت نوشتن نسبت داده نشد. سازوکار غالب رتبه‌بندی و تحقق پاسخ است؛ همین نیاز به ارزیابی چندلایه را نشان می‌دهد.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هر خطا را به لایهٔ مشخص وصل کنید. این کار از امتیاز کل مفیدتر است، چون مشخص می‌کند کدام مداخله واقعاً لازم است.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این اسلاید را سریع رد نکنید. ادعای پایان‌نامه محدود است و یافته‌های صفر و منفی را حفظ می‌کند. محدودیت‌ها مسیر آزمایش بعدی را مشخص می‌کنند.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با پاسخ روشن به پرسش پژوهش پایان دهید: مسیر نوشتنِ تفسیرپذیر، بازنگری حافظه را صریح و اندازه‌پذیر می‌کند؛ اما شواهد فقط از ادعای تشخیصی کنترل‌شده حمایت می‌کند، نه برتری نهایی پایین‌دستی.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در پاسخ به پرسش نمادگذاری یا معیارها استفاده کنید. روشن کنید مقاومت پیش‌فرض و نرخ ثبت نامعتبر معیارهای تشخیصی این پروژه‌اند.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اگر دربارهٔ هم‌ترازی مبناها سؤال شد، توضیح دهید این‌ها سازوکارهای مرجع برای جداسازی سیاست حافظه‌اند، نه رتبه‌بندی جامع محصول‌ها.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آزمون مک‌نمار دقیق دوطرفه، اصلاح Holm و اختلاف ریسک جفتی را ذکر کنید. برای LongMemEval ناهمگن و ناقص، آزمون فرض معتبر نیست.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این اختلاف روی همان مرز جایگزینی/خودداری قرار دارد که خطاهای محافظه‌کارانهٔ کنترل‌گر نیز نشان می‌دهد. پروتکل بازداوری کور ثبت شده است.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بزرگ‌ترین آزادی عمل، ساخت عدد LongMemEval از بازپخش شکست‌ها بود؛ ممیزی آن را رد کرده و تناقض تکمیل مکمل را حفظ می‌کند.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سوگیری انتخاب را دیداری توضیح دهید. بازپخش فقط شکست‌ها و حمل همهٔ موفقیت‌ها امتیاز را بالا می‌برد. تکمیل مکمل این فرض را مستقیماً آزمود و پسرفت یافت.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اگر عدد دقیق خواسته شد از این جدول استفاده کنید. هر دو نگاشت افشا شده و MemOS نتیجهٔ نهایی قابلیت نیست.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ادعای مجاز را بیان کنید: عملیاتی‌سازی و ارزیابی کنترل‌شدهٔ چندلایهٔ این ترکیب. ابداع کنش، خودداری، تبار، منشأ یا واژهٔ حاکمیت حافظه ادعا نمی‌شود.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روشن کنید حاکمیت در اینجا معرفتی است، نه تضمین حقوقی. استقرار به کنترل دسترسی و سیاست سازمانی فراتر از نمونهٔ پژوهشی نیاز دارد.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ردیف شش‌نمونه پوشش‌محور است: شش پیش‌بینی مفقود INVALID حساب شده‌اند. اجرا ناقص است و در مقایسهٔ استنباطی اجرای کامل قرار نمی‌گیرد.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در پاسخ به پرسش پیاده‌سازی، ساختار مخزن را نشان دهید: src/ksa کتابخانه؛ scripts اجرا و راستی‌آزمایی؛ benchmarks آزمون MGP-6؛ artifacts و reports دفتر نتایج و ممیزی.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f96c6a565244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332d2ccf374315" /><Relationship Type="http://schemas.openxmlformats.org/officeDocument/2006/relationships/slideLayout" Target="/ppt/slideLayouts/slideLayout1.xml" Id="Ra554b3595f9f43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54b3595f9f43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63bbab264c4a26" /><Relationship Type="http://schemas.openxmlformats.org/officeDocument/2006/relationships/notesSlide" Target="/ppt/notesSlides/notesSlide1.xml" Id="R890de655dfe640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6fcee3e35534f84" /><Relationship Type="http://schemas.openxmlformats.org/officeDocument/2006/relationships/notesSlide" Target="/ppt/notesSlides/notesSlide2.xml" Id="R8f78d55c0da249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ccb330f398c45de" /><Relationship Type="http://schemas.openxmlformats.org/officeDocument/2006/relationships/notesSlide" Target="/ppt/notesSlides/notesSlide3.xml" Id="R1d9c6d28f0454c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fde29a617b14031" /><Relationship Type="http://schemas.openxmlformats.org/officeDocument/2006/relationships/notesSlide" Target="/ppt/notesSlides/notesSlide4.xml" Id="Rc11c016857ba4e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b60b3a6183b4871" /><Relationship Type="http://schemas.openxmlformats.org/officeDocument/2006/relationships/notesSlide" Target="/ppt/notesSlides/notesSlide5.xml" Id="R7906bea6884e4d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175bc3e922b4e28" /><Relationship Type="http://schemas.openxmlformats.org/officeDocument/2006/relationships/notesSlide" Target="/ppt/notesSlides/notesSlide6.xml" Id="Rb5cbf24776164e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2f29af8c2474966" /><Relationship Type="http://schemas.openxmlformats.org/officeDocument/2006/relationships/notesSlide" Target="/ppt/notesSlides/notesSlide7.xml" Id="Re8951cc6196447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5e1587633b4267" /><Relationship Type="http://schemas.openxmlformats.org/officeDocument/2006/relationships/notesSlide" Target="/ppt/notesSlides/notesSlide8.xml" Id="R746c4679687046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4528f3508cf473e" /><Relationship Type="http://schemas.openxmlformats.org/officeDocument/2006/relationships/notesSlide" Target="/ppt/notesSlides/notesSlide9.xml" Id="Rdb6bfda77fe54b9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c5c48ff5fbc4927" /><Relationship Type="http://schemas.openxmlformats.org/officeDocument/2006/relationships/notesSlide" Target="/ppt/notesSlides/notesSlide10.xml" Id="R251f489176284e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0c6569cb12a4113" /><Relationship Type="http://schemas.openxmlformats.org/officeDocument/2006/relationships/chart" Target="/ppt/slides/charts/chart1.xml" Id="R132e2d00f6884714" /><Relationship Type="http://schemas.openxmlformats.org/officeDocument/2006/relationships/notesSlide" Target="/ppt/notesSlides/notesSlide11.xml" Id="R7a25ca7fd6204eb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ad20f467f1b4ae8" /><Relationship Type="http://schemas.openxmlformats.org/officeDocument/2006/relationships/notesSlide" Target="/ppt/notesSlides/notesSlide12.xml" Id="R77eabaed9520435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3cee4c4ec3f4be1" /><Relationship Type="http://schemas.openxmlformats.org/officeDocument/2006/relationships/notesSlide" Target="/ppt/notesSlides/notesSlide13.xml" Id="R496deb083f31429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1160c85f6634343" /><Relationship Type="http://schemas.openxmlformats.org/officeDocument/2006/relationships/chart" Target="/ppt/slides/charts/chart2.xml" Id="R522264b53c2b4106" /><Relationship Type="http://schemas.openxmlformats.org/officeDocument/2006/relationships/notesSlide" Target="/ppt/notesSlides/notesSlide14.xml" Id="R49c449013a0c442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1a08a3df9684326" /><Relationship Type="http://schemas.openxmlformats.org/officeDocument/2006/relationships/notesSlide" Target="/ppt/notesSlides/notesSlide15.xml" Id="Rf39bf2e8608346c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fcc55c5b65145d2" /><Relationship Type="http://schemas.openxmlformats.org/officeDocument/2006/relationships/notesSlide" Target="/ppt/notesSlides/notesSlide16.xml" Id="R9a71078b390a4eb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3ab4e65cce34bd4" /><Relationship Type="http://schemas.openxmlformats.org/officeDocument/2006/relationships/notesSlide" Target="/ppt/notesSlides/notesSlide17.xml" Id="R80706b2b9d3245d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3dbe5329fd24fce" /><Relationship Type="http://schemas.openxmlformats.org/officeDocument/2006/relationships/notesSlide" Target="/ppt/notesSlides/notesSlide18.xml" Id="R46a812c2c36d420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4469920352c41ee" /><Relationship Type="http://schemas.openxmlformats.org/officeDocument/2006/relationships/notesSlide" Target="/ppt/notesSlides/notesSlide19.xml" Id="R30c50b8ec9fa48d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31929927cd44fd0" /><Relationship Type="http://schemas.openxmlformats.org/officeDocument/2006/relationships/notesSlide" Target="/ppt/notesSlides/notesSlide20.xml" Id="Re52af80a10f043d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e442efe36e24532" /><Relationship Type="http://schemas.openxmlformats.org/officeDocument/2006/relationships/notesSlide" Target="/ppt/notesSlides/notesSlide21.xml" Id="R05d6da15de2e435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6e83c9491504df1" /><Relationship Type="http://schemas.openxmlformats.org/officeDocument/2006/relationships/notesSlide" Target="/ppt/notesSlides/notesSlide22.xml" Id="R335c5a5f2aed4ba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81677c0534c408c" /><Relationship Type="http://schemas.openxmlformats.org/officeDocument/2006/relationships/notesSlide" Target="/ppt/notesSlides/notesSlide23.xml" Id="Rad2694666a824f0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f3dfc1b7c3044b7" /><Relationship Type="http://schemas.openxmlformats.org/officeDocument/2006/relationships/notesSlide" Target="/ppt/notesSlides/notesSlide24.xml" Id="Rfa3151b67d0242d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af81c005d884cf7" /><Relationship Type="http://schemas.openxmlformats.org/officeDocument/2006/relationships/notesSlide" Target="/ppt/notesSlides/notesSlide25.xml" Id="R703c31573f644e9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4d7e451b323474a" /><Relationship Type="http://schemas.openxmlformats.org/officeDocument/2006/relationships/notesSlide" Target="/ppt/notesSlides/notesSlide26.xml" Id="Rd521655671bb46c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cf72eda9fc148fc" /><Relationship Type="http://schemas.openxmlformats.org/officeDocument/2006/relationships/notesSlide" Target="/ppt/notesSlides/notesSlide27.xml" Id="Rba7612bdcfe641b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d6f4a864e764ebd" /><Relationship Type="http://schemas.openxmlformats.org/officeDocument/2006/relationships/notesSlide" Target="/ppt/notesSlides/notesSlide28.xml" Id="Re64a5a869dd647a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70844ce87454d10" /><Relationship Type="http://schemas.openxmlformats.org/officeDocument/2006/relationships/notesSlide" Target="/ppt/notesSlides/notesSlide29.xml" Id="R992841e9b0bf4a8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02f4ece81ae4255" /><Relationship Type="http://schemas.openxmlformats.org/officeDocument/2006/relationships/notesSlide" Target="/ppt/notesSlides/notesSlide30.xml" Id="R4349995e3496487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d6cc8025315465c" /><Relationship Type="http://schemas.openxmlformats.org/officeDocument/2006/relationships/notesSlide" Target="/ppt/notesSlides/notesSlide31.xml" Id="R0b6761ab3cf444c6" /></Relationships>
</file>

<file path=ppt/slides/charts/chart1.xml><?xml version="1.0" encoding="utf-8"?>
<c:chartSpace xmlns:c="http://schemas.openxmlformats.org/drawingml/2006/chart">
  <c:lang val="en-US"/>
  <c:chart>
    <c:plotArea>
      <c:barChart>
        <c:barDir val="bar"/>
        <c:grouping val="clustered"/>
        <c:varyColors val="0"/>
        <c:ser>
          <c:idx val="0"/>
          <c:order val="0"/>
          <c:tx>
            <c:v>دقت کنش</c:v>
          </c:tx>
          <c:spPr>
            <a:solidFill xmlns:a="http://schemas.openxmlformats.org/drawingml/2006/main">
              <a:srgbClr val="6DCBF4"/>
            </a:solidFill>
          </c:spPr>
          <c:cat>
            <c:strLit>
              <c:ptCount val="7"/>
              <c:pt idx="0">
                <c:v>B2 برداری</c:v>
              </c:pt>
              <c:pt idx="1">
                <c:v>B1 بی‌حافظه</c:v>
              </c:pt>
              <c:pt idx="2">
                <c:v>B3 تازگی</c:v>
              </c:pt>
              <c:pt idx="3">
                <c:v>B4 بازنویسی</c:v>
              </c:pt>
              <c:pt idx="4">
                <c:v>بدون مثال</c:v>
              </c:pt>
              <c:pt idx="5">
                <c:v>KSA مدل</c:v>
              </c:pt>
              <c:pt idx="6">
                <c:v>KSA قاعده</c:v>
              </c:pt>
            </c:strLit>
          </c:cat>
          <c:val>
            <c:numLit>
              <c:formatCode>General</c:formatCode>
              <c:ptCount val="7"/>
              <c:pt idx="0">
                <c:v>0.1333</c:v>
              </c:pt>
              <c:pt idx="1">
                <c:v>0.3667</c:v>
              </c:pt>
              <c:pt idx="2">
                <c:v>0.4222</c:v>
              </c:pt>
              <c:pt idx="3">
                <c:v>0.4222</c:v>
              </c:pt>
              <c:pt idx="4">
                <c:v>0.7</c:v>
              </c:pt>
              <c:pt idx="5">
                <c:v>0.8889</c:v>
              </c:pt>
              <c:pt idx="6">
                <c:v>0.9222</c:v>
              </c:pt>
            </c:numLit>
          </c:val>
        </c:ser>
        <c:dLbls>
          <c:txPr>
            <a:bodyPr xmlns:a="http://schemas.openxmlformats.org/drawingml/2006/main" anchorCtr="1"/>
            <a:lstStyle xmlns:a="http://schemas.openxmlformats.org/drawingml/2006/main"/>
            <a:p xmlns:a="http://schemas.openxmlformats.org/drawingml/2006/main">
              <a:pPr>
                <a:defRPr sz="1350" b="1">
                  <a:solidFill>
                    <a:srgbClr val="111111"/>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E5E7EB"/>
              </a:solidFill>
              <a:prstDash val="solid"/>
            </a:ln>
          </c:spPr>
        </c:majorGridlines>
        <c:numFmt formatCode="0%"/>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F6368"/>
                </a:solidFill>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275">
                <a:solidFill>
                  <a:srgbClr val="111111"/>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NOOP→ABSTAIN</c:v>
          </c:tx>
          <c:spPr>
            <a:solidFill xmlns:a="http://schemas.openxmlformats.org/drawingml/2006/main">
              <a:srgbClr val="3D8DFF"/>
            </a:solidFill>
          </c:spPr>
          <c:cat>
            <c:strLit>
              <c:ptCount val="3"/>
              <c:pt idx="0">
                <c:v>Graph</c:v>
              </c:pt>
              <c:pt idx="1">
                <c:v>Mem0</c:v>
              </c:pt>
              <c:pt idx="2">
                <c:v>Letta</c:v>
              </c:pt>
            </c:strLit>
          </c:cat>
          <c:val>
            <c:numLit>
              <c:formatCode>General</c:formatCode>
              <c:ptCount val="3"/>
              <c:pt idx="0">
                <c:v>0.383</c:v>
              </c:pt>
              <c:pt idx="1">
                <c:v>0.622</c:v>
              </c:pt>
              <c:pt idx="2">
                <c:v>0.678</c:v>
              </c:pt>
            </c:numLit>
          </c:val>
        </c:ser>
        <c:ser>
          <c:idx val="1"/>
          <c:order val="1"/>
          <c:tx>
            <c:v>NOOP→KEEP</c:v>
          </c:tx>
          <c:spPr>
            <a:solidFill xmlns:a="http://schemas.openxmlformats.org/drawingml/2006/main">
              <a:srgbClr val="6DCBF4"/>
            </a:solidFill>
          </c:spPr>
          <c:cat>
            <c:strLit>
              <c:ptCount val="3"/>
              <c:pt idx="0">
                <c:v>Graph</c:v>
              </c:pt>
              <c:pt idx="1">
                <c:v>Mem0</c:v>
              </c:pt>
              <c:pt idx="2">
                <c:v>Letta</c:v>
              </c:pt>
            </c:strLit>
          </c:cat>
          <c:val>
            <c:numLit>
              <c:formatCode>General</c:formatCode>
              <c:ptCount val="3"/>
              <c:pt idx="0">
                <c:v>0.139</c:v>
              </c:pt>
              <c:pt idx="1">
                <c:v>0.4</c:v>
              </c:pt>
              <c:pt idx="2">
                <c:v>0.489</c:v>
              </c:pt>
            </c:numLit>
          </c:val>
        </c:ser>
        <c:dLbls>
          <c:txPr>
            <a:bodyPr xmlns:a="http://schemas.openxmlformats.org/drawingml/2006/main" anchorCtr="1"/>
            <a:lstStyle xmlns:a="http://schemas.openxmlformats.org/drawingml/2006/main"/>
            <a:p xmlns:a="http://schemas.openxmlformats.org/drawingml/2006/main">
              <a:pPr>
                <a:defRPr sz="1350" b="1">
                  <a:solidFill>
                    <a:srgbClr val="111111"/>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E5E7EB"/>
              </a:solidFill>
              <a:prstDash val="solid"/>
            </a:ln>
          </c:spPr>
        </c:majorGridlines>
        <c:numFmt formatCode="0%"/>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F6368"/>
                </a:solidFill>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275">
                <a:solidFill>
                  <a:srgbClr val="111111"/>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5F6368"/>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C45D417-7D9B-4F1C-9CDE-C6952C62515D}"/>
              </a:ext>
            </a:extLst>
          </p:cNvPr>
          <p:cNvSpPr>
            <a:spLocks xmlns:a="http://schemas.openxmlformats.org/drawingml/2006/main" noGrp="1"/>
          </p:cNvSpPr>
          <p:nvPr/>
        </p:nvSpPr>
        <p:spPr>
          <a:xfrm xmlns:a="http://schemas.openxmlformats.org/drawingml/2006/main">
            <a:off x="495300" y="495300"/>
            <a:ext cx="1120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00" b="1">
                <a:solidFill>
                  <a:srgbClr val="5F6368"/>
                </a:solidFill>
                <a:latin typeface="Arial"/>
                <a:ea typeface="Arial"/>
                <a:cs typeface="Arial"/>
              </a:defRPr>
            </a:pPr>
            <a:r>
              <a:rPr sz="1500" b="1">
                <a:solidFill>
                  <a:srgbClr val="5F6368"/>
                </a:solidFill>
                <a:latin typeface="Arial"/>
                <a:ea typeface="Arial"/>
                <a:cs typeface="Arial"/>
              </a:rPr>
              <a:t>جلسهٔ دفاع پایان‌نامهٔ کارشناسی ارشد</a:t>
            </a:r>
          </a:p>
        </p:txBody>
      </p:sp>
      <p:sp>
        <p:nvSpPr>
          <p:cNvPr id="2" name="">
            <a:extLst xmlns:a="http://schemas.openxmlformats.org/drawingml/2006/main">
              <a:ext uri="{FF2B5EF4-FFF2-40B4-BE49-F238E27FC236}">
                <a16:creationId xmlns:a16="http://schemas.microsoft.com/office/drawing/2014/main" id="{2E57CFDB-9FBC-4433-B62F-A2148870D23E}"/>
              </a:ext>
            </a:extLst>
          </p:cNvPr>
          <p:cNvSpPr>
            <a:spLocks xmlns:a="http://schemas.openxmlformats.org/drawingml/2006/main" noGrp="1"/>
          </p:cNvSpPr>
          <p:nvPr/>
        </p:nvSpPr>
        <p:spPr>
          <a:xfrm xmlns:a="http://schemas.openxmlformats.org/drawingml/2006/main">
            <a:off x="495300" y="1809750"/>
            <a:ext cx="112014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4650" b="0">
                <a:solidFill>
                  <a:srgbClr val="111111"/>
                </a:solidFill>
                <a:latin typeface="Arial"/>
                <a:ea typeface="Arial"/>
                <a:cs typeface="Arial"/>
              </a:defRPr>
            </a:pPr>
            <a:r>
              <a:rPr sz="4650" b="0">
                <a:solidFill>
                  <a:srgbClr val="111111"/>
                </a:solidFill>
                <a:latin typeface="Arial"/>
                <a:ea typeface="Arial"/>
                <a:cs typeface="Arial"/>
              </a:rPr>
              <a:t>حاکمیت حافظهٔ بلندمدت پیش از بازیابی</a:t>
            </a:r>
          </a:p>
        </p:txBody>
      </p:sp>
      <p:sp>
        <p:nvSpPr>
          <p:cNvPr id="3" name="">
            <a:extLst xmlns:a="http://schemas.openxmlformats.org/drawingml/2006/main">
              <a:ext uri="{FF2B5EF4-FFF2-40B4-BE49-F238E27FC236}">
                <a16:creationId xmlns:a16="http://schemas.microsoft.com/office/drawing/2014/main" id="{0B203E02-73E4-49BC-A449-87ADCDA7ACCE}"/>
              </a:ext>
            </a:extLst>
          </p:cNvPr>
          <p:cNvSpPr>
            <a:spLocks xmlns:a="http://schemas.openxmlformats.org/drawingml/2006/main" noGrp="1"/>
          </p:cNvSpPr>
          <p:nvPr/>
        </p:nvSpPr>
        <p:spPr>
          <a:xfrm xmlns:a="http://schemas.openxmlformats.org/drawingml/2006/main">
            <a:off x="495300" y="4438650"/>
            <a:ext cx="7524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2100" b="0">
                <a:solidFill>
                  <a:srgbClr val="111111"/>
                </a:solidFill>
                <a:latin typeface="Arial"/>
                <a:ea typeface="Arial"/>
                <a:cs typeface="Arial"/>
              </a:defRPr>
            </a:pPr>
            <a:r>
              <a:rPr sz="2100" b="0">
                <a:solidFill>
                  <a:srgbClr val="111111"/>
                </a:solidFill>
                <a:latin typeface="Arial"/>
                <a:ea typeface="Arial"/>
                <a:cs typeface="Arial"/>
              </a:rPr>
              <a:t>نگه‌داری · جایگزینی · خودداری برای حافظهٔ نوع‌دار، منشأدار و دارای تبار</a:t>
            </a:r>
          </a:p>
        </p:txBody>
      </p:sp>
      <p:sp>
        <p:nvSpPr>
          <p:cNvPr id="4" name="">
            <a:extLst xmlns:a="http://schemas.openxmlformats.org/drawingml/2006/main">
              <a:ext uri="{FF2B5EF4-FFF2-40B4-BE49-F238E27FC236}">
                <a16:creationId xmlns:a16="http://schemas.microsoft.com/office/drawing/2014/main" id="{2DB9D5D2-C0D3-4F25-A1E7-F124DAE4801E}"/>
              </a:ext>
            </a:extLst>
          </p:cNvPr>
          <p:cNvSpPr>
            <a:spLocks xmlns:a="http://schemas.openxmlformats.org/drawingml/2006/main" noGrp="1"/>
          </p:cNvSpPr>
          <p:nvPr/>
        </p:nvSpPr>
        <p:spPr>
          <a:xfrm xmlns:a="http://schemas.openxmlformats.org/drawingml/2006/main">
            <a:off x="495300" y="5810250"/>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425" b="0">
                <a:solidFill>
                  <a:srgbClr val="5F6368"/>
                </a:solidFill>
                <a:latin typeface="Arial"/>
                <a:ea typeface="Arial"/>
                <a:cs typeface="Arial"/>
              </a:defRPr>
            </a:pPr>
            <a:r>
              <a:rPr sz="1425" b="0">
                <a:solidFill>
                  <a:srgbClr val="5F6368"/>
                </a:solidFill>
                <a:latin typeface="Arial"/>
                <a:ea typeface="Arial"/>
                <a:cs typeface="Arial"/>
              </a:rPr>
              <a:t>علی محمدی · سامانهٔ حاکمیت حافظهٔ KSA · ۲۰۲۶</a:t>
            </a:r>
          </a:p>
        </p:txBody>
      </p:sp>
    </p:spTree>
    <p:extLst>
      <p:ext uri="{BB962C8B-B14F-4D97-AF65-F5344CB8AC3E}">
        <p14:creationId xmlns:p14="http://schemas.microsoft.com/office/powerpoint/2010/main" val="11088683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4B7D98C-C856-4FB3-98CE-BAFCB0BB6A5A}"/>
              </a:ext>
            </a:extLst>
          </p:cNvPr>
          <p:cNvSpPr>
            <a:spLocks xmlns:a="http://schemas.openxmlformats.org/drawingml/2006/main" noGrp="1"/>
          </p:cNvSpPr>
          <p:nvPr/>
        </p:nvSpPr>
        <p:spPr>
          <a:xfrm xmlns:a="http://schemas.openxmlformats.org/drawingml/2006/main">
            <a:off x="495300" y="295275"/>
            <a:ext cx="1120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200" b="1">
                <a:solidFill>
                  <a:srgbClr val="5F6368"/>
                </a:solidFill>
                <a:latin typeface="Arial"/>
                <a:ea typeface="Arial"/>
                <a:cs typeface="Arial"/>
              </a:defRPr>
            </a:pPr>
            <a:r>
              <a:rPr sz="1200" b="1">
                <a:solidFill>
                  <a:srgbClr val="5F6368"/>
                </a:solidFill>
                <a:latin typeface="Arial"/>
                <a:ea typeface="Arial"/>
                <a:cs typeface="Arial"/>
              </a:rPr>
              <a:t>انگیزه</a:t>
            </a:r>
          </a:p>
        </p:txBody>
      </p:sp>
      <p:sp>
        <p:nvSpPr>
          <p:cNvPr id="2" name="">
            <a:extLst xmlns:a="http://schemas.openxmlformats.org/drawingml/2006/main">
              <a:ext uri="{FF2B5EF4-FFF2-40B4-BE49-F238E27FC236}">
                <a16:creationId xmlns:a16="http://schemas.microsoft.com/office/drawing/2014/main" id="{02583E59-57A1-4686-ACF8-6DC76E38D854}"/>
              </a:ext>
            </a:extLst>
          </p:cNvPr>
          <p:cNvSpPr>
            <a:spLocks xmlns:a="http://schemas.openxmlformats.org/drawingml/2006/main" noGrp="1"/>
          </p:cNvSpPr>
          <p:nvPr/>
        </p:nvSpPr>
        <p:spPr>
          <a:xfrm xmlns:a="http://schemas.openxmlformats.org/drawingml/2006/main">
            <a:off x="495300" y="61912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حافظهٔ بلندمدت یک حالت تغییرپذیر است، نه یک مخزن سند</a:t>
            </a:r>
          </a:p>
        </p:txBody>
      </p:sp>
      <p:sp>
        <p:nvSpPr>
          <p:cNvPr id="3" name="">
            <a:extLst xmlns:a="http://schemas.openxmlformats.org/drawingml/2006/main">
              <a:ext uri="{FF2B5EF4-FFF2-40B4-BE49-F238E27FC236}">
                <a16:creationId xmlns:a16="http://schemas.microsoft.com/office/drawing/2014/main" id="{1C64856C-EC32-4AA8-82C6-397D62874A54}"/>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712BE349-63E9-44A4-A2AA-85C36A5ECB67}"/>
              </a:ext>
            </a:extLst>
          </p:cNvPr>
          <p:cNvSpPr>
            <a:spLocks xmlns:a="http://schemas.openxmlformats.org/drawingml/2006/main" noGrp="1"/>
          </p:cNvSpPr>
          <p:nvPr/>
        </p:nvSpPr>
        <p:spPr>
          <a:xfrm xmlns:a="http://schemas.openxmlformats.org/drawingml/2006/main">
            <a:off x="495300" y="1762125"/>
            <a:ext cx="112014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3450" b="0">
                <a:solidFill>
                  <a:srgbClr val="111111"/>
                </a:solidFill>
                <a:latin typeface="Arial"/>
                <a:ea typeface="Arial"/>
                <a:cs typeface="Arial"/>
              </a:defRPr>
            </a:pPr>
            <a:r>
              <a:rPr sz="3450" b="0">
                <a:solidFill>
                  <a:srgbClr val="111111"/>
                </a:solidFill>
                <a:latin typeface="Arial"/>
                <a:ea typeface="Arial"/>
                <a:cs typeface="Arial"/>
              </a:rPr>
              <a:t>هر نوشتن، آنچه عامل بعداً «درست» می‌پندارد تغییر می‌دهد.</a:t>
            </a:r>
          </a:p>
        </p:txBody>
      </p:sp>
      <p:sp>
        <p:nvSpPr>
          <p:cNvPr id="5" name="">
            <a:extLst xmlns:a="http://schemas.openxmlformats.org/drawingml/2006/main">
              <a:ext uri="{FF2B5EF4-FFF2-40B4-BE49-F238E27FC236}">
                <a16:creationId xmlns:a16="http://schemas.microsoft.com/office/drawing/2014/main" id="{7C5367E4-A261-40C1-B8A9-50854C0A7B66}"/>
              </a:ext>
            </a:extLst>
          </p:cNvPr>
          <p:cNvSpPr>
            <a:spLocks xmlns:a="http://schemas.openxmlformats.org/drawingml/2006/main" noGrp="1"/>
          </p:cNvSpPr>
          <p:nvPr/>
        </p:nvSpPr>
        <p:spPr>
          <a:xfrm xmlns:a="http://schemas.openxmlformats.org/drawingml/2006/main">
            <a:off x="5981700" y="4619625"/>
            <a:ext cx="5715000" cy="12001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F8560E6-8052-4FC0-9092-26836E5026D6}"/>
              </a:ext>
            </a:extLst>
          </p:cNvPr>
          <p:cNvSpPr>
            <a:spLocks xmlns:a="http://schemas.openxmlformats.org/drawingml/2006/main" noGrp="1"/>
          </p:cNvSpPr>
          <p:nvPr/>
        </p:nvSpPr>
        <p:spPr>
          <a:xfrm xmlns:a="http://schemas.openxmlformats.org/drawingml/2006/main">
            <a:off x="6248400" y="4857750"/>
            <a:ext cx="51816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725" b="0">
                <a:solidFill>
                  <a:srgbClr val="111111"/>
                </a:solidFill>
                <a:latin typeface="Arial"/>
                <a:ea typeface="Arial"/>
                <a:cs typeface="Arial"/>
              </a:defRPr>
            </a:pPr>
            <a:r>
              <a:rPr sz="1725" b="0">
                <a:solidFill>
                  <a:srgbClr val="111111"/>
                </a:solidFill>
                <a:latin typeface="Arial"/>
                <a:ea typeface="Arial"/>
                <a:cs typeface="Arial"/>
              </a:rPr>
              <a:t>امتیاز بازیابی نمی‌تواند سازگاری، جایگزینی، یا ناایمن‌بودن شواهد برای ثبت را تعیین کند.</a:t>
            </a:r>
          </a:p>
        </p:txBody>
      </p:sp>
    </p:spTree>
    <p:extLst>
      <p:ext uri="{BB962C8B-B14F-4D97-AF65-F5344CB8AC3E}">
        <p14:creationId xmlns:p14="http://schemas.microsoft.com/office/powerpoint/2010/main" val="11530990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34054A5-3060-4D4F-9532-8A38B57899D7}"/>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خط لولهٔ صرفاً بازیابی‌محور، تصمیم نوشتن را ضمنی می‌گذارد</a:t>
            </a:r>
          </a:p>
        </p:txBody>
      </p:sp>
      <p:sp>
        <p:nvSpPr>
          <p:cNvPr id="2" name="">
            <a:extLst xmlns:a="http://schemas.openxmlformats.org/drawingml/2006/main">
              <a:ext uri="{FF2B5EF4-FFF2-40B4-BE49-F238E27FC236}">
                <a16:creationId xmlns:a16="http://schemas.microsoft.com/office/drawing/2014/main" id="{AFCDC04F-B462-449E-97EC-67CCCEF7CE1E}"/>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C6F1FC16-7782-4D77-A5AC-C7C0CF6B55D9}"/>
              </a:ext>
            </a:extLst>
          </p:cNvPr>
          <p:cNvSpPr>
            <a:spLocks xmlns:a="http://schemas.openxmlformats.org/drawingml/2006/main" noGrp="1"/>
          </p:cNvSpPr>
          <p:nvPr/>
        </p:nvSpPr>
        <p:spPr>
          <a:xfrm xmlns:a="http://schemas.openxmlformats.org/drawingml/2006/main">
            <a:off x="495300" y="1695450"/>
            <a:ext cx="5467350" cy="37909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FDB26F0-1EE7-46DC-BCB5-A73197FB6848}"/>
              </a:ext>
            </a:extLst>
          </p:cNvPr>
          <p:cNvSpPr>
            <a:spLocks xmlns:a="http://schemas.openxmlformats.org/drawingml/2006/main" noGrp="1"/>
          </p:cNvSpPr>
          <p:nvPr/>
        </p:nvSpPr>
        <p:spPr>
          <a:xfrm xmlns:a="http://schemas.openxmlformats.org/drawingml/2006/main">
            <a:off x="762000" y="1990725"/>
            <a:ext cx="493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75" b="1">
                <a:solidFill>
                  <a:srgbClr val="111111"/>
                </a:solidFill>
                <a:latin typeface="Arial"/>
                <a:ea typeface="Arial"/>
                <a:cs typeface="Arial"/>
              </a:defRPr>
            </a:pPr>
            <a:r>
              <a:rPr sz="1875" b="1">
                <a:solidFill>
                  <a:srgbClr val="111111"/>
                </a:solidFill>
                <a:latin typeface="Arial"/>
                <a:ea typeface="Arial"/>
                <a:cs typeface="Arial"/>
              </a:rPr>
              <a:t>حافظهٔ تحت حاکمیت</a:t>
            </a:r>
          </a:p>
        </p:txBody>
      </p:sp>
      <p:sp>
        <p:nvSpPr>
          <p:cNvPr id="5" name="">
            <a:extLst xmlns:a="http://schemas.openxmlformats.org/drawingml/2006/main">
              <a:ext uri="{FF2B5EF4-FFF2-40B4-BE49-F238E27FC236}">
                <a16:creationId xmlns:a16="http://schemas.microsoft.com/office/drawing/2014/main" id="{97FFE62A-1AC6-497D-9353-2198A45F3DC0}"/>
              </a:ext>
            </a:extLst>
          </p:cNvPr>
          <p:cNvSpPr>
            <a:spLocks xmlns:a="http://schemas.openxmlformats.org/drawingml/2006/main" noGrp="1"/>
          </p:cNvSpPr>
          <p:nvPr/>
        </p:nvSpPr>
        <p:spPr>
          <a:xfrm xmlns:a="http://schemas.openxmlformats.org/drawingml/2006/main">
            <a:off x="762000" y="2686050"/>
            <a:ext cx="4933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325" b="1">
                <a:solidFill>
                  <a:srgbClr val="3D8DFF"/>
                </a:solidFill>
                <a:latin typeface="Arial"/>
                <a:ea typeface="Arial"/>
                <a:cs typeface="Arial"/>
              </a:defRPr>
            </a:pPr>
            <a:r>
              <a:rPr sz="2325" b="1">
                <a:solidFill>
                  <a:srgbClr val="3D8DFF"/>
                </a:solidFill>
                <a:latin typeface="Arial"/>
                <a:ea typeface="Arial"/>
                <a:cs typeface="Arial"/>
              </a:rPr>
              <a:t>بررسی ← تصمیم ← گذار</a:t>
            </a:r>
          </a:p>
        </p:txBody>
      </p:sp>
      <p:sp>
        <p:nvSpPr>
          <p:cNvPr id="6" name="">
            <a:extLst xmlns:a="http://schemas.openxmlformats.org/drawingml/2006/main">
              <a:ext uri="{FF2B5EF4-FFF2-40B4-BE49-F238E27FC236}">
                <a16:creationId xmlns:a16="http://schemas.microsoft.com/office/drawing/2014/main" id="{3114F637-C50D-49F5-A9DF-AE4678ED78BC}"/>
              </a:ext>
            </a:extLst>
          </p:cNvPr>
          <p:cNvSpPr>
            <a:spLocks xmlns:a="http://schemas.openxmlformats.org/drawingml/2006/main" noGrp="1"/>
          </p:cNvSpPr>
          <p:nvPr/>
        </p:nvSpPr>
        <p:spPr>
          <a:xfrm xmlns:a="http://schemas.openxmlformats.org/drawingml/2006/main">
            <a:off x="762000" y="3657600"/>
            <a:ext cx="49339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650" b="0">
                <a:solidFill>
                  <a:srgbClr val="111111"/>
                </a:solidFill>
                <a:latin typeface="Arial"/>
                <a:ea typeface="Arial"/>
                <a:cs typeface="Arial"/>
              </a:defRPr>
            </a:pPr>
            <a:r>
              <a:rPr sz="1650" b="0">
                <a:solidFill>
                  <a:srgbClr val="111111"/>
                </a:solidFill>
                <a:latin typeface="Arial"/>
                <a:ea typeface="Arial"/>
                <a:cs typeface="Arial"/>
              </a:rPr>
              <a:t>کنش نوشتن را صریح می‌کند، تاریخچهٔ جایگزین‌شده را حفظ می‌کند و چرایی تغییر حالت را ثبت می‌کند.</a:t>
            </a:r>
          </a:p>
        </p:txBody>
      </p:sp>
      <p:sp>
        <p:nvSpPr>
          <p:cNvPr id="7" name="">
            <a:extLst xmlns:a="http://schemas.openxmlformats.org/drawingml/2006/main">
              <a:ext uri="{FF2B5EF4-FFF2-40B4-BE49-F238E27FC236}">
                <a16:creationId xmlns:a16="http://schemas.microsoft.com/office/drawing/2014/main" id="{5F18B0BC-D587-4AC6-804D-AFD0CA871D74}"/>
              </a:ext>
            </a:extLst>
          </p:cNvPr>
          <p:cNvSpPr>
            <a:spLocks xmlns:a="http://schemas.openxmlformats.org/drawingml/2006/main" noGrp="1"/>
          </p:cNvSpPr>
          <p:nvPr/>
        </p:nvSpPr>
        <p:spPr>
          <a:xfrm xmlns:a="http://schemas.openxmlformats.org/drawingml/2006/main">
            <a:off x="6229350" y="1695450"/>
            <a:ext cx="5467350" cy="37909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6378F51-EC37-4197-87BA-5356617BEFED}"/>
              </a:ext>
            </a:extLst>
          </p:cNvPr>
          <p:cNvSpPr>
            <a:spLocks xmlns:a="http://schemas.openxmlformats.org/drawingml/2006/main" noGrp="1"/>
          </p:cNvSpPr>
          <p:nvPr/>
        </p:nvSpPr>
        <p:spPr>
          <a:xfrm xmlns:a="http://schemas.openxmlformats.org/drawingml/2006/main">
            <a:off x="6496050" y="1990725"/>
            <a:ext cx="493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75" b="1">
                <a:solidFill>
                  <a:srgbClr val="111111"/>
                </a:solidFill>
                <a:latin typeface="Arial"/>
                <a:ea typeface="Arial"/>
                <a:cs typeface="Arial"/>
              </a:defRPr>
            </a:pPr>
            <a:r>
              <a:rPr sz="1875" b="1">
                <a:solidFill>
                  <a:srgbClr val="111111"/>
                </a:solidFill>
                <a:latin typeface="Arial"/>
                <a:ea typeface="Arial"/>
                <a:cs typeface="Arial"/>
              </a:rPr>
              <a:t>حافظهٔ بازیابی‌محور</a:t>
            </a:r>
          </a:p>
        </p:txBody>
      </p:sp>
      <p:sp>
        <p:nvSpPr>
          <p:cNvPr id="9" name="">
            <a:extLst xmlns:a="http://schemas.openxmlformats.org/drawingml/2006/main">
              <a:ext uri="{FF2B5EF4-FFF2-40B4-BE49-F238E27FC236}">
                <a16:creationId xmlns:a16="http://schemas.microsoft.com/office/drawing/2014/main" id="{55FEFB6A-1F89-4D64-8D03-30EB5435A71C}"/>
              </a:ext>
            </a:extLst>
          </p:cNvPr>
          <p:cNvSpPr>
            <a:spLocks xmlns:a="http://schemas.openxmlformats.org/drawingml/2006/main" noGrp="1"/>
          </p:cNvSpPr>
          <p:nvPr/>
        </p:nvSpPr>
        <p:spPr>
          <a:xfrm xmlns:a="http://schemas.openxmlformats.org/drawingml/2006/main">
            <a:off x="6496050" y="2686050"/>
            <a:ext cx="4933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325" b="1">
                <a:solidFill>
                  <a:srgbClr val="111111"/>
                </a:solidFill>
                <a:latin typeface="Arial"/>
                <a:ea typeface="Arial"/>
                <a:cs typeface="Arial"/>
              </a:defRPr>
            </a:pPr>
            <a:r>
              <a:rPr sz="2325" b="1">
                <a:solidFill>
                  <a:srgbClr val="111111"/>
                </a:solidFill>
                <a:latin typeface="Arial"/>
                <a:ea typeface="Arial"/>
                <a:cs typeface="Arial"/>
              </a:rPr>
              <a:t>ثبت ← رتبه‌بندی ← پاسخ</a:t>
            </a:r>
          </a:p>
        </p:txBody>
      </p:sp>
      <p:sp>
        <p:nvSpPr>
          <p:cNvPr id="10" name="">
            <a:extLst xmlns:a="http://schemas.openxmlformats.org/drawingml/2006/main">
              <a:ext uri="{FF2B5EF4-FFF2-40B4-BE49-F238E27FC236}">
                <a16:creationId xmlns:a16="http://schemas.microsoft.com/office/drawing/2014/main" id="{53499602-1D50-412E-B6C1-48EEB97A0918}"/>
              </a:ext>
            </a:extLst>
          </p:cNvPr>
          <p:cNvSpPr>
            <a:spLocks xmlns:a="http://schemas.openxmlformats.org/drawingml/2006/main" noGrp="1"/>
          </p:cNvSpPr>
          <p:nvPr/>
        </p:nvSpPr>
        <p:spPr>
          <a:xfrm xmlns:a="http://schemas.openxmlformats.org/drawingml/2006/main">
            <a:off x="6496050" y="3657600"/>
            <a:ext cx="49339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650" b="0">
                <a:solidFill>
                  <a:srgbClr val="111111"/>
                </a:solidFill>
                <a:latin typeface="Arial"/>
                <a:ea typeface="Arial"/>
                <a:cs typeface="Arial"/>
              </a:defRPr>
            </a:pPr>
            <a:r>
              <a:rPr sz="1650" b="0">
                <a:solidFill>
                  <a:srgbClr val="111111"/>
                </a:solidFill>
                <a:latin typeface="Arial"/>
                <a:ea typeface="Arial"/>
                <a:cs typeface="Arial"/>
              </a:rPr>
              <a:t>فقط یافتن مورد مرتبط را بهینه می‌کند؛ تعارض، عدم‌قطعیت و تاریخچه به اثر جانبی تبدیل می‌شوند.</a:t>
            </a:r>
          </a:p>
        </p:txBody>
      </p:sp>
    </p:spTree>
    <p:extLst>
      <p:ext uri="{BB962C8B-B14F-4D97-AF65-F5344CB8AC3E}">
        <p14:creationId xmlns:p14="http://schemas.microsoft.com/office/powerpoint/2010/main" val="58742279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FECB8F3-A3BE-4AA8-BDED-99DD10FF3131}"/>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شکاف پژوهش، نبود یک مرز نوشتنِ صریح و قابل‌اندازه‌گیری است</a:t>
            </a:r>
          </a:p>
        </p:txBody>
      </p:sp>
      <p:sp>
        <p:nvSpPr>
          <p:cNvPr id="2" name="">
            <a:extLst xmlns:a="http://schemas.openxmlformats.org/drawingml/2006/main">
              <a:ext uri="{FF2B5EF4-FFF2-40B4-BE49-F238E27FC236}">
                <a16:creationId xmlns:a16="http://schemas.microsoft.com/office/drawing/2014/main" id="{D413B20D-DD61-4166-9C4B-DAD4492DC923}"/>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64912C4F-5161-4A42-89D9-46007AAE9DA8}"/>
              </a:ext>
            </a:extLst>
          </p:cNvPr>
          <p:cNvSpPr>
            <a:spLocks xmlns:a="http://schemas.openxmlformats.org/drawingml/2006/main" noGrp="1"/>
          </p:cNvSpPr>
          <p:nvPr/>
        </p:nvSpPr>
        <p:spPr>
          <a:xfrm xmlns:a="http://schemas.openxmlformats.org/drawingml/2006/main">
            <a:off x="495300" y="1666875"/>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ارزیابی</a:t>
            </a:r>
          </a:p>
        </p:txBody>
      </p:sp>
      <p:sp>
        <p:nvSpPr>
          <p:cNvPr id="4" name="">
            <a:extLst xmlns:a="http://schemas.openxmlformats.org/drawingml/2006/main">
              <a:ext uri="{FF2B5EF4-FFF2-40B4-BE49-F238E27FC236}">
                <a16:creationId xmlns:a16="http://schemas.microsoft.com/office/drawing/2014/main" id="{EFEDBF6C-1080-44A3-970C-06C3AB387162}"/>
              </a:ext>
            </a:extLst>
          </p:cNvPr>
          <p:cNvSpPr>
            <a:spLocks xmlns:a="http://schemas.openxmlformats.org/drawingml/2006/main" noGrp="1"/>
          </p:cNvSpPr>
          <p:nvPr/>
        </p:nvSpPr>
        <p:spPr>
          <a:xfrm xmlns:a="http://schemas.openxmlformats.org/drawingml/2006/main">
            <a:off x="495300" y="2257425"/>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دقت پاسخ مشخص نمی‌کند خطا از نوشتن، گذار حالت، بازیابی، یا تولید پاسخ آمده است.</a:t>
            </a:r>
          </a:p>
        </p:txBody>
      </p:sp>
      <p:sp>
        <p:nvSpPr>
          <p:cNvPr id="5" name="">
            <a:extLst xmlns:a="http://schemas.openxmlformats.org/drawingml/2006/main">
              <a:ext uri="{FF2B5EF4-FFF2-40B4-BE49-F238E27FC236}">
                <a16:creationId xmlns:a16="http://schemas.microsoft.com/office/drawing/2014/main" id="{6D87791A-6C44-407E-AEB0-8D1E45D9957A}"/>
              </a:ext>
            </a:extLst>
          </p:cNvPr>
          <p:cNvSpPr>
            <a:spLocks xmlns:a="http://schemas.openxmlformats.org/drawingml/2006/main" noGrp="1"/>
          </p:cNvSpPr>
          <p:nvPr/>
        </p:nvSpPr>
        <p:spPr>
          <a:xfrm xmlns:a="http://schemas.openxmlformats.org/drawingml/2006/main">
            <a:off x="6229350" y="1666875"/>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تاریخچه</a:t>
            </a:r>
          </a:p>
        </p:txBody>
      </p:sp>
      <p:sp>
        <p:nvSpPr>
          <p:cNvPr id="6" name="">
            <a:extLst xmlns:a="http://schemas.openxmlformats.org/drawingml/2006/main">
              <a:ext uri="{FF2B5EF4-FFF2-40B4-BE49-F238E27FC236}">
                <a16:creationId xmlns:a16="http://schemas.microsoft.com/office/drawing/2014/main" id="{6CEB93B1-F84D-4F8B-B2A7-00B095E8C2C9}"/>
              </a:ext>
            </a:extLst>
          </p:cNvPr>
          <p:cNvSpPr>
            <a:spLocks xmlns:a="http://schemas.openxmlformats.org/drawingml/2006/main" noGrp="1"/>
          </p:cNvSpPr>
          <p:nvPr/>
        </p:nvSpPr>
        <p:spPr>
          <a:xfrm xmlns:a="http://schemas.openxmlformats.org/drawingml/2006/main">
            <a:off x="6229350" y="2257425"/>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بازنویسی ادعای قدیمی را پنهان می‌کند و حافظهٔ افزایشی می‌تواند تعارض‌ها را هم‌زمان فعال نگه دارد.</a:t>
            </a:r>
          </a:p>
        </p:txBody>
      </p:sp>
      <p:sp>
        <p:nvSpPr>
          <p:cNvPr id="7" name="">
            <a:extLst xmlns:a="http://schemas.openxmlformats.org/drawingml/2006/main">
              <a:ext uri="{FF2B5EF4-FFF2-40B4-BE49-F238E27FC236}">
                <a16:creationId xmlns:a16="http://schemas.microsoft.com/office/drawing/2014/main" id="{76930A87-1503-49C5-9B57-26E4B7AA7C7E}"/>
              </a:ext>
            </a:extLst>
          </p:cNvPr>
          <p:cNvSpPr>
            <a:spLocks xmlns:a="http://schemas.openxmlformats.org/drawingml/2006/main" noGrp="1"/>
          </p:cNvSpPr>
          <p:nvPr/>
        </p:nvSpPr>
        <p:spPr>
          <a:xfrm xmlns:a="http://schemas.openxmlformats.org/drawingml/2006/main">
            <a:off x="495300" y="3886200"/>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عدم‌قطعیت</a:t>
            </a:r>
          </a:p>
        </p:txBody>
      </p:sp>
      <p:sp>
        <p:nvSpPr>
          <p:cNvPr id="8" name="">
            <a:extLst xmlns:a="http://schemas.openxmlformats.org/drawingml/2006/main">
              <a:ext uri="{FF2B5EF4-FFF2-40B4-BE49-F238E27FC236}">
                <a16:creationId xmlns:a16="http://schemas.microsoft.com/office/drawing/2014/main" id="{2967005A-6BF7-45EE-9259-88D832FBD43E}"/>
              </a:ext>
            </a:extLst>
          </p:cNvPr>
          <p:cNvSpPr>
            <a:spLocks xmlns:a="http://schemas.openxmlformats.org/drawingml/2006/main" noGrp="1"/>
          </p:cNvSpPr>
          <p:nvPr/>
        </p:nvSpPr>
        <p:spPr>
          <a:xfrm xmlns:a="http://schemas.openxmlformats.org/drawingml/2006/main">
            <a:off x="495300" y="4476750"/>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NOOP معمولاً یعنی «اطلاعات تازه نیست»، نه «شواهد برای ثبت ایمن نیست».</a:t>
            </a:r>
          </a:p>
        </p:txBody>
      </p:sp>
      <p:sp>
        <p:nvSpPr>
          <p:cNvPr id="9" name="">
            <a:extLst xmlns:a="http://schemas.openxmlformats.org/drawingml/2006/main">
              <a:ext uri="{FF2B5EF4-FFF2-40B4-BE49-F238E27FC236}">
                <a16:creationId xmlns:a16="http://schemas.microsoft.com/office/drawing/2014/main" id="{C63F7704-9D4B-4471-AA5C-99D3FE8EB838}"/>
              </a:ext>
            </a:extLst>
          </p:cNvPr>
          <p:cNvSpPr>
            <a:spLocks xmlns:a="http://schemas.openxmlformats.org/drawingml/2006/main" noGrp="1"/>
          </p:cNvSpPr>
          <p:nvPr/>
        </p:nvSpPr>
        <p:spPr>
          <a:xfrm xmlns:a="http://schemas.openxmlformats.org/drawingml/2006/main">
            <a:off x="6229350" y="3886200"/>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کنش</a:t>
            </a:r>
          </a:p>
        </p:txBody>
      </p:sp>
      <p:sp>
        <p:nvSpPr>
          <p:cNvPr id="10" name="">
            <a:extLst xmlns:a="http://schemas.openxmlformats.org/drawingml/2006/main">
              <a:ext uri="{FF2B5EF4-FFF2-40B4-BE49-F238E27FC236}">
                <a16:creationId xmlns:a16="http://schemas.microsoft.com/office/drawing/2014/main" id="{458074AE-9A90-49DA-8A20-244A2AB8541C}"/>
              </a:ext>
            </a:extLst>
          </p:cNvPr>
          <p:cNvSpPr>
            <a:spLocks xmlns:a="http://schemas.openxmlformats.org/drawingml/2006/main" noGrp="1"/>
          </p:cNvSpPr>
          <p:nvPr/>
        </p:nvSpPr>
        <p:spPr>
          <a:xfrm xmlns:a="http://schemas.openxmlformats.org/drawingml/2006/main">
            <a:off x="6229350" y="4476750"/>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سامانه‌ها ADD/UPDATE/NOOP دارند، اما درستی کنش را هنگام تعارض مستقیماً نمی‌سنجند.</a:t>
            </a:r>
          </a:p>
        </p:txBody>
      </p:sp>
    </p:spTree>
    <p:extLst>
      <p:ext uri="{BB962C8B-B14F-4D97-AF65-F5344CB8AC3E}">
        <p14:creationId xmlns:p14="http://schemas.microsoft.com/office/powerpoint/2010/main" val="8082287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B242B6C-B34E-420E-A512-BEDACEAF48B9}"/>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سیاست، سه کنش و معنای دقیق گذار حالت را تثبیت می‌کند</a:t>
            </a:r>
          </a:p>
        </p:txBody>
      </p:sp>
      <p:sp>
        <p:nvSpPr>
          <p:cNvPr id="2" name="">
            <a:extLst xmlns:a="http://schemas.openxmlformats.org/drawingml/2006/main">
              <a:ext uri="{FF2B5EF4-FFF2-40B4-BE49-F238E27FC236}">
                <a16:creationId xmlns:a16="http://schemas.microsoft.com/office/drawing/2014/main" id="{83A25535-703B-48F7-9D66-EB7941D62CED}"/>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DF831750-7985-4215-8DF0-3E3479DC7E8E}"/>
              </a:ext>
            </a:extLst>
          </p:cNvPr>
          <p:cNvSpPr>
            <a:spLocks xmlns:a="http://schemas.openxmlformats.org/drawingml/2006/main" noGrp="1"/>
          </p:cNvSpPr>
          <p:nvPr/>
        </p:nvSpPr>
        <p:spPr>
          <a:xfrm xmlns:a="http://schemas.openxmlformats.org/drawingml/2006/main">
            <a:off x="495300" y="131445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650" b="0">
                <a:solidFill>
                  <a:srgbClr val="5F6368"/>
                </a:solidFill>
                <a:latin typeface="Arial"/>
                <a:ea typeface="Arial"/>
                <a:cs typeface="Arial"/>
              </a:defRPr>
            </a:pPr>
            <a:r>
              <a:rPr sz="1650" b="0">
                <a:solidFill>
                  <a:srgbClr val="5F6368"/>
                </a:solidFill>
                <a:latin typeface="Arial"/>
                <a:ea typeface="Arial"/>
                <a:cs typeface="Arial"/>
              </a:rPr>
              <a:t>واژگان کنش در کد ثابت است؛ مدل پیشنهاد می‌دهد اما گذار چهارمی نمی‌سازد.</a:t>
            </a:r>
          </a:p>
        </p:txBody>
      </p:sp>
      <p:sp>
        <p:nvSpPr>
          <p:cNvPr id="4" name="">
            <a:extLst xmlns:a="http://schemas.openxmlformats.org/drawingml/2006/main">
              <a:ext uri="{FF2B5EF4-FFF2-40B4-BE49-F238E27FC236}">
                <a16:creationId xmlns:a16="http://schemas.microsoft.com/office/drawing/2014/main" id="{8B03088D-47CF-4A63-9679-8BCA2684B35B}"/>
              </a:ext>
            </a:extLst>
          </p:cNvPr>
          <p:cNvSpPr>
            <a:spLocks xmlns:a="http://schemas.openxmlformats.org/drawingml/2006/main" noGrp="1"/>
          </p:cNvSpPr>
          <p:nvPr/>
        </p:nvSpPr>
        <p:spPr>
          <a:xfrm xmlns:a="http://schemas.openxmlformats.org/drawingml/2006/main">
            <a:off x="495300" y="2190750"/>
            <a:ext cx="3562350" cy="3333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A00FAE0-AEB5-4DF9-9B91-1F152EB7E13D}"/>
              </a:ext>
            </a:extLst>
          </p:cNvPr>
          <p:cNvSpPr>
            <a:spLocks xmlns:a="http://schemas.openxmlformats.org/drawingml/2006/main" noGrp="1"/>
          </p:cNvSpPr>
          <p:nvPr/>
        </p:nvSpPr>
        <p:spPr>
          <a:xfrm xmlns:a="http://schemas.openxmlformats.org/drawingml/2006/main">
            <a:off x="762000" y="2571750"/>
            <a:ext cx="3028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2175" b="1">
                <a:solidFill>
                  <a:srgbClr val="111111"/>
                </a:solidFill>
                <a:latin typeface="Arial"/>
                <a:ea typeface="Arial"/>
                <a:cs typeface="Arial"/>
              </a:defRPr>
            </a:pPr>
            <a:r>
              <a:rPr sz="2175" b="1">
                <a:solidFill>
                  <a:srgbClr val="111111"/>
                </a:solidFill>
                <a:latin typeface="Arial"/>
                <a:ea typeface="Arial"/>
                <a:cs typeface="Arial"/>
              </a:rPr>
              <a:t>خودداری ABSTAIN</a:t>
            </a:r>
          </a:p>
        </p:txBody>
      </p:sp>
      <p:sp>
        <p:nvSpPr>
          <p:cNvPr id="6" name="">
            <a:extLst xmlns:a="http://schemas.openxmlformats.org/drawingml/2006/main">
              <a:ext uri="{FF2B5EF4-FFF2-40B4-BE49-F238E27FC236}">
                <a16:creationId xmlns:a16="http://schemas.microsoft.com/office/drawing/2014/main" id="{C06F535E-62A4-4CED-8072-6F4AD8D306F4}"/>
              </a:ext>
            </a:extLst>
          </p:cNvPr>
          <p:cNvSpPr>
            <a:spLocks xmlns:a="http://schemas.openxmlformats.org/drawingml/2006/main" noGrp="1"/>
          </p:cNvSpPr>
          <p:nvPr/>
        </p:nvSpPr>
        <p:spPr>
          <a:xfrm xmlns:a="http://schemas.openxmlformats.org/drawingml/2006/main">
            <a:off x="762000" y="3333750"/>
            <a:ext cx="30289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650" b="0">
                <a:solidFill>
                  <a:srgbClr val="111111"/>
                </a:solidFill>
                <a:latin typeface="Arial"/>
                <a:ea typeface="Arial"/>
                <a:cs typeface="Arial"/>
              </a:defRPr>
            </a:pPr>
            <a:r>
              <a:rPr sz="1650" b="0">
                <a:solidFill>
                  <a:srgbClr val="111111"/>
                </a:solidFill>
                <a:latin typeface="Arial"/>
                <a:ea typeface="Arial"/>
                <a:cs typeface="Arial"/>
              </a:rPr>
              <a:t>حافظه را تغییر نمی‌دهد و تعارض یا ابهام را برای بازبینی ثبت می‌کند.</a:t>
            </a:r>
          </a:p>
        </p:txBody>
      </p:sp>
      <p:sp>
        <p:nvSpPr>
          <p:cNvPr id="7" name="">
            <a:extLst xmlns:a="http://schemas.openxmlformats.org/drawingml/2006/main">
              <a:ext uri="{FF2B5EF4-FFF2-40B4-BE49-F238E27FC236}">
                <a16:creationId xmlns:a16="http://schemas.microsoft.com/office/drawing/2014/main" id="{E982FE5F-2F9F-4C1A-AEB1-93B883E6BBB0}"/>
              </a:ext>
            </a:extLst>
          </p:cNvPr>
          <p:cNvSpPr>
            <a:spLocks xmlns:a="http://schemas.openxmlformats.org/drawingml/2006/main" noGrp="1"/>
          </p:cNvSpPr>
          <p:nvPr/>
        </p:nvSpPr>
        <p:spPr>
          <a:xfrm xmlns:a="http://schemas.openxmlformats.org/drawingml/2006/main">
            <a:off x="4314825" y="2190750"/>
            <a:ext cx="3562350" cy="3333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F7A53A3-83F8-4939-A228-370DC8844AFC}"/>
              </a:ext>
            </a:extLst>
          </p:cNvPr>
          <p:cNvSpPr>
            <a:spLocks xmlns:a="http://schemas.openxmlformats.org/drawingml/2006/main" noGrp="1"/>
          </p:cNvSpPr>
          <p:nvPr/>
        </p:nvSpPr>
        <p:spPr>
          <a:xfrm xmlns:a="http://schemas.openxmlformats.org/drawingml/2006/main">
            <a:off x="4581525" y="2571750"/>
            <a:ext cx="3028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2175" b="1">
                <a:solidFill>
                  <a:srgbClr val="3D8DFF"/>
                </a:solidFill>
                <a:latin typeface="Arial"/>
                <a:ea typeface="Arial"/>
                <a:cs typeface="Arial"/>
              </a:defRPr>
            </a:pPr>
            <a:r>
              <a:rPr sz="2175" b="1">
                <a:solidFill>
                  <a:srgbClr val="3D8DFF"/>
                </a:solidFill>
                <a:latin typeface="Arial"/>
                <a:ea typeface="Arial"/>
                <a:cs typeface="Arial"/>
              </a:rPr>
              <a:t>جایگزینی SUPERSEDE</a:t>
            </a:r>
          </a:p>
        </p:txBody>
      </p:sp>
      <p:sp>
        <p:nvSpPr>
          <p:cNvPr id="9" name="">
            <a:extLst xmlns:a="http://schemas.openxmlformats.org/drawingml/2006/main">
              <a:ext uri="{FF2B5EF4-FFF2-40B4-BE49-F238E27FC236}">
                <a16:creationId xmlns:a16="http://schemas.microsoft.com/office/drawing/2014/main" id="{F956E28A-0554-4F07-ABF6-9224E9FE1266}"/>
              </a:ext>
            </a:extLst>
          </p:cNvPr>
          <p:cNvSpPr>
            <a:spLocks xmlns:a="http://schemas.openxmlformats.org/drawingml/2006/main" noGrp="1"/>
          </p:cNvSpPr>
          <p:nvPr/>
        </p:nvSpPr>
        <p:spPr>
          <a:xfrm xmlns:a="http://schemas.openxmlformats.org/drawingml/2006/main">
            <a:off x="4581525" y="3333750"/>
            <a:ext cx="30289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650" b="0">
                <a:solidFill>
                  <a:srgbClr val="111111"/>
                </a:solidFill>
                <a:latin typeface="Arial"/>
                <a:ea typeface="Arial"/>
                <a:cs typeface="Arial"/>
              </a:defRPr>
            </a:pPr>
            <a:r>
              <a:rPr sz="1650" b="0">
                <a:solidFill>
                  <a:srgbClr val="111111"/>
                </a:solidFill>
                <a:latin typeface="Arial"/>
                <a:ea typeface="Arial"/>
                <a:cs typeface="Arial"/>
              </a:rPr>
              <a:t>ادعای جدید را فعال، ادعای متعارض قبلی را غیرفعال و پیوند تبار را ثبت می‌کند.</a:t>
            </a:r>
          </a:p>
        </p:txBody>
      </p:sp>
      <p:sp>
        <p:nvSpPr>
          <p:cNvPr id="10" name="">
            <a:extLst xmlns:a="http://schemas.openxmlformats.org/drawingml/2006/main">
              <a:ext uri="{FF2B5EF4-FFF2-40B4-BE49-F238E27FC236}">
                <a16:creationId xmlns:a16="http://schemas.microsoft.com/office/drawing/2014/main" id="{5BEC1F1C-BE56-47EA-90C8-61D55D796FCC}"/>
              </a:ext>
            </a:extLst>
          </p:cNvPr>
          <p:cNvSpPr>
            <a:spLocks xmlns:a="http://schemas.openxmlformats.org/drawingml/2006/main" noGrp="1"/>
          </p:cNvSpPr>
          <p:nvPr/>
        </p:nvSpPr>
        <p:spPr>
          <a:xfrm xmlns:a="http://schemas.openxmlformats.org/drawingml/2006/main">
            <a:off x="8134350" y="2190750"/>
            <a:ext cx="3562350" cy="3333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A360E81-CE5A-49B6-9B50-F92E43AA1441}"/>
              </a:ext>
            </a:extLst>
          </p:cNvPr>
          <p:cNvSpPr>
            <a:spLocks xmlns:a="http://schemas.openxmlformats.org/drawingml/2006/main" noGrp="1"/>
          </p:cNvSpPr>
          <p:nvPr/>
        </p:nvSpPr>
        <p:spPr>
          <a:xfrm xmlns:a="http://schemas.openxmlformats.org/drawingml/2006/main">
            <a:off x="8401050" y="2571750"/>
            <a:ext cx="3028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2175" b="1">
                <a:solidFill>
                  <a:srgbClr val="111111"/>
                </a:solidFill>
                <a:latin typeface="Arial"/>
                <a:ea typeface="Arial"/>
                <a:cs typeface="Arial"/>
              </a:defRPr>
            </a:pPr>
            <a:r>
              <a:rPr sz="2175" b="1">
                <a:solidFill>
                  <a:srgbClr val="111111"/>
                </a:solidFill>
                <a:latin typeface="Arial"/>
                <a:ea typeface="Arial"/>
                <a:cs typeface="Arial"/>
              </a:rPr>
              <a:t>نگه‌داری KEEP</a:t>
            </a:r>
          </a:p>
        </p:txBody>
      </p:sp>
      <p:sp>
        <p:nvSpPr>
          <p:cNvPr id="12" name="">
            <a:extLst xmlns:a="http://schemas.openxmlformats.org/drawingml/2006/main">
              <a:ext uri="{FF2B5EF4-FFF2-40B4-BE49-F238E27FC236}">
                <a16:creationId xmlns:a16="http://schemas.microsoft.com/office/drawing/2014/main" id="{528CE983-6E59-43F4-A030-96E222CFB4D4}"/>
              </a:ext>
            </a:extLst>
          </p:cNvPr>
          <p:cNvSpPr>
            <a:spLocks xmlns:a="http://schemas.openxmlformats.org/drawingml/2006/main" noGrp="1"/>
          </p:cNvSpPr>
          <p:nvPr/>
        </p:nvSpPr>
        <p:spPr>
          <a:xfrm xmlns:a="http://schemas.openxmlformats.org/drawingml/2006/main">
            <a:off x="8401050" y="3333750"/>
            <a:ext cx="302895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650" b="0">
                <a:solidFill>
                  <a:srgbClr val="111111"/>
                </a:solidFill>
                <a:latin typeface="Arial"/>
                <a:ea typeface="Arial"/>
                <a:cs typeface="Arial"/>
              </a:defRPr>
            </a:pPr>
            <a:r>
              <a:rPr sz="1650" b="0">
                <a:solidFill>
                  <a:srgbClr val="111111"/>
                </a:solidFill>
                <a:latin typeface="Arial"/>
                <a:ea typeface="Arial"/>
                <a:cs typeface="Arial"/>
              </a:rPr>
              <a:t>ادعای سازگار را فعال ثبت می‌کند و رکوردهای بدون تعارض را فعال نگه می‌دارد.</a:t>
            </a:r>
          </a:p>
        </p:txBody>
      </p:sp>
      <p:sp>
        <p:nvSpPr>
          <p:cNvPr id="13" name="">
            <a:extLst xmlns:a="http://schemas.openxmlformats.org/drawingml/2006/main">
              <a:ext uri="{FF2B5EF4-FFF2-40B4-BE49-F238E27FC236}">
                <a16:creationId xmlns:a16="http://schemas.microsoft.com/office/drawing/2014/main" id="{8E3F31F7-1D4C-4094-BBB3-418044EB8D11}"/>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فصل‌های ۳ و ۴ پایان‌نامه؛ src/ksa/memory/operations.py</a:t>
            </a:r>
          </a:p>
        </p:txBody>
      </p:sp>
    </p:spTree>
    <p:extLst>
      <p:ext uri="{BB962C8B-B14F-4D97-AF65-F5344CB8AC3E}">
        <p14:creationId xmlns:p14="http://schemas.microsoft.com/office/powerpoint/2010/main" val="9436419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FF779A8-691C-4730-8BEA-2CC97EA1FE21}"/>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KSA پیشنهاد مدل را درون یک مرز حاکمیت قطعی قرار می‌دهد</a:t>
            </a:r>
          </a:p>
        </p:txBody>
      </p:sp>
      <p:sp>
        <p:nvSpPr>
          <p:cNvPr id="2" name="">
            <a:extLst xmlns:a="http://schemas.openxmlformats.org/drawingml/2006/main">
              <a:ext uri="{FF2B5EF4-FFF2-40B4-BE49-F238E27FC236}">
                <a16:creationId xmlns:a16="http://schemas.microsoft.com/office/drawing/2014/main" id="{550F6481-FE89-42E6-8212-83844ACA1851}"/>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53B24AD3-6BC5-4303-8559-F53C85591C6A}"/>
              </a:ext>
            </a:extLst>
          </p:cNvPr>
          <p:cNvSpPr>
            <a:spLocks xmlns:a="http://schemas.openxmlformats.org/drawingml/2006/main" noGrp="1"/>
          </p:cNvSpPr>
          <p:nvPr/>
        </p:nvSpPr>
        <p:spPr>
          <a:xfrm xmlns:a="http://schemas.openxmlformats.org/drawingml/2006/main">
            <a:off x="495300" y="2457450"/>
            <a:ext cx="1524000" cy="9144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5828150-3775-45D1-AD8A-DF469FD3A099}"/>
              </a:ext>
            </a:extLst>
          </p:cNvPr>
          <p:cNvSpPr>
            <a:spLocks xmlns:a="http://schemas.openxmlformats.org/drawingml/2006/main" noGrp="1"/>
          </p:cNvSpPr>
          <p:nvPr/>
        </p:nvSpPr>
        <p:spPr>
          <a:xfrm xmlns:a="http://schemas.openxmlformats.org/drawingml/2006/main">
            <a:off x="590550" y="2628900"/>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111"/>
                </a:solidFill>
                <a:latin typeface="Arial"/>
                <a:ea typeface="Arial"/>
                <a:cs typeface="Arial"/>
              </a:defRPr>
            </a:pPr>
            <a:r>
              <a:rPr sz="1575" b="1">
                <a:solidFill>
                  <a:srgbClr val="111111"/>
                </a:solidFill>
                <a:latin typeface="Arial"/>
                <a:ea typeface="Arial"/>
                <a:cs typeface="Arial"/>
              </a:rPr>
              <a:t>بازیابی / پاسخ</a:t>
            </a:r>
          </a:p>
        </p:txBody>
      </p:sp>
      <p:sp>
        <p:nvSpPr>
          <p:cNvPr id="5" name="">
            <a:extLst xmlns:a="http://schemas.openxmlformats.org/drawingml/2006/main">
              <a:ext uri="{FF2B5EF4-FFF2-40B4-BE49-F238E27FC236}">
                <a16:creationId xmlns:a16="http://schemas.microsoft.com/office/drawing/2014/main" id="{AAD38DBC-1872-4C3E-B1DA-63B9CF1CB130}"/>
              </a:ext>
            </a:extLst>
          </p:cNvPr>
          <p:cNvSpPr>
            <a:spLocks xmlns:a="http://schemas.openxmlformats.org/drawingml/2006/main" noGrp="1"/>
          </p:cNvSpPr>
          <p:nvPr/>
        </p:nvSpPr>
        <p:spPr>
          <a:xfrm xmlns:a="http://schemas.openxmlformats.org/drawingml/2006/main">
            <a:off x="2057400" y="2705100"/>
            <a:ext cx="28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b="1">
                <a:solidFill>
                  <a:srgbClr val="5F6368"/>
                </a:solidFill>
                <a:latin typeface="Arial"/>
                <a:ea typeface="Arial"/>
                <a:cs typeface="Arial"/>
              </a:defRPr>
            </a:pPr>
            <a:r>
              <a:rPr sz="2250" b="1">
                <a:solidFill>
                  <a:srgbClr val="5F6368"/>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EAFF1B33-4215-4199-A818-E07B4FFC61D3}"/>
              </a:ext>
            </a:extLst>
          </p:cNvPr>
          <p:cNvSpPr>
            <a:spLocks xmlns:a="http://schemas.openxmlformats.org/drawingml/2006/main" noGrp="1"/>
          </p:cNvSpPr>
          <p:nvPr/>
        </p:nvSpPr>
        <p:spPr>
          <a:xfrm xmlns:a="http://schemas.openxmlformats.org/drawingml/2006/main">
            <a:off x="2371725" y="2457450"/>
            <a:ext cx="1524000" cy="9144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8C11260-9731-49F2-8777-4CC7593627F1}"/>
              </a:ext>
            </a:extLst>
          </p:cNvPr>
          <p:cNvSpPr>
            <a:spLocks xmlns:a="http://schemas.openxmlformats.org/drawingml/2006/main" noGrp="1"/>
          </p:cNvSpPr>
          <p:nvPr/>
        </p:nvSpPr>
        <p:spPr>
          <a:xfrm xmlns:a="http://schemas.openxmlformats.org/drawingml/2006/main">
            <a:off x="2466975" y="2628900"/>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111"/>
                </a:solidFill>
                <a:latin typeface="Arial"/>
                <a:ea typeface="Arial"/>
                <a:cs typeface="Arial"/>
              </a:defRPr>
            </a:pPr>
            <a:r>
              <a:rPr sz="1575" b="1">
                <a:solidFill>
                  <a:srgbClr val="111111"/>
                </a:solidFill>
                <a:latin typeface="Arial"/>
                <a:ea typeface="Arial"/>
                <a:cs typeface="Arial"/>
              </a:rPr>
              <a:t>اجرای گذار</a:t>
            </a:r>
          </a:p>
        </p:txBody>
      </p:sp>
      <p:sp>
        <p:nvSpPr>
          <p:cNvPr id="8" name="">
            <a:extLst xmlns:a="http://schemas.openxmlformats.org/drawingml/2006/main">
              <a:ext uri="{FF2B5EF4-FFF2-40B4-BE49-F238E27FC236}">
                <a16:creationId xmlns:a16="http://schemas.microsoft.com/office/drawing/2014/main" id="{EAC4FAF5-D814-4CC5-BF8B-0D9F2083EEB0}"/>
              </a:ext>
            </a:extLst>
          </p:cNvPr>
          <p:cNvSpPr>
            <a:spLocks xmlns:a="http://schemas.openxmlformats.org/drawingml/2006/main" noGrp="1"/>
          </p:cNvSpPr>
          <p:nvPr/>
        </p:nvSpPr>
        <p:spPr>
          <a:xfrm xmlns:a="http://schemas.openxmlformats.org/drawingml/2006/main">
            <a:off x="3933825" y="2705100"/>
            <a:ext cx="28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b="1">
                <a:solidFill>
                  <a:srgbClr val="5F6368"/>
                </a:solidFill>
                <a:latin typeface="Arial"/>
                <a:ea typeface="Arial"/>
                <a:cs typeface="Arial"/>
              </a:defRPr>
            </a:pPr>
            <a:r>
              <a:rPr sz="2250" b="1">
                <a:solidFill>
                  <a:srgbClr val="5F6368"/>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22B23B11-720A-4554-B296-3E579FC75C38}"/>
              </a:ext>
            </a:extLst>
          </p:cNvPr>
          <p:cNvSpPr>
            <a:spLocks xmlns:a="http://schemas.openxmlformats.org/drawingml/2006/main" noGrp="1"/>
          </p:cNvSpPr>
          <p:nvPr/>
        </p:nvSpPr>
        <p:spPr>
          <a:xfrm xmlns:a="http://schemas.openxmlformats.org/drawingml/2006/main">
            <a:off x="4248150" y="2457450"/>
            <a:ext cx="1524000" cy="914400"/>
          </a:xfrm>
          <a:prstGeom xmlns:a="http://schemas.openxmlformats.org/drawingml/2006/main" prst="rect">
            <a:avLst/>
          </a:prstGeom>
          <a:solidFill xmlns:a="http://schemas.openxmlformats.org/drawingml/2006/main">
            <a:srgbClr val="D0EDFA"/>
          </a:solidFill>
          <a:ln xmlns:a="http://schemas.openxmlformats.org/drawingml/2006/main" w="9525">
            <a:solidFill>
              <a:srgbClr val="3D8DFF"/>
            </a:solidFill>
            <a:prstDash val="solid"/>
          </a:ln>
        </p:spPr>
      </p:sp>
      <p:sp>
        <p:nvSpPr>
          <p:cNvPr id="10" name="">
            <a:extLst xmlns:a="http://schemas.openxmlformats.org/drawingml/2006/main">
              <a:ext uri="{FF2B5EF4-FFF2-40B4-BE49-F238E27FC236}">
                <a16:creationId xmlns:a16="http://schemas.microsoft.com/office/drawing/2014/main" id="{6ADD4181-FC08-4B05-9CCF-0C2EB72B47B7}"/>
              </a:ext>
            </a:extLst>
          </p:cNvPr>
          <p:cNvSpPr>
            <a:spLocks xmlns:a="http://schemas.openxmlformats.org/drawingml/2006/main" noGrp="1"/>
          </p:cNvSpPr>
          <p:nvPr/>
        </p:nvSpPr>
        <p:spPr>
          <a:xfrm xmlns:a="http://schemas.openxmlformats.org/drawingml/2006/main">
            <a:off x="4343400" y="2628900"/>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111"/>
                </a:solidFill>
                <a:latin typeface="Arial"/>
                <a:ea typeface="Arial"/>
                <a:cs typeface="Arial"/>
              </a:defRPr>
            </a:pPr>
            <a:r>
              <a:rPr sz="1575" b="1">
                <a:solidFill>
                  <a:srgbClr val="111111"/>
                </a:solidFill>
                <a:latin typeface="Arial"/>
                <a:ea typeface="Arial"/>
                <a:cs typeface="Arial"/>
              </a:rPr>
              <a:t>تصمیم</a:t>
            </a:r>
          </a:p>
        </p:txBody>
      </p:sp>
      <p:sp>
        <p:nvSpPr>
          <p:cNvPr id="11" name="">
            <a:extLst xmlns:a="http://schemas.openxmlformats.org/drawingml/2006/main">
              <a:ext uri="{FF2B5EF4-FFF2-40B4-BE49-F238E27FC236}">
                <a16:creationId xmlns:a16="http://schemas.microsoft.com/office/drawing/2014/main" id="{D3B884C7-2FB5-4C40-BC74-C97BE88ABDBF}"/>
              </a:ext>
            </a:extLst>
          </p:cNvPr>
          <p:cNvSpPr>
            <a:spLocks xmlns:a="http://schemas.openxmlformats.org/drawingml/2006/main" noGrp="1"/>
          </p:cNvSpPr>
          <p:nvPr/>
        </p:nvSpPr>
        <p:spPr>
          <a:xfrm xmlns:a="http://schemas.openxmlformats.org/drawingml/2006/main">
            <a:off x="5810250" y="2705100"/>
            <a:ext cx="28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b="1">
                <a:solidFill>
                  <a:srgbClr val="5F6368"/>
                </a:solidFill>
                <a:latin typeface="Arial"/>
                <a:ea typeface="Arial"/>
                <a:cs typeface="Arial"/>
              </a:defRPr>
            </a:pPr>
            <a:r>
              <a:rPr sz="2250" b="1">
                <a:solidFill>
                  <a:srgbClr val="5F6368"/>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5C77699B-1C9C-4963-BCE3-A24F011099B9}"/>
              </a:ext>
            </a:extLst>
          </p:cNvPr>
          <p:cNvSpPr>
            <a:spLocks xmlns:a="http://schemas.openxmlformats.org/drawingml/2006/main" noGrp="1"/>
          </p:cNvSpPr>
          <p:nvPr/>
        </p:nvSpPr>
        <p:spPr>
          <a:xfrm xmlns:a="http://schemas.openxmlformats.org/drawingml/2006/main">
            <a:off x="6124575" y="2457450"/>
            <a:ext cx="1524000" cy="9144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F3B1457-0E26-4F2B-8BBC-883D6F876EBC}"/>
              </a:ext>
            </a:extLst>
          </p:cNvPr>
          <p:cNvSpPr>
            <a:spLocks xmlns:a="http://schemas.openxmlformats.org/drawingml/2006/main" noGrp="1"/>
          </p:cNvSpPr>
          <p:nvPr/>
        </p:nvSpPr>
        <p:spPr>
          <a:xfrm xmlns:a="http://schemas.openxmlformats.org/drawingml/2006/main">
            <a:off x="6219825" y="2628900"/>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111"/>
                </a:solidFill>
                <a:latin typeface="Arial"/>
                <a:ea typeface="Arial"/>
                <a:cs typeface="Arial"/>
              </a:defRPr>
            </a:pPr>
            <a:r>
              <a:rPr sz="1575" b="1">
                <a:solidFill>
                  <a:srgbClr val="111111"/>
                </a:solidFill>
                <a:latin typeface="Arial"/>
                <a:ea typeface="Arial"/>
                <a:cs typeface="Arial"/>
              </a:rPr>
              <a:t>یافتن رکورد قبلی</a:t>
            </a:r>
          </a:p>
        </p:txBody>
      </p:sp>
      <p:sp>
        <p:nvSpPr>
          <p:cNvPr id="14" name="">
            <a:extLst xmlns:a="http://schemas.openxmlformats.org/drawingml/2006/main">
              <a:ext uri="{FF2B5EF4-FFF2-40B4-BE49-F238E27FC236}">
                <a16:creationId xmlns:a16="http://schemas.microsoft.com/office/drawing/2014/main" id="{AC5D435D-DA0C-4A77-923C-550F15EEE965}"/>
              </a:ext>
            </a:extLst>
          </p:cNvPr>
          <p:cNvSpPr>
            <a:spLocks xmlns:a="http://schemas.openxmlformats.org/drawingml/2006/main" noGrp="1"/>
          </p:cNvSpPr>
          <p:nvPr/>
        </p:nvSpPr>
        <p:spPr>
          <a:xfrm xmlns:a="http://schemas.openxmlformats.org/drawingml/2006/main">
            <a:off x="7686675" y="2705100"/>
            <a:ext cx="28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b="1">
                <a:solidFill>
                  <a:srgbClr val="5F6368"/>
                </a:solidFill>
                <a:latin typeface="Arial"/>
                <a:ea typeface="Arial"/>
                <a:cs typeface="Arial"/>
              </a:defRPr>
            </a:pPr>
            <a:r>
              <a:rPr sz="2250" b="1">
                <a:solidFill>
                  <a:srgbClr val="5F6368"/>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6ECF9DEC-F99C-4DD4-A7FE-E823EB240F6B}"/>
              </a:ext>
            </a:extLst>
          </p:cNvPr>
          <p:cNvSpPr>
            <a:spLocks xmlns:a="http://schemas.openxmlformats.org/drawingml/2006/main" noGrp="1"/>
          </p:cNvSpPr>
          <p:nvPr/>
        </p:nvSpPr>
        <p:spPr>
          <a:xfrm xmlns:a="http://schemas.openxmlformats.org/drawingml/2006/main">
            <a:off x="8001000" y="2457450"/>
            <a:ext cx="1524000" cy="9144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B615A52-2043-4A22-B9CC-1F86561F4DB3}"/>
              </a:ext>
            </a:extLst>
          </p:cNvPr>
          <p:cNvSpPr>
            <a:spLocks xmlns:a="http://schemas.openxmlformats.org/drawingml/2006/main" noGrp="1"/>
          </p:cNvSpPr>
          <p:nvPr/>
        </p:nvSpPr>
        <p:spPr>
          <a:xfrm xmlns:a="http://schemas.openxmlformats.org/drawingml/2006/main">
            <a:off x="8096250" y="2628900"/>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111"/>
                </a:solidFill>
                <a:latin typeface="Arial"/>
                <a:ea typeface="Arial"/>
                <a:cs typeface="Arial"/>
              </a:defRPr>
            </a:pPr>
            <a:r>
              <a:rPr sz="1575" b="1">
                <a:solidFill>
                  <a:srgbClr val="111111"/>
                </a:solidFill>
                <a:latin typeface="Arial"/>
                <a:ea typeface="Arial"/>
                <a:cs typeface="Arial"/>
              </a:rPr>
              <a:t>استخراج</a:t>
            </a:r>
          </a:p>
        </p:txBody>
      </p:sp>
      <p:sp>
        <p:nvSpPr>
          <p:cNvPr id="17" name="">
            <a:extLst xmlns:a="http://schemas.openxmlformats.org/drawingml/2006/main">
              <a:ext uri="{FF2B5EF4-FFF2-40B4-BE49-F238E27FC236}">
                <a16:creationId xmlns:a16="http://schemas.microsoft.com/office/drawing/2014/main" id="{FE9BA908-6914-4F70-AC87-07974A3A4CE4}"/>
              </a:ext>
            </a:extLst>
          </p:cNvPr>
          <p:cNvSpPr>
            <a:spLocks xmlns:a="http://schemas.openxmlformats.org/drawingml/2006/main" noGrp="1"/>
          </p:cNvSpPr>
          <p:nvPr/>
        </p:nvSpPr>
        <p:spPr>
          <a:xfrm xmlns:a="http://schemas.openxmlformats.org/drawingml/2006/main">
            <a:off x="9563100" y="2705100"/>
            <a:ext cx="28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b="1">
                <a:solidFill>
                  <a:srgbClr val="5F6368"/>
                </a:solidFill>
                <a:latin typeface="Arial"/>
                <a:ea typeface="Arial"/>
                <a:cs typeface="Arial"/>
              </a:defRPr>
            </a:pPr>
            <a:r>
              <a:rPr sz="2250" b="1">
                <a:solidFill>
                  <a:srgbClr val="5F6368"/>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19F811BF-23A8-49BA-AE8D-D2B181B2FDD1}"/>
              </a:ext>
            </a:extLst>
          </p:cNvPr>
          <p:cNvSpPr>
            <a:spLocks xmlns:a="http://schemas.openxmlformats.org/drawingml/2006/main" noGrp="1"/>
          </p:cNvSpPr>
          <p:nvPr/>
        </p:nvSpPr>
        <p:spPr>
          <a:xfrm xmlns:a="http://schemas.openxmlformats.org/drawingml/2006/main">
            <a:off x="9877425" y="2457450"/>
            <a:ext cx="1524000" cy="9144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1624558-45C5-4083-9510-092D75E67357}"/>
              </a:ext>
            </a:extLst>
          </p:cNvPr>
          <p:cNvSpPr>
            <a:spLocks xmlns:a="http://schemas.openxmlformats.org/drawingml/2006/main" noGrp="1"/>
          </p:cNvSpPr>
          <p:nvPr/>
        </p:nvSpPr>
        <p:spPr>
          <a:xfrm xmlns:a="http://schemas.openxmlformats.org/drawingml/2006/main">
            <a:off x="9972675" y="2628900"/>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111"/>
                </a:solidFill>
                <a:latin typeface="Arial"/>
                <a:ea typeface="Arial"/>
                <a:cs typeface="Arial"/>
              </a:defRPr>
            </a:pPr>
            <a:r>
              <a:rPr sz="1575" b="1">
                <a:solidFill>
                  <a:srgbClr val="111111"/>
                </a:solidFill>
                <a:latin typeface="Arial"/>
                <a:ea typeface="Arial"/>
                <a:cs typeface="Arial"/>
              </a:rPr>
              <a:t>نرمال‌سازی</a:t>
            </a:r>
          </a:p>
        </p:txBody>
      </p:sp>
      <p:sp>
        <p:nvSpPr>
          <p:cNvPr id="20" name="">
            <a:extLst xmlns:a="http://schemas.openxmlformats.org/drawingml/2006/main">
              <a:ext uri="{FF2B5EF4-FFF2-40B4-BE49-F238E27FC236}">
                <a16:creationId xmlns:a16="http://schemas.microsoft.com/office/drawing/2014/main" id="{934E4349-9804-4236-B9EB-E77DE905D366}"/>
              </a:ext>
            </a:extLst>
          </p:cNvPr>
          <p:cNvSpPr>
            <a:spLocks xmlns:a="http://schemas.openxmlformats.org/drawingml/2006/main" noGrp="1"/>
          </p:cNvSpPr>
          <p:nvPr/>
        </p:nvSpPr>
        <p:spPr>
          <a:xfrm xmlns:a="http://schemas.openxmlformats.org/drawingml/2006/main">
            <a:off x="2381250" y="4095750"/>
            <a:ext cx="7429500" cy="11049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E4DB99D-103E-44AD-BC4A-E347DDDF290F}"/>
              </a:ext>
            </a:extLst>
          </p:cNvPr>
          <p:cNvSpPr>
            <a:spLocks xmlns:a="http://schemas.openxmlformats.org/drawingml/2006/main" noGrp="1"/>
          </p:cNvSpPr>
          <p:nvPr/>
        </p:nvSpPr>
        <p:spPr>
          <a:xfrm xmlns:a="http://schemas.openxmlformats.org/drawingml/2006/main">
            <a:off x="2686050" y="4343400"/>
            <a:ext cx="6819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00" b="1">
                <a:solidFill>
                  <a:srgbClr val="111111"/>
                </a:solidFill>
                <a:latin typeface="Arial"/>
                <a:ea typeface="Arial"/>
                <a:cs typeface="Arial"/>
              </a:defRPr>
            </a:pPr>
            <a:r>
              <a:rPr sz="1800" b="1">
                <a:solidFill>
                  <a:srgbClr val="111111"/>
                </a:solidFill>
                <a:latin typeface="Arial"/>
                <a:ea typeface="Arial"/>
                <a:cs typeface="Arial"/>
              </a:rPr>
              <a:t>شواهد نوع‌دار + رابطه‌ها ← سیاست ثابت ← گذار اتمی و قابل‌ممیزی</a:t>
            </a:r>
          </a:p>
        </p:txBody>
      </p:sp>
      <p:sp>
        <p:nvSpPr>
          <p:cNvPr id="22" name="">
            <a:extLst xmlns:a="http://schemas.openxmlformats.org/drawingml/2006/main">
              <a:ext uri="{FF2B5EF4-FFF2-40B4-BE49-F238E27FC236}">
                <a16:creationId xmlns:a16="http://schemas.microsoft.com/office/drawing/2014/main" id="{402AA84C-0D89-487D-817D-5EB7ED00EFC7}"/>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src/ksa/pipeline/orchestrator.py و شکل معماری مخزن</a:t>
            </a:r>
          </a:p>
        </p:txBody>
      </p:sp>
    </p:spTree>
    <p:extLst>
      <p:ext uri="{BB962C8B-B14F-4D97-AF65-F5344CB8AC3E}">
        <p14:creationId xmlns:p14="http://schemas.microsoft.com/office/powerpoint/2010/main" val="13077405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567BBA1-B41B-4A77-A2B3-5FA97A3976BA}"/>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کنترل‌گر تفسیرپذیر دو امتیاز و یک قاعدهٔ ترتیبی دارد</a:t>
            </a:r>
          </a:p>
        </p:txBody>
      </p:sp>
      <p:sp>
        <p:nvSpPr>
          <p:cNvPr id="2" name="">
            <a:extLst xmlns:a="http://schemas.openxmlformats.org/drawingml/2006/main">
              <a:ext uri="{FF2B5EF4-FFF2-40B4-BE49-F238E27FC236}">
                <a16:creationId xmlns:a16="http://schemas.microsoft.com/office/drawing/2014/main" id="{10B397E2-0715-4B05-A3C7-FB135164E52B}"/>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BFAA2364-188B-4039-AE62-2B386DDBAB71}"/>
              </a:ext>
            </a:extLst>
          </p:cNvPr>
          <p:cNvSpPr>
            <a:spLocks xmlns:a="http://schemas.openxmlformats.org/drawingml/2006/main" noGrp="1"/>
          </p:cNvSpPr>
          <p:nvPr/>
        </p:nvSpPr>
        <p:spPr>
          <a:xfrm xmlns:a="http://schemas.openxmlformats.org/drawingml/2006/main">
            <a:off x="495300" y="1619250"/>
            <a:ext cx="7239000" cy="35623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21A07FF8-7210-418F-B901-474480F6C9ED}"/>
              </a:ext>
            </a:extLst>
          </p:cNvPr>
          <p:cNvSpPr>
            <a:spLocks xmlns:a="http://schemas.openxmlformats.org/drawingml/2006/main" noGrp="1"/>
          </p:cNvSpPr>
          <p:nvPr/>
        </p:nvSpPr>
        <p:spPr>
          <a:xfrm xmlns:a="http://schemas.openxmlformats.org/drawingml/2006/main">
            <a:off x="781050" y="2009775"/>
            <a:ext cx="66675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0">
                <a:solidFill>
                  <a:srgbClr val="111111"/>
                </a:solidFill>
                <a:latin typeface="Arial"/>
                <a:ea typeface="Arial"/>
                <a:cs typeface="Arial"/>
              </a:defRPr>
            </a:pPr>
            <a:r>
              <a:rPr sz="2025" b="0">
                <a:solidFill>
                  <a:srgbClr val="111111"/>
                </a:solidFill>
                <a:latin typeface="Arial"/>
                <a:ea typeface="Arial"/>
                <a:cs typeface="Arial"/>
              </a:rPr>
              <a:t>if S_abs &gt; θ_abs(τ):</a:t>
            </a:r>
          </a:p>
          <a:p xmlns:a="http://schemas.openxmlformats.org/drawingml/2006/main">
            <a:pPr algn="l">
              <a:defRPr sz="2025" b="0">
                <a:solidFill>
                  <a:srgbClr val="111111"/>
                </a:solidFill>
                <a:latin typeface="Arial"/>
                <a:ea typeface="Arial"/>
                <a:cs typeface="Arial"/>
              </a:defRPr>
            </a:pPr>
            <a:r>
              <a:rPr sz="2025" b="0">
                <a:solidFill>
                  <a:srgbClr val="111111"/>
                </a:solidFill>
                <a:latin typeface="Arial"/>
                <a:ea typeface="Arial"/>
                <a:cs typeface="Arial"/>
              </a:rPr>
              <a:t>    ABSTAIN</a:t>
            </a:r>
          </a:p>
          <a:p xmlns:a="http://schemas.openxmlformats.org/drawingml/2006/main">
            <a:pPr algn="l">
              <a:defRPr sz="2025" b="0">
                <a:solidFill>
                  <a:srgbClr val="111111"/>
                </a:solidFill>
                <a:latin typeface="Arial"/>
                <a:ea typeface="Arial"/>
                <a:cs typeface="Arial"/>
              </a:defRPr>
            </a:pPr>
            <a:r>
              <a:rPr sz="2025" b="0">
                <a:solidFill>
                  <a:srgbClr val="111111"/>
                </a:solidFill>
                <a:latin typeface="Arial"/>
                <a:ea typeface="Arial"/>
                <a:cs typeface="Arial"/>
              </a:rPr>
              <a:t>elif S_sup &gt; θ_sup(τ) and max(0, −r) &gt; 0:</a:t>
            </a:r>
          </a:p>
          <a:p xmlns:a="http://schemas.openxmlformats.org/drawingml/2006/main">
            <a:pPr algn="l">
              <a:defRPr sz="2025" b="0">
                <a:solidFill>
                  <a:srgbClr val="111111"/>
                </a:solidFill>
                <a:latin typeface="Arial"/>
                <a:ea typeface="Arial"/>
                <a:cs typeface="Arial"/>
              </a:defRPr>
            </a:pPr>
            <a:r>
              <a:rPr sz="2025" b="0">
                <a:solidFill>
                  <a:srgbClr val="111111"/>
                </a:solidFill>
                <a:latin typeface="Arial"/>
                <a:ea typeface="Arial"/>
                <a:cs typeface="Arial"/>
              </a:rPr>
              <a:t>    SUPERSEDE</a:t>
            </a:r>
          </a:p>
          <a:p xmlns:a="http://schemas.openxmlformats.org/drawingml/2006/main">
            <a:pPr algn="l">
              <a:defRPr sz="2025" b="0">
                <a:solidFill>
                  <a:srgbClr val="111111"/>
                </a:solidFill>
                <a:latin typeface="Arial"/>
                <a:ea typeface="Arial"/>
                <a:cs typeface="Arial"/>
              </a:defRPr>
            </a:pPr>
            <a:r>
              <a:rPr sz="2025" b="0">
                <a:solidFill>
                  <a:srgbClr val="111111"/>
                </a:solidFill>
                <a:latin typeface="Arial"/>
                <a:ea typeface="Arial"/>
                <a:cs typeface="Arial"/>
              </a:rPr>
              <a:t>else:</a:t>
            </a:r>
          </a:p>
          <a:p xmlns:a="http://schemas.openxmlformats.org/drawingml/2006/main">
            <a:pPr algn="l">
              <a:defRPr sz="2025" b="0">
                <a:solidFill>
                  <a:srgbClr val="111111"/>
                </a:solidFill>
                <a:latin typeface="Arial"/>
                <a:ea typeface="Arial"/>
                <a:cs typeface="Arial"/>
              </a:defRPr>
            </a:pPr>
            <a:r>
              <a:rPr sz="2025" b="0">
                <a:solidFill>
                  <a:srgbClr val="111111"/>
                </a:solidFill>
                <a:latin typeface="Arial"/>
                <a:ea typeface="Arial"/>
                <a:cs typeface="Arial"/>
              </a:rPr>
              <a:t>    KEEP</a:t>
            </a:r>
          </a:p>
        </p:txBody>
      </p:sp>
      <p:sp>
        <p:nvSpPr>
          <p:cNvPr id="5" name="">
            <a:extLst xmlns:a="http://schemas.openxmlformats.org/drawingml/2006/main">
              <a:ext uri="{FF2B5EF4-FFF2-40B4-BE49-F238E27FC236}">
                <a16:creationId xmlns:a16="http://schemas.microsoft.com/office/drawing/2014/main" id="{DC177B26-D1EB-4931-9A72-2547744FF03F}"/>
              </a:ext>
            </a:extLst>
          </p:cNvPr>
          <p:cNvSpPr>
            <a:spLocks xmlns:a="http://schemas.openxmlformats.org/drawingml/2006/main" noGrp="1"/>
          </p:cNvSpPr>
          <p:nvPr/>
        </p:nvSpPr>
        <p:spPr>
          <a:xfrm xmlns:a="http://schemas.openxmlformats.org/drawingml/2006/main">
            <a:off x="8096250" y="1619250"/>
            <a:ext cx="3600450" cy="15811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38F860E-AAFF-4F47-989E-54EDFBD873FD}"/>
              </a:ext>
            </a:extLst>
          </p:cNvPr>
          <p:cNvSpPr>
            <a:spLocks xmlns:a="http://schemas.openxmlformats.org/drawingml/2006/main" noGrp="1"/>
          </p:cNvSpPr>
          <p:nvPr/>
        </p:nvSpPr>
        <p:spPr>
          <a:xfrm xmlns:a="http://schemas.openxmlformats.org/drawingml/2006/main">
            <a:off x="8362950" y="188595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111111"/>
                </a:solidFill>
                <a:latin typeface="Arial"/>
                <a:ea typeface="Arial"/>
                <a:cs typeface="Arial"/>
              </a:defRPr>
            </a:pPr>
            <a:r>
              <a:rPr sz="1800" b="1">
                <a:solidFill>
                  <a:srgbClr val="111111"/>
                </a:solidFill>
                <a:latin typeface="Arial"/>
                <a:ea typeface="Arial"/>
                <a:cs typeface="Arial"/>
              </a:rPr>
              <a:t>پنج ویژگی خوانا</a:t>
            </a:r>
          </a:p>
        </p:txBody>
      </p:sp>
      <p:sp>
        <p:nvSpPr>
          <p:cNvPr id="7" name="">
            <a:extLst xmlns:a="http://schemas.openxmlformats.org/drawingml/2006/main">
              <a:ext uri="{FF2B5EF4-FFF2-40B4-BE49-F238E27FC236}">
                <a16:creationId xmlns:a16="http://schemas.microsoft.com/office/drawing/2014/main" id="{834255AF-33E8-48EB-B557-D7B0FA5038D4}"/>
              </a:ext>
            </a:extLst>
          </p:cNvPr>
          <p:cNvSpPr>
            <a:spLocks xmlns:a="http://schemas.openxmlformats.org/drawingml/2006/main" noGrp="1"/>
          </p:cNvSpPr>
          <p:nvPr/>
        </p:nvSpPr>
        <p:spPr>
          <a:xfrm xmlns:a="http://schemas.openxmlformats.org/drawingml/2006/main">
            <a:off x="8362950" y="2381250"/>
            <a:ext cx="3067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00" b="0">
                <a:solidFill>
                  <a:srgbClr val="111111"/>
                </a:solidFill>
                <a:latin typeface="Arial"/>
                <a:ea typeface="Arial"/>
                <a:cs typeface="Arial"/>
              </a:defRPr>
            </a:pPr>
            <a:r>
              <a:rPr sz="1500" b="0">
                <a:solidFill>
                  <a:srgbClr val="111111"/>
                </a:solidFill>
                <a:latin typeface="Arial"/>
                <a:ea typeface="Arial"/>
                <a:cs typeface="Arial"/>
              </a:rPr>
              <a:t>رابطه، سازگاری نوع، منشأ، اطمینان و سیگنال تعارض.</a:t>
            </a:r>
          </a:p>
        </p:txBody>
      </p:sp>
      <p:sp>
        <p:nvSpPr>
          <p:cNvPr id="8" name="">
            <a:extLst xmlns:a="http://schemas.openxmlformats.org/drawingml/2006/main">
              <a:ext uri="{FF2B5EF4-FFF2-40B4-BE49-F238E27FC236}">
                <a16:creationId xmlns:a16="http://schemas.microsoft.com/office/drawing/2014/main" id="{0CE94177-3DC0-4463-B299-481EFD5422F9}"/>
              </a:ext>
            </a:extLst>
          </p:cNvPr>
          <p:cNvSpPr>
            <a:spLocks xmlns:a="http://schemas.openxmlformats.org/drawingml/2006/main" noGrp="1"/>
          </p:cNvSpPr>
          <p:nvPr/>
        </p:nvSpPr>
        <p:spPr>
          <a:xfrm xmlns:a="http://schemas.openxmlformats.org/drawingml/2006/main">
            <a:off x="8096250" y="3600450"/>
            <a:ext cx="3600450" cy="15811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145F33C-D293-49A3-88E3-7CA6F2FF3BD2}"/>
              </a:ext>
            </a:extLst>
          </p:cNvPr>
          <p:cNvSpPr>
            <a:spLocks xmlns:a="http://schemas.openxmlformats.org/drawingml/2006/main" noGrp="1"/>
          </p:cNvSpPr>
          <p:nvPr/>
        </p:nvSpPr>
        <p:spPr>
          <a:xfrm xmlns:a="http://schemas.openxmlformats.org/drawingml/2006/main">
            <a:off x="8362950" y="386715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111111"/>
                </a:solidFill>
                <a:latin typeface="Arial"/>
                <a:ea typeface="Arial"/>
                <a:cs typeface="Arial"/>
              </a:defRPr>
            </a:pPr>
            <a:r>
              <a:rPr sz="1800" b="1">
                <a:solidFill>
                  <a:srgbClr val="111111"/>
                </a:solidFill>
                <a:latin typeface="Arial"/>
                <a:ea typeface="Arial"/>
                <a:cs typeface="Arial"/>
              </a:rPr>
              <a:t>شاخهٔ توضیح‌پذیر</a:t>
            </a:r>
          </a:p>
        </p:txBody>
      </p:sp>
      <p:sp>
        <p:nvSpPr>
          <p:cNvPr id="10" name="">
            <a:extLst xmlns:a="http://schemas.openxmlformats.org/drawingml/2006/main">
              <a:ext uri="{FF2B5EF4-FFF2-40B4-BE49-F238E27FC236}">
                <a16:creationId xmlns:a16="http://schemas.microsoft.com/office/drawing/2014/main" id="{24E6D02F-E83E-4CD9-8D6A-AC4AA061A12B}"/>
              </a:ext>
            </a:extLst>
          </p:cNvPr>
          <p:cNvSpPr>
            <a:spLocks xmlns:a="http://schemas.openxmlformats.org/drawingml/2006/main" noGrp="1"/>
          </p:cNvSpPr>
          <p:nvPr/>
        </p:nvSpPr>
        <p:spPr>
          <a:xfrm xmlns:a="http://schemas.openxmlformats.org/drawingml/2006/main">
            <a:off x="8362950" y="4362450"/>
            <a:ext cx="3067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00" b="0">
                <a:solidFill>
                  <a:srgbClr val="111111"/>
                </a:solidFill>
                <a:latin typeface="Arial"/>
                <a:ea typeface="Arial"/>
                <a:cs typeface="Arial"/>
              </a:defRPr>
            </a:pPr>
            <a:r>
              <a:rPr sz="1500" b="0">
                <a:solidFill>
                  <a:srgbClr val="111111"/>
                </a:solidFill>
                <a:latin typeface="Arial"/>
                <a:ea typeface="Arial"/>
                <a:cs typeface="Arial"/>
              </a:rPr>
              <a:t>امتیازها، آستانه‌ها و شاخهٔ انتخاب‌شده ثبت می‌شوند.</a:t>
            </a:r>
          </a:p>
        </p:txBody>
      </p:sp>
      <p:sp>
        <p:nvSpPr>
          <p:cNvPr id="11" name="">
            <a:extLst xmlns:a="http://schemas.openxmlformats.org/drawingml/2006/main">
              <a:ext uri="{FF2B5EF4-FFF2-40B4-BE49-F238E27FC236}">
                <a16:creationId xmlns:a16="http://schemas.microsoft.com/office/drawing/2014/main" id="{E28E5AC3-269D-47D3-9C07-C790EA4EFA04}"/>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src/ksa/controller/policy.py و scoring.py</a:t>
            </a:r>
          </a:p>
        </p:txBody>
      </p:sp>
    </p:spTree>
    <p:extLst>
      <p:ext uri="{BB962C8B-B14F-4D97-AF65-F5344CB8AC3E}">
        <p14:creationId xmlns:p14="http://schemas.microsoft.com/office/powerpoint/2010/main" val="11164235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7C90F08-B58B-4D53-AF3B-6FA9ADF6ABE8}"/>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تبار، بازنگری را قابل‌برگشت و قابل‌ممیزی می‌کند</a:t>
            </a:r>
          </a:p>
        </p:txBody>
      </p:sp>
      <p:sp>
        <p:nvSpPr>
          <p:cNvPr id="2" name="">
            <a:extLst xmlns:a="http://schemas.openxmlformats.org/drawingml/2006/main">
              <a:ext uri="{FF2B5EF4-FFF2-40B4-BE49-F238E27FC236}">
                <a16:creationId xmlns:a16="http://schemas.microsoft.com/office/drawing/2014/main" id="{B9F72197-BF8E-4A0C-BE0F-B7D6882E403A}"/>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2B3B72F7-81E5-4C9F-A201-D08E8552DE95}"/>
              </a:ext>
            </a:extLst>
          </p:cNvPr>
          <p:cNvSpPr>
            <a:spLocks xmlns:a="http://schemas.openxmlformats.org/drawingml/2006/main" noGrp="1"/>
          </p:cNvSpPr>
          <p:nvPr/>
        </p:nvSpPr>
        <p:spPr>
          <a:xfrm xmlns:a="http://schemas.openxmlformats.org/drawingml/2006/main">
            <a:off x="762000" y="3086100"/>
            <a:ext cx="1066800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C952ECC-401A-41F1-9DD1-2B00B3293F9F}"/>
              </a:ext>
            </a:extLst>
          </p:cNvPr>
          <p:cNvSpPr>
            <a:spLocks xmlns:a="http://schemas.openxmlformats.org/drawingml/2006/main" noGrp="1"/>
          </p:cNvSpPr>
          <p:nvPr/>
        </p:nvSpPr>
        <p:spPr>
          <a:xfrm xmlns:a="http://schemas.openxmlformats.org/drawingml/2006/main">
            <a:off x="781050" y="3009900"/>
            <a:ext cx="171450" cy="171450"/>
          </a:xfrm>
          <a:prstGeom xmlns:a="http://schemas.openxmlformats.org/drawingml/2006/main" prst="ellipse">
            <a:avLst/>
          </a:prstGeom>
          <a:solidFill xmlns:a="http://schemas.openxmlformats.org/drawingml/2006/main">
            <a:srgbClr val="11111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92EDECE-FAA4-4364-8605-C1D088D98584}"/>
              </a:ext>
            </a:extLst>
          </p:cNvPr>
          <p:cNvSpPr>
            <a:spLocks xmlns:a="http://schemas.openxmlformats.org/drawingml/2006/main" noGrp="1"/>
          </p:cNvSpPr>
          <p:nvPr/>
        </p:nvSpPr>
        <p:spPr>
          <a:xfrm xmlns:a="http://schemas.openxmlformats.org/drawingml/2006/main">
            <a:off x="781050" y="2428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425" b="0">
                <a:solidFill>
                  <a:srgbClr val="5F6368"/>
                </a:solidFill>
                <a:latin typeface="Arial"/>
                <a:ea typeface="Arial"/>
                <a:cs typeface="Arial"/>
              </a:defRPr>
            </a:pPr>
            <a:r>
              <a:rPr sz="1425" b="0">
                <a:solidFill>
                  <a:srgbClr val="5F6368"/>
                </a:solidFill>
                <a:latin typeface="Arial"/>
                <a:ea typeface="Arial"/>
                <a:cs typeface="Arial"/>
              </a:rPr>
              <a:t>t₂</a:t>
            </a:r>
          </a:p>
        </p:txBody>
      </p:sp>
      <p:sp>
        <p:nvSpPr>
          <p:cNvPr id="6" name="">
            <a:extLst xmlns:a="http://schemas.openxmlformats.org/drawingml/2006/main">
              <a:ext uri="{FF2B5EF4-FFF2-40B4-BE49-F238E27FC236}">
                <a16:creationId xmlns:a16="http://schemas.microsoft.com/office/drawing/2014/main" id="{71AA41A6-4A81-492C-A3D0-866BA3075B51}"/>
              </a:ext>
            </a:extLst>
          </p:cNvPr>
          <p:cNvSpPr>
            <a:spLocks xmlns:a="http://schemas.openxmlformats.org/drawingml/2006/main" noGrp="1"/>
          </p:cNvSpPr>
          <p:nvPr/>
        </p:nvSpPr>
        <p:spPr>
          <a:xfrm xmlns:a="http://schemas.openxmlformats.org/drawingml/2006/main">
            <a:off x="781050" y="3581400"/>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75" b="1">
                <a:solidFill>
                  <a:srgbClr val="111111"/>
                </a:solidFill>
                <a:latin typeface="Arial"/>
                <a:ea typeface="Arial"/>
                <a:cs typeface="Arial"/>
              </a:defRPr>
            </a:pPr>
            <a:r>
              <a:rPr sz="1875" b="1">
                <a:solidFill>
                  <a:srgbClr val="111111"/>
                </a:solidFill>
                <a:latin typeface="Arial"/>
                <a:ea typeface="Arial"/>
                <a:cs typeface="Arial"/>
              </a:rPr>
              <a:t>گذار پیوندخورده</a:t>
            </a:r>
          </a:p>
        </p:txBody>
      </p:sp>
      <p:sp>
        <p:nvSpPr>
          <p:cNvPr id="7" name="">
            <a:extLst xmlns:a="http://schemas.openxmlformats.org/drawingml/2006/main">
              <a:ext uri="{FF2B5EF4-FFF2-40B4-BE49-F238E27FC236}">
                <a16:creationId xmlns:a16="http://schemas.microsoft.com/office/drawing/2014/main" id="{8C59F14E-E328-4F08-B0E3-ECC4A65BB978}"/>
              </a:ext>
            </a:extLst>
          </p:cNvPr>
          <p:cNvSpPr>
            <a:spLocks xmlns:a="http://schemas.openxmlformats.org/drawingml/2006/main" noGrp="1"/>
          </p:cNvSpPr>
          <p:nvPr/>
        </p:nvSpPr>
        <p:spPr>
          <a:xfrm xmlns:a="http://schemas.openxmlformats.org/drawingml/2006/main">
            <a:off x="781050" y="4171950"/>
            <a:ext cx="285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رکورد جدید فعال و رکورد قبلی غیرفعال اما قابل‌پرس‌وجو است.</a:t>
            </a:r>
          </a:p>
        </p:txBody>
      </p:sp>
      <p:sp>
        <p:nvSpPr>
          <p:cNvPr id="8" name="">
            <a:extLst xmlns:a="http://schemas.openxmlformats.org/drawingml/2006/main">
              <a:ext uri="{FF2B5EF4-FFF2-40B4-BE49-F238E27FC236}">
                <a16:creationId xmlns:a16="http://schemas.microsoft.com/office/drawing/2014/main" id="{F888DDB4-5E0A-479D-9294-05278CB37893}"/>
              </a:ext>
            </a:extLst>
          </p:cNvPr>
          <p:cNvSpPr>
            <a:spLocks xmlns:a="http://schemas.openxmlformats.org/drawingml/2006/main" noGrp="1"/>
          </p:cNvSpPr>
          <p:nvPr/>
        </p:nvSpPr>
        <p:spPr>
          <a:xfrm xmlns:a="http://schemas.openxmlformats.org/drawingml/2006/main">
            <a:off x="4324350" y="3009900"/>
            <a:ext cx="171450" cy="171450"/>
          </a:xfrm>
          <a:prstGeom xmlns:a="http://schemas.openxmlformats.org/drawingml/2006/main" prst="ellipse">
            <a:avLst/>
          </a:prstGeom>
          <a:solidFill xmlns:a="http://schemas.openxmlformats.org/drawingml/2006/main">
            <a:srgbClr val="11111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BEFE89C-6405-4085-AC73-780C73113BE4}"/>
              </a:ext>
            </a:extLst>
          </p:cNvPr>
          <p:cNvSpPr>
            <a:spLocks xmlns:a="http://schemas.openxmlformats.org/drawingml/2006/main" noGrp="1"/>
          </p:cNvSpPr>
          <p:nvPr/>
        </p:nvSpPr>
        <p:spPr>
          <a:xfrm xmlns:a="http://schemas.openxmlformats.org/drawingml/2006/main">
            <a:off x="4324350" y="2428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425" b="0">
                <a:solidFill>
                  <a:srgbClr val="5F6368"/>
                </a:solidFill>
                <a:latin typeface="Arial"/>
                <a:ea typeface="Arial"/>
                <a:cs typeface="Arial"/>
              </a:defRPr>
            </a:pPr>
            <a:r>
              <a:rPr sz="1425" b="0">
                <a:solidFill>
                  <a:srgbClr val="5F6368"/>
                </a:solidFill>
                <a:latin typeface="Arial"/>
                <a:ea typeface="Arial"/>
                <a:cs typeface="Arial"/>
              </a:rPr>
              <a:t>t₁</a:t>
            </a:r>
          </a:p>
        </p:txBody>
      </p:sp>
      <p:sp>
        <p:nvSpPr>
          <p:cNvPr id="10" name="">
            <a:extLst xmlns:a="http://schemas.openxmlformats.org/drawingml/2006/main">
              <a:ext uri="{FF2B5EF4-FFF2-40B4-BE49-F238E27FC236}">
                <a16:creationId xmlns:a16="http://schemas.microsoft.com/office/drawing/2014/main" id="{368468DF-9B09-4BC2-BB08-25C7003310E0}"/>
              </a:ext>
            </a:extLst>
          </p:cNvPr>
          <p:cNvSpPr>
            <a:spLocks xmlns:a="http://schemas.openxmlformats.org/drawingml/2006/main" noGrp="1"/>
          </p:cNvSpPr>
          <p:nvPr/>
        </p:nvSpPr>
        <p:spPr>
          <a:xfrm xmlns:a="http://schemas.openxmlformats.org/drawingml/2006/main">
            <a:off x="4324350" y="3581400"/>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75" b="1">
                <a:solidFill>
                  <a:srgbClr val="111111"/>
                </a:solidFill>
                <a:latin typeface="Arial"/>
                <a:ea typeface="Arial"/>
                <a:cs typeface="Arial"/>
              </a:defRPr>
            </a:pPr>
            <a:r>
              <a:rPr sz="1875" b="1">
                <a:solidFill>
                  <a:srgbClr val="111111"/>
                </a:solidFill>
                <a:latin typeface="Arial"/>
                <a:ea typeface="Arial"/>
                <a:cs typeface="Arial"/>
              </a:rPr>
              <a:t>شواهد متعارض تازه</a:t>
            </a:r>
          </a:p>
        </p:txBody>
      </p:sp>
      <p:sp>
        <p:nvSpPr>
          <p:cNvPr id="11" name="">
            <a:extLst xmlns:a="http://schemas.openxmlformats.org/drawingml/2006/main">
              <a:ext uri="{FF2B5EF4-FFF2-40B4-BE49-F238E27FC236}">
                <a16:creationId xmlns:a16="http://schemas.microsoft.com/office/drawing/2014/main" id="{7814A79C-357B-4842-8224-CE3DB976C363}"/>
              </a:ext>
            </a:extLst>
          </p:cNvPr>
          <p:cNvSpPr>
            <a:spLocks xmlns:a="http://schemas.openxmlformats.org/drawingml/2006/main" noGrp="1"/>
          </p:cNvSpPr>
          <p:nvPr/>
        </p:nvSpPr>
        <p:spPr>
          <a:xfrm xmlns:a="http://schemas.openxmlformats.org/drawingml/2006/main">
            <a:off x="4324350" y="4171950"/>
            <a:ext cx="285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سیاست فقط با شناسایی رکورد هدف، جایگزینی را می‌پذیرد.</a:t>
            </a:r>
          </a:p>
        </p:txBody>
      </p:sp>
      <p:sp>
        <p:nvSpPr>
          <p:cNvPr id="12" name="">
            <a:extLst xmlns:a="http://schemas.openxmlformats.org/drawingml/2006/main">
              <a:ext uri="{FF2B5EF4-FFF2-40B4-BE49-F238E27FC236}">
                <a16:creationId xmlns:a16="http://schemas.microsoft.com/office/drawing/2014/main" id="{AB96AC6D-E4F1-4CA9-B7E5-D33267C52450}"/>
              </a:ext>
            </a:extLst>
          </p:cNvPr>
          <p:cNvSpPr>
            <a:spLocks xmlns:a="http://schemas.openxmlformats.org/drawingml/2006/main" noGrp="1"/>
          </p:cNvSpPr>
          <p:nvPr/>
        </p:nvSpPr>
        <p:spPr>
          <a:xfrm xmlns:a="http://schemas.openxmlformats.org/drawingml/2006/main">
            <a:off x="7867650" y="3009900"/>
            <a:ext cx="171450" cy="1714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1444A6C-5AE5-448E-ABCD-0AA04F788AD2}"/>
              </a:ext>
            </a:extLst>
          </p:cNvPr>
          <p:cNvSpPr>
            <a:spLocks xmlns:a="http://schemas.openxmlformats.org/drawingml/2006/main" noGrp="1"/>
          </p:cNvSpPr>
          <p:nvPr/>
        </p:nvSpPr>
        <p:spPr>
          <a:xfrm xmlns:a="http://schemas.openxmlformats.org/drawingml/2006/main">
            <a:off x="7867650" y="2428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425" b="0">
                <a:solidFill>
                  <a:srgbClr val="5F6368"/>
                </a:solidFill>
                <a:latin typeface="Arial"/>
                <a:ea typeface="Arial"/>
                <a:cs typeface="Arial"/>
              </a:defRPr>
            </a:pPr>
            <a:r>
              <a:rPr sz="1425" b="0">
                <a:solidFill>
                  <a:srgbClr val="5F6368"/>
                </a:solidFill>
                <a:latin typeface="Arial"/>
                <a:ea typeface="Arial"/>
                <a:cs typeface="Arial"/>
              </a:rPr>
              <a:t>t₀</a:t>
            </a:r>
          </a:p>
        </p:txBody>
      </p:sp>
      <p:sp>
        <p:nvSpPr>
          <p:cNvPr id="14" name="">
            <a:extLst xmlns:a="http://schemas.openxmlformats.org/drawingml/2006/main">
              <a:ext uri="{FF2B5EF4-FFF2-40B4-BE49-F238E27FC236}">
                <a16:creationId xmlns:a16="http://schemas.microsoft.com/office/drawing/2014/main" id="{9B234E25-2F77-43A7-9A74-4B4A52169D98}"/>
              </a:ext>
            </a:extLst>
          </p:cNvPr>
          <p:cNvSpPr>
            <a:spLocks xmlns:a="http://schemas.openxmlformats.org/drawingml/2006/main" noGrp="1"/>
          </p:cNvSpPr>
          <p:nvPr/>
        </p:nvSpPr>
        <p:spPr>
          <a:xfrm xmlns:a="http://schemas.openxmlformats.org/drawingml/2006/main">
            <a:off x="7867650" y="3581400"/>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75" b="1">
                <a:solidFill>
                  <a:srgbClr val="111111"/>
                </a:solidFill>
                <a:latin typeface="Arial"/>
                <a:ea typeface="Arial"/>
                <a:cs typeface="Arial"/>
              </a:defRPr>
            </a:pPr>
            <a:r>
              <a:rPr sz="1875" b="1">
                <a:solidFill>
                  <a:srgbClr val="111111"/>
                </a:solidFill>
                <a:latin typeface="Arial"/>
                <a:ea typeface="Arial"/>
                <a:cs typeface="Arial"/>
              </a:rPr>
              <a:t>رکورد قبلی فعال</a:t>
            </a:r>
          </a:p>
        </p:txBody>
      </p:sp>
      <p:sp>
        <p:nvSpPr>
          <p:cNvPr id="15" name="">
            <a:extLst xmlns:a="http://schemas.openxmlformats.org/drawingml/2006/main">
              <a:ext uri="{FF2B5EF4-FFF2-40B4-BE49-F238E27FC236}">
                <a16:creationId xmlns:a16="http://schemas.microsoft.com/office/drawing/2014/main" id="{FA1A2BB7-C327-4976-B202-CDB937641E89}"/>
              </a:ext>
            </a:extLst>
          </p:cNvPr>
          <p:cNvSpPr>
            <a:spLocks xmlns:a="http://schemas.openxmlformats.org/drawingml/2006/main" noGrp="1"/>
          </p:cNvSpPr>
          <p:nvPr/>
        </p:nvSpPr>
        <p:spPr>
          <a:xfrm xmlns:a="http://schemas.openxmlformats.org/drawingml/2006/main">
            <a:off x="7867650" y="4171950"/>
            <a:ext cx="285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ادعای جاری به‌عنوان حالت فعلی بازیابی می‌شود.</a:t>
            </a:r>
          </a:p>
        </p:txBody>
      </p:sp>
      <p:sp>
        <p:nvSpPr>
          <p:cNvPr id="16" name="">
            <a:extLst xmlns:a="http://schemas.openxmlformats.org/drawingml/2006/main">
              <a:ext uri="{FF2B5EF4-FFF2-40B4-BE49-F238E27FC236}">
                <a16:creationId xmlns:a16="http://schemas.microsoft.com/office/drawing/2014/main" id="{B7008E8D-8B4F-434D-8DA6-3108F97A0781}"/>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عملیات حافظه و معیار سلامت تبار</a:t>
            </a:r>
          </a:p>
        </p:txBody>
      </p:sp>
    </p:spTree>
    <p:extLst>
      <p:ext uri="{BB962C8B-B14F-4D97-AF65-F5344CB8AC3E}">
        <p14:creationId xmlns:p14="http://schemas.microsoft.com/office/powerpoint/2010/main" val="117252853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1424435-457E-4078-AE75-922CCC8F57FD}"/>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MGP-6 تصمیم نوشتن را در شش نوع تعارض جدا می‌کند</a:t>
            </a:r>
          </a:p>
        </p:txBody>
      </p:sp>
      <p:sp>
        <p:nvSpPr>
          <p:cNvPr id="2" name="">
            <a:extLst xmlns:a="http://schemas.openxmlformats.org/drawingml/2006/main">
              <a:ext uri="{FF2B5EF4-FFF2-40B4-BE49-F238E27FC236}">
                <a16:creationId xmlns:a16="http://schemas.microsoft.com/office/drawing/2014/main" id="{3DC66351-AF4A-48E8-B95B-B2824DAA6440}"/>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8676DE98-6032-4FE4-8C27-9211410D7ADF}"/>
              </a:ext>
            </a:extLst>
          </p:cNvPr>
          <p:cNvSpPr>
            <a:spLocks xmlns:a="http://schemas.openxmlformats.org/drawingml/2006/main" noGrp="1"/>
          </p:cNvSpPr>
          <p:nvPr/>
        </p:nvSpPr>
        <p:spPr>
          <a:xfrm xmlns:a="http://schemas.openxmlformats.org/drawingml/2006/main">
            <a:off x="495300" y="1266825"/>
            <a:ext cx="11201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650" b="0">
                <a:solidFill>
                  <a:srgbClr val="5F6368"/>
                </a:solidFill>
                <a:latin typeface="Arial"/>
                <a:ea typeface="Arial"/>
                <a:cs typeface="Arial"/>
              </a:defRPr>
            </a:pPr>
            <a:r>
              <a:rPr sz="1650" b="0">
                <a:solidFill>
                  <a:srgbClr val="5F6368"/>
                </a:solidFill>
                <a:latin typeface="Arial"/>
                <a:ea typeface="Arial"/>
                <a:cs typeface="Arial"/>
              </a:rPr>
              <a:t>آزمون تشخیصی مصنوعیِ طراحی‌شده توسط پژوهشگر؛ ۶۰ آموزش، ۳۰ توسعه، ۹۰ آزمون نگه‌داشته‌شده.</a:t>
            </a:r>
          </a:p>
        </p:txBody>
      </p:sp>
      <p:sp>
        <p:nvSpPr>
          <p:cNvPr id="4" name="">
            <a:extLst xmlns:a="http://schemas.openxmlformats.org/drawingml/2006/main">
              <a:ext uri="{FF2B5EF4-FFF2-40B4-BE49-F238E27FC236}">
                <a16:creationId xmlns:a16="http://schemas.microsoft.com/office/drawing/2014/main" id="{8486A940-C250-4A68-9F72-3B558920B14B}"/>
              </a:ext>
            </a:extLst>
          </p:cNvPr>
          <p:cNvSpPr>
            <a:spLocks xmlns:a="http://schemas.openxmlformats.org/drawingml/2006/main" noGrp="1"/>
          </p:cNvSpPr>
          <p:nvPr/>
        </p:nvSpPr>
        <p:spPr>
          <a:xfrm xmlns:a="http://schemas.openxmlformats.org/drawingml/2006/main">
            <a:off x="495300" y="2238375"/>
            <a:ext cx="3562350" cy="3143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AAEF868-1FB4-4175-AAA2-EE06BA7D241D}"/>
              </a:ext>
            </a:extLst>
          </p:cNvPr>
          <p:cNvSpPr>
            <a:spLocks xmlns:a="http://schemas.openxmlformats.org/drawingml/2006/main" noGrp="1"/>
          </p:cNvSpPr>
          <p:nvPr/>
        </p:nvSpPr>
        <p:spPr>
          <a:xfrm xmlns:a="http://schemas.openxmlformats.org/drawingml/2006/main">
            <a:off x="800100" y="293370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3600" b="0">
                <a:solidFill>
                  <a:srgbClr val="111111"/>
                </a:solidFill>
                <a:latin typeface="Arial"/>
                <a:ea typeface="Arial"/>
                <a:cs typeface="Arial"/>
              </a:defRPr>
            </a:pPr>
            <a:r>
              <a:rPr sz="3600" b="0">
                <a:solidFill>
                  <a:srgbClr val="111111"/>
                </a:solidFill>
                <a:latin typeface="Arial"/>
                <a:ea typeface="Arial"/>
                <a:cs typeface="Arial"/>
              </a:rPr>
              <a:t>90/66/24</a:t>
            </a:r>
          </a:p>
        </p:txBody>
      </p:sp>
      <p:sp>
        <p:nvSpPr>
          <p:cNvPr id="6" name="">
            <a:extLst xmlns:a="http://schemas.openxmlformats.org/drawingml/2006/main">
              <a:ext uri="{FF2B5EF4-FFF2-40B4-BE49-F238E27FC236}">
                <a16:creationId xmlns:a16="http://schemas.microsoft.com/office/drawing/2014/main" id="{561793AD-F074-4CC6-8EFF-CB6D5C65D2E4}"/>
              </a:ext>
            </a:extLst>
          </p:cNvPr>
          <p:cNvSpPr>
            <a:spLocks xmlns:a="http://schemas.openxmlformats.org/drawingml/2006/main" noGrp="1"/>
          </p:cNvSpPr>
          <p:nvPr/>
        </p:nvSpPr>
        <p:spPr>
          <a:xfrm xmlns:a="http://schemas.openxmlformats.org/drawingml/2006/main">
            <a:off x="800100" y="4124325"/>
            <a:ext cx="295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توزیع جایگزینی / خودداری / نگه‌داری</a:t>
            </a:r>
          </a:p>
        </p:txBody>
      </p:sp>
      <p:sp>
        <p:nvSpPr>
          <p:cNvPr id="7" name="">
            <a:extLst xmlns:a="http://schemas.openxmlformats.org/drawingml/2006/main">
              <a:ext uri="{FF2B5EF4-FFF2-40B4-BE49-F238E27FC236}">
                <a16:creationId xmlns:a16="http://schemas.microsoft.com/office/drawing/2014/main" id="{45A9C961-D028-4306-ABCF-6B80812A8208}"/>
              </a:ext>
            </a:extLst>
          </p:cNvPr>
          <p:cNvSpPr>
            <a:spLocks xmlns:a="http://schemas.openxmlformats.org/drawingml/2006/main" noGrp="1"/>
          </p:cNvSpPr>
          <p:nvPr/>
        </p:nvSpPr>
        <p:spPr>
          <a:xfrm xmlns:a="http://schemas.openxmlformats.org/drawingml/2006/main">
            <a:off x="4314825" y="2238375"/>
            <a:ext cx="3562350" cy="3143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54BFF46-B497-4F80-9C55-DD235374A243}"/>
              </a:ext>
            </a:extLst>
          </p:cNvPr>
          <p:cNvSpPr>
            <a:spLocks xmlns:a="http://schemas.openxmlformats.org/drawingml/2006/main" noGrp="1"/>
          </p:cNvSpPr>
          <p:nvPr/>
        </p:nvSpPr>
        <p:spPr>
          <a:xfrm xmlns:a="http://schemas.openxmlformats.org/drawingml/2006/main">
            <a:off x="4619625" y="293370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3600" b="0">
                <a:solidFill>
                  <a:srgbClr val="3D8DFF"/>
                </a:solidFill>
                <a:latin typeface="Arial"/>
                <a:ea typeface="Arial"/>
                <a:cs typeface="Arial"/>
              </a:defRPr>
            </a:pPr>
            <a:r>
              <a:rPr sz="3600" b="0">
                <a:solidFill>
                  <a:srgbClr val="3D8DFF"/>
                </a:solidFill>
                <a:latin typeface="Arial"/>
                <a:ea typeface="Arial"/>
                <a:cs typeface="Arial"/>
              </a:rPr>
              <a:t>6</a:t>
            </a:r>
          </a:p>
        </p:txBody>
      </p:sp>
      <p:sp>
        <p:nvSpPr>
          <p:cNvPr id="9" name="">
            <a:extLst xmlns:a="http://schemas.openxmlformats.org/drawingml/2006/main">
              <a:ext uri="{FF2B5EF4-FFF2-40B4-BE49-F238E27FC236}">
                <a16:creationId xmlns:a16="http://schemas.microsoft.com/office/drawing/2014/main" id="{922751AA-BE9A-488D-A3DD-A168FA63F4A3}"/>
              </a:ext>
            </a:extLst>
          </p:cNvPr>
          <p:cNvSpPr>
            <a:spLocks xmlns:a="http://schemas.openxmlformats.org/drawingml/2006/main" noGrp="1"/>
          </p:cNvSpPr>
          <p:nvPr/>
        </p:nvSpPr>
        <p:spPr>
          <a:xfrm xmlns:a="http://schemas.openxmlformats.org/drawingml/2006/main">
            <a:off x="4619625" y="4124325"/>
            <a:ext cx="295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نوع سناریو برای به‌روزرسانی، تعارض و ابهام</a:t>
            </a:r>
          </a:p>
        </p:txBody>
      </p:sp>
      <p:sp>
        <p:nvSpPr>
          <p:cNvPr id="10" name="">
            <a:extLst xmlns:a="http://schemas.openxmlformats.org/drawingml/2006/main">
              <a:ext uri="{FF2B5EF4-FFF2-40B4-BE49-F238E27FC236}">
                <a16:creationId xmlns:a16="http://schemas.microsoft.com/office/drawing/2014/main" id="{30CD82F9-0FC1-4324-84BF-7A8DF0ED2267}"/>
              </a:ext>
            </a:extLst>
          </p:cNvPr>
          <p:cNvSpPr>
            <a:spLocks xmlns:a="http://schemas.openxmlformats.org/drawingml/2006/main" noGrp="1"/>
          </p:cNvSpPr>
          <p:nvPr/>
        </p:nvSpPr>
        <p:spPr>
          <a:xfrm xmlns:a="http://schemas.openxmlformats.org/drawingml/2006/main">
            <a:off x="8134350" y="2238375"/>
            <a:ext cx="3562350" cy="3143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1EDF04A-4AF9-4596-AD4B-68853C8E666C}"/>
              </a:ext>
            </a:extLst>
          </p:cNvPr>
          <p:cNvSpPr>
            <a:spLocks xmlns:a="http://schemas.openxmlformats.org/drawingml/2006/main" noGrp="1"/>
          </p:cNvSpPr>
          <p:nvPr/>
        </p:nvSpPr>
        <p:spPr>
          <a:xfrm xmlns:a="http://schemas.openxmlformats.org/drawingml/2006/main">
            <a:off x="8439150" y="293370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3600" b="0">
                <a:solidFill>
                  <a:srgbClr val="111111"/>
                </a:solidFill>
                <a:latin typeface="Arial"/>
                <a:ea typeface="Arial"/>
                <a:cs typeface="Arial"/>
              </a:defRPr>
            </a:pPr>
            <a:r>
              <a:rPr sz="3600" b="0">
                <a:solidFill>
                  <a:srgbClr val="111111"/>
                </a:solidFill>
                <a:latin typeface="Arial"/>
                <a:ea typeface="Arial"/>
                <a:cs typeface="Arial"/>
              </a:rPr>
              <a:t>180</a:t>
            </a:r>
          </a:p>
        </p:txBody>
      </p:sp>
      <p:sp>
        <p:nvSpPr>
          <p:cNvPr id="12" name="">
            <a:extLst xmlns:a="http://schemas.openxmlformats.org/drawingml/2006/main">
              <a:ext uri="{FF2B5EF4-FFF2-40B4-BE49-F238E27FC236}">
                <a16:creationId xmlns:a16="http://schemas.microsoft.com/office/drawing/2014/main" id="{7E73F73A-A1F8-44A4-8263-425C6E8AD2A1}"/>
              </a:ext>
            </a:extLst>
          </p:cNvPr>
          <p:cNvSpPr>
            <a:spLocks xmlns:a="http://schemas.openxmlformats.org/drawingml/2006/main" noGrp="1"/>
          </p:cNvSpPr>
          <p:nvPr/>
        </p:nvSpPr>
        <p:spPr>
          <a:xfrm xmlns:a="http://schemas.openxmlformats.org/drawingml/2006/main">
            <a:off x="8439150" y="4124325"/>
            <a:ext cx="295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سناریو با شناسهٔ پایدار و کنش طلایی</a:t>
            </a:r>
          </a:p>
        </p:txBody>
      </p:sp>
      <p:sp>
        <p:nvSpPr>
          <p:cNvPr id="13" name="">
            <a:extLst xmlns:a="http://schemas.openxmlformats.org/drawingml/2006/main">
              <a:ext uri="{FF2B5EF4-FFF2-40B4-BE49-F238E27FC236}">
                <a16:creationId xmlns:a16="http://schemas.microsoft.com/office/drawing/2014/main" id="{64875C44-DAC4-4FA9-8CFB-035C434DE8E8}"/>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گزارش‌های نهایی MGP-6 v2؛ n=180 مگر آنکه ذکر شود</a:t>
            </a:r>
          </a:p>
        </p:txBody>
      </p:sp>
    </p:spTree>
    <p:extLst>
      <p:ext uri="{BB962C8B-B14F-4D97-AF65-F5344CB8AC3E}">
        <p14:creationId xmlns:p14="http://schemas.microsoft.com/office/powerpoint/2010/main" val="17040554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ABAB539-1981-40F8-874F-BB03BB243549}"/>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پروتکل، وضعیت نتیجه و لایهٔ ارزیابی را از هم جدا می‌کند</a:t>
            </a:r>
          </a:p>
        </p:txBody>
      </p:sp>
      <p:sp>
        <p:nvSpPr>
          <p:cNvPr id="2" name="">
            <a:extLst xmlns:a="http://schemas.openxmlformats.org/drawingml/2006/main">
              <a:ext uri="{FF2B5EF4-FFF2-40B4-BE49-F238E27FC236}">
                <a16:creationId xmlns:a16="http://schemas.microsoft.com/office/drawing/2014/main" id="{2FD0E346-D316-4787-B88D-3CC0556EA438}"/>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3246C86D-A4B5-42E3-BAC2-C33BA6544596}"/>
              </a:ext>
            </a:extLst>
          </p:cNvPr>
          <p:cNvSpPr>
            <a:spLocks xmlns:a="http://schemas.openxmlformats.org/drawingml/2006/main" noGrp="1"/>
          </p:cNvSpPr>
          <p:nvPr/>
        </p:nvSpPr>
        <p:spPr>
          <a:xfrm xmlns:a="http://schemas.openxmlformats.org/drawingml/2006/main">
            <a:off x="495300" y="1666875"/>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دروازهٔ ادعا</a:t>
            </a:r>
          </a:p>
        </p:txBody>
      </p:sp>
      <p:sp>
        <p:nvSpPr>
          <p:cNvPr id="4" name="">
            <a:extLst xmlns:a="http://schemas.openxmlformats.org/drawingml/2006/main">
              <a:ext uri="{FF2B5EF4-FFF2-40B4-BE49-F238E27FC236}">
                <a16:creationId xmlns:a16="http://schemas.microsoft.com/office/drawing/2014/main" id="{6347548B-5193-4D51-B673-A0C88833B0CB}"/>
              </a:ext>
            </a:extLst>
          </p:cNvPr>
          <p:cNvSpPr>
            <a:spLocks xmlns:a="http://schemas.openxmlformats.org/drawingml/2006/main" noGrp="1"/>
          </p:cNvSpPr>
          <p:nvPr/>
        </p:nvSpPr>
        <p:spPr>
          <a:xfrm xmlns:a="http://schemas.openxmlformats.org/drawingml/2006/main">
            <a:off x="495300" y="2257425"/>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فقط اجرای کامل و معتبر final_candidate وارد جدول اصلی می‌شود.</a:t>
            </a:r>
          </a:p>
        </p:txBody>
      </p:sp>
      <p:sp>
        <p:nvSpPr>
          <p:cNvPr id="5" name="">
            <a:extLst xmlns:a="http://schemas.openxmlformats.org/drawingml/2006/main">
              <a:ext uri="{FF2B5EF4-FFF2-40B4-BE49-F238E27FC236}">
                <a16:creationId xmlns:a16="http://schemas.microsoft.com/office/drawing/2014/main" id="{50EA8DF9-D574-4694-9961-B53052084ACF}"/>
              </a:ext>
            </a:extLst>
          </p:cNvPr>
          <p:cNvSpPr>
            <a:spLocks xmlns:a="http://schemas.openxmlformats.org/drawingml/2006/main" noGrp="1"/>
          </p:cNvSpPr>
          <p:nvPr/>
        </p:nvSpPr>
        <p:spPr>
          <a:xfrm xmlns:a="http://schemas.openxmlformats.org/drawingml/2006/main">
            <a:off x="6229350" y="1666875"/>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لایهٔ پاسخ</a:t>
            </a:r>
          </a:p>
        </p:txBody>
      </p:sp>
      <p:sp>
        <p:nvSpPr>
          <p:cNvPr id="6" name="">
            <a:extLst xmlns:a="http://schemas.openxmlformats.org/drawingml/2006/main">
              <a:ext uri="{FF2B5EF4-FFF2-40B4-BE49-F238E27FC236}">
                <a16:creationId xmlns:a16="http://schemas.microsoft.com/office/drawing/2014/main" id="{72FB55B0-16BE-4848-B1D7-860B11C4993B}"/>
              </a:ext>
            </a:extLst>
          </p:cNvPr>
          <p:cNvSpPr>
            <a:spLocks xmlns:a="http://schemas.openxmlformats.org/drawingml/2006/main" noGrp="1"/>
          </p:cNvSpPr>
          <p:nvPr/>
        </p:nvSpPr>
        <p:spPr>
          <a:xfrm xmlns:a="http://schemas.openxmlformats.org/drawingml/2006/main">
            <a:off x="6229350" y="2257425"/>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مقاومت در برابر پیش‌فرض، کاربرد ضمنی و پرسش‌پاسخ پایین‌دستی.</a:t>
            </a:r>
          </a:p>
        </p:txBody>
      </p:sp>
      <p:sp>
        <p:nvSpPr>
          <p:cNvPr id="7" name="">
            <a:extLst xmlns:a="http://schemas.openxmlformats.org/drawingml/2006/main">
              <a:ext uri="{FF2B5EF4-FFF2-40B4-BE49-F238E27FC236}">
                <a16:creationId xmlns:a16="http://schemas.microsoft.com/office/drawing/2014/main" id="{98F59EC8-B140-41FE-A828-A79C14627382}"/>
              </a:ext>
            </a:extLst>
          </p:cNvPr>
          <p:cNvSpPr>
            <a:spLocks xmlns:a="http://schemas.openxmlformats.org/drawingml/2006/main" noGrp="1"/>
          </p:cNvSpPr>
          <p:nvPr/>
        </p:nvSpPr>
        <p:spPr>
          <a:xfrm xmlns:a="http://schemas.openxmlformats.org/drawingml/2006/main">
            <a:off x="495300" y="3886200"/>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لایهٔ حالت</a:t>
            </a:r>
          </a:p>
        </p:txBody>
      </p:sp>
      <p:sp>
        <p:nvSpPr>
          <p:cNvPr id="8" name="">
            <a:extLst xmlns:a="http://schemas.openxmlformats.org/drawingml/2006/main">
              <a:ext uri="{FF2B5EF4-FFF2-40B4-BE49-F238E27FC236}">
                <a16:creationId xmlns:a16="http://schemas.microsoft.com/office/drawing/2014/main" id="{454AE0BD-D37C-407B-A433-D5F4643365CB}"/>
              </a:ext>
            </a:extLst>
          </p:cNvPr>
          <p:cNvSpPr>
            <a:spLocks xmlns:a="http://schemas.openxmlformats.org/drawingml/2006/main" noGrp="1"/>
          </p:cNvSpPr>
          <p:nvPr/>
        </p:nvSpPr>
        <p:spPr>
          <a:xfrm xmlns:a="http://schemas.openxmlformats.org/drawingml/2006/main">
            <a:off x="495300" y="4476750"/>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سلامت تبار، بازیابی رکورد منسوخ و قیدهای گذار.</a:t>
            </a:r>
          </a:p>
        </p:txBody>
      </p:sp>
      <p:sp>
        <p:nvSpPr>
          <p:cNvPr id="9" name="">
            <a:extLst xmlns:a="http://schemas.openxmlformats.org/drawingml/2006/main">
              <a:ext uri="{FF2B5EF4-FFF2-40B4-BE49-F238E27FC236}">
                <a16:creationId xmlns:a16="http://schemas.microsoft.com/office/drawing/2014/main" id="{11270405-2C9C-44B5-BDD8-B7486430FC1B}"/>
              </a:ext>
            </a:extLst>
          </p:cNvPr>
          <p:cNvSpPr>
            <a:spLocks xmlns:a="http://schemas.openxmlformats.org/drawingml/2006/main" noGrp="1"/>
          </p:cNvSpPr>
          <p:nvPr/>
        </p:nvSpPr>
        <p:spPr>
          <a:xfrm xmlns:a="http://schemas.openxmlformats.org/drawingml/2006/main">
            <a:off x="6229350" y="3886200"/>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لایهٔ تصمیم</a:t>
            </a:r>
          </a:p>
        </p:txBody>
      </p:sp>
      <p:sp>
        <p:nvSpPr>
          <p:cNvPr id="10" name="">
            <a:extLst xmlns:a="http://schemas.openxmlformats.org/drawingml/2006/main">
              <a:ext uri="{FF2B5EF4-FFF2-40B4-BE49-F238E27FC236}">
                <a16:creationId xmlns:a16="http://schemas.microsoft.com/office/drawing/2014/main" id="{BECB6A92-34E0-462D-8BF2-8F94D7ED5A61}"/>
              </a:ext>
            </a:extLst>
          </p:cNvPr>
          <p:cNvSpPr>
            <a:spLocks xmlns:a="http://schemas.openxmlformats.org/drawingml/2006/main" noGrp="1"/>
          </p:cNvSpPr>
          <p:nvPr/>
        </p:nvSpPr>
        <p:spPr>
          <a:xfrm xmlns:a="http://schemas.openxmlformats.org/drawingml/2006/main">
            <a:off x="6229350" y="4476750"/>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دقت کنش، F1 کلان، ماتریس خطا و ثبت نامعتبر.</a:t>
            </a:r>
          </a:p>
        </p:txBody>
      </p:sp>
      <p:sp>
        <p:nvSpPr>
          <p:cNvPr id="11" name="">
            <a:extLst xmlns:a="http://schemas.openxmlformats.org/drawingml/2006/main">
              <a:ext uri="{FF2B5EF4-FFF2-40B4-BE49-F238E27FC236}">
                <a16:creationId xmlns:a16="http://schemas.microsoft.com/office/drawing/2014/main" id="{A2541DB3-74CB-498F-A708-11CF4705B37F}"/>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پروتکل ارزیابی نهایی و دفتر نتایج v1.1</a:t>
            </a:r>
          </a:p>
        </p:txBody>
      </p:sp>
    </p:spTree>
    <p:extLst>
      <p:ext uri="{BB962C8B-B14F-4D97-AF65-F5344CB8AC3E}">
        <p14:creationId xmlns:p14="http://schemas.microsoft.com/office/powerpoint/2010/main" val="17545787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EDCBFAA-F533-4137-8542-CE1326A46DC1}"/>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حاکمیت ساخت‌یافته بالاترین دقت تصمیم MGP-6 را دارد</a:t>
            </a:r>
          </a:p>
        </p:txBody>
      </p:sp>
      <p:sp>
        <p:nvSpPr>
          <p:cNvPr id="2" name="">
            <a:extLst xmlns:a="http://schemas.openxmlformats.org/drawingml/2006/main">
              <a:ext uri="{FF2B5EF4-FFF2-40B4-BE49-F238E27FC236}">
                <a16:creationId xmlns:a16="http://schemas.microsoft.com/office/drawing/2014/main" id="{BBA53292-B8D6-4452-BC8E-22C80C1F3A46}"/>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11</a:t>
            </a:r>
          </a:p>
        </p:txBody>
      </p:sp>
      <p:graphicFrame>
        <p:nvGraphicFramePr>
          <p:cNvPr id="10" name="Chart"/>
          <p:cNvGraphicFramePr/>
          <p:nvPr/>
        </p:nvGraphicFramePr>
        <p:xfrm>
          <a:off xmlns:a="http://schemas.openxmlformats.org/drawingml/2006/main" x="457200" y="1381125"/>
          <a:ext xmlns:a="http://schemas.openxmlformats.org/drawingml/2006/main" cx="7000875" cy="4762500"/>
        </p:xfrm>
        <a:graphic xmlns:a="http://schemas.openxmlformats.org/drawingml/2006/main">
          <a:graphicData uri="http://schemas.openxmlformats.org/drawingml/2006/chart">
            <c:chart xmlns:r="http://schemas.openxmlformats.org/officeDocument/2006/relationships" xmlns:c="http://schemas.openxmlformats.org/drawingml/2006/chart" r:id="R132e2d00f6884714"/>
          </a:graphicData>
        </a:graphic>
      </p:graphicFrame>
      <p:sp>
        <p:nvSpPr>
          <p:cNvPr id="4" name="">
            <a:extLst xmlns:a="http://schemas.openxmlformats.org/drawingml/2006/main">
              <a:ext uri="{FF2B5EF4-FFF2-40B4-BE49-F238E27FC236}">
                <a16:creationId xmlns:a16="http://schemas.microsoft.com/office/drawing/2014/main" id="{E388069C-48F7-487B-B93E-62CC11E8E7AC}"/>
              </a:ext>
            </a:extLst>
          </p:cNvPr>
          <p:cNvSpPr>
            <a:spLocks xmlns:a="http://schemas.openxmlformats.org/drawingml/2006/main" noGrp="1"/>
          </p:cNvSpPr>
          <p:nvPr/>
        </p:nvSpPr>
        <p:spPr>
          <a:xfrm xmlns:a="http://schemas.openxmlformats.org/drawingml/2006/main">
            <a:off x="7858125" y="1600200"/>
            <a:ext cx="3838575" cy="398145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4D13962-39A3-44BB-927F-F6333AA34A39}"/>
              </a:ext>
            </a:extLst>
          </p:cNvPr>
          <p:cNvSpPr>
            <a:spLocks xmlns:a="http://schemas.openxmlformats.org/drawingml/2006/main" noGrp="1"/>
          </p:cNvSpPr>
          <p:nvPr/>
        </p:nvSpPr>
        <p:spPr>
          <a:xfrm xmlns:a="http://schemas.openxmlformats.org/drawingml/2006/main">
            <a:off x="8143875" y="1962150"/>
            <a:ext cx="32670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3D8DFF"/>
                </a:solidFill>
                <a:latin typeface="Arial"/>
                <a:ea typeface="Arial"/>
                <a:cs typeface="Arial"/>
              </a:defRPr>
            </a:pPr>
            <a:r>
              <a:rPr sz="1950" b="1">
                <a:solidFill>
                  <a:srgbClr val="3D8DFF"/>
                </a:solidFill>
                <a:latin typeface="Arial"/>
                <a:ea typeface="Arial"/>
                <a:cs typeface="Arial"/>
              </a:rPr>
              <a:t>+۱۸٫۹ واحد درصد</a:t>
            </a:r>
          </a:p>
        </p:txBody>
      </p:sp>
      <p:sp>
        <p:nvSpPr>
          <p:cNvPr id="6" name="">
            <a:extLst xmlns:a="http://schemas.openxmlformats.org/drawingml/2006/main">
              <a:ext uri="{FF2B5EF4-FFF2-40B4-BE49-F238E27FC236}">
                <a16:creationId xmlns:a16="http://schemas.microsoft.com/office/drawing/2014/main" id="{7FEC3EAC-D90D-433D-82BD-CA53BD3A5507}"/>
              </a:ext>
            </a:extLst>
          </p:cNvPr>
          <p:cNvSpPr>
            <a:spLocks xmlns:a="http://schemas.openxmlformats.org/drawingml/2006/main" noGrp="1"/>
          </p:cNvSpPr>
          <p:nvPr/>
        </p:nvSpPr>
        <p:spPr>
          <a:xfrm xmlns:a="http://schemas.openxmlformats.org/drawingml/2006/main">
            <a:off x="8143875" y="2762250"/>
            <a:ext cx="3267075"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KSA قاعده‌ای در برابر تصمیم بدون ساختار. p اصلاح‌شدهٔ Holm برابر 1.6×10⁻⁵ است.</a:t>
            </a:r>
          </a:p>
          <a:p xmlns:a="http://schemas.openxmlformats.org/drawingml/2006/main">
            <a:r>
              <a:t/>
            </a:r>
          </a:p>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تفاوت کنترل‌گر قاعده‌ای و مدل‌محور از نظر دقت معنادار نیست (p=0.286).</a:t>
            </a:r>
          </a:p>
        </p:txBody>
      </p:sp>
      <p:sp>
        <p:nvSpPr>
          <p:cNvPr id="7" name="">
            <a:extLst xmlns:a="http://schemas.openxmlformats.org/drawingml/2006/main">
              <a:ext uri="{FF2B5EF4-FFF2-40B4-BE49-F238E27FC236}">
                <a16:creationId xmlns:a16="http://schemas.microsoft.com/office/drawing/2014/main" id="{59D15E7C-64A5-4420-A22B-C0C06A6F450E}"/>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گزارش‌های MGP-6 و تحلیل آماری جفتی n=180</a:t>
            </a:r>
          </a:p>
        </p:txBody>
      </p:sp>
    </p:spTree>
    <p:extLst>
      <p:ext uri="{BB962C8B-B14F-4D97-AF65-F5344CB8AC3E}">
        <p14:creationId xmlns:p14="http://schemas.microsoft.com/office/powerpoint/2010/main" val="113741090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4D0B939-CB85-43BD-9C5D-851B8385A3E9}"/>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خطاهای باقی‌ماندهٔ کنترل‌گر قاعده‌ای محافظه‌کارانه‌اند</a:t>
            </a:r>
          </a:p>
        </p:txBody>
      </p:sp>
      <p:sp>
        <p:nvSpPr>
          <p:cNvPr id="2" name="">
            <a:extLst xmlns:a="http://schemas.openxmlformats.org/drawingml/2006/main">
              <a:ext uri="{FF2B5EF4-FFF2-40B4-BE49-F238E27FC236}">
                <a16:creationId xmlns:a16="http://schemas.microsoft.com/office/drawing/2014/main" id="{4E30D678-A7E9-4515-9AC8-FD5F3D3BB307}"/>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B3D7E0F9-0540-4AE3-ABF7-EE02254F2D4B}"/>
              </a:ext>
            </a:extLst>
          </p:cNvPr>
          <p:cNvSpPr>
            <a:spLocks xmlns:a="http://schemas.openxmlformats.org/drawingml/2006/main" noGrp="1"/>
          </p:cNvSpPr>
          <p:nvPr/>
        </p:nvSpPr>
        <p:spPr>
          <a:xfrm xmlns:a="http://schemas.openxmlformats.org/drawingml/2006/main">
            <a:off x="495300" y="1266825"/>
            <a:ext cx="11201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650" b="0">
                <a:solidFill>
                  <a:srgbClr val="5F6368"/>
                </a:solidFill>
                <a:latin typeface="Arial"/>
                <a:ea typeface="Arial"/>
                <a:cs typeface="Arial"/>
              </a:defRPr>
            </a:pPr>
            <a:r>
              <a:rPr sz="1650" b="0">
                <a:solidFill>
                  <a:srgbClr val="5F6368"/>
                </a:solidFill>
                <a:latin typeface="Arial"/>
                <a:ea typeface="Arial"/>
                <a:cs typeface="Arial"/>
              </a:rPr>
              <a:t>ماتریس کامل: نگه‌داری ۲۴/۲۴؛ خودداری ۶۶/۶۶؛ جایگزینی ۷۶/۹۰.</a:t>
            </a:r>
          </a:p>
        </p:txBody>
      </p:sp>
      <p:sp>
        <p:nvSpPr>
          <p:cNvPr id="4" name="">
            <a:extLst xmlns:a="http://schemas.openxmlformats.org/drawingml/2006/main">
              <a:ext uri="{FF2B5EF4-FFF2-40B4-BE49-F238E27FC236}">
                <a16:creationId xmlns:a16="http://schemas.microsoft.com/office/drawing/2014/main" id="{2E94A652-1106-4D0D-B496-1AF3D8B24BEC}"/>
              </a:ext>
            </a:extLst>
          </p:cNvPr>
          <p:cNvSpPr>
            <a:spLocks xmlns:a="http://schemas.openxmlformats.org/drawingml/2006/main" noGrp="1"/>
          </p:cNvSpPr>
          <p:nvPr/>
        </p:nvSpPr>
        <p:spPr>
          <a:xfrm xmlns:a="http://schemas.openxmlformats.org/drawingml/2006/main">
            <a:off x="495300" y="2238375"/>
            <a:ext cx="3562350" cy="3143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06CC384-2A78-4C83-AEE7-81600AA9CC9D}"/>
              </a:ext>
            </a:extLst>
          </p:cNvPr>
          <p:cNvSpPr>
            <a:spLocks xmlns:a="http://schemas.openxmlformats.org/drawingml/2006/main" noGrp="1"/>
          </p:cNvSpPr>
          <p:nvPr/>
        </p:nvSpPr>
        <p:spPr>
          <a:xfrm xmlns:a="http://schemas.openxmlformats.org/drawingml/2006/main">
            <a:off x="800100" y="293370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3600" b="0">
                <a:solidFill>
                  <a:srgbClr val="111111"/>
                </a:solidFill>
                <a:latin typeface="Arial"/>
                <a:ea typeface="Arial"/>
                <a:cs typeface="Arial"/>
              </a:defRPr>
            </a:pPr>
            <a:r>
              <a:rPr sz="3600" b="0">
                <a:solidFill>
                  <a:srgbClr val="111111"/>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A073CB55-E496-4145-AF90-875654F76CE5}"/>
              </a:ext>
            </a:extLst>
          </p:cNvPr>
          <p:cNvSpPr>
            <a:spLocks xmlns:a="http://schemas.openxmlformats.org/drawingml/2006/main" noGrp="1"/>
          </p:cNvSpPr>
          <p:nvPr/>
        </p:nvSpPr>
        <p:spPr>
          <a:xfrm xmlns:a="http://schemas.openxmlformats.org/drawingml/2006/main">
            <a:off x="800100" y="4124325"/>
            <a:ext cx="295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همهٔ خطاها جایگزینی ← خودداری</a:t>
            </a:r>
          </a:p>
        </p:txBody>
      </p:sp>
      <p:sp>
        <p:nvSpPr>
          <p:cNvPr id="7" name="">
            <a:extLst xmlns:a="http://schemas.openxmlformats.org/drawingml/2006/main">
              <a:ext uri="{FF2B5EF4-FFF2-40B4-BE49-F238E27FC236}">
                <a16:creationId xmlns:a16="http://schemas.microsoft.com/office/drawing/2014/main" id="{56D376B1-B7B5-41F8-A5C8-31C73723DD35}"/>
              </a:ext>
            </a:extLst>
          </p:cNvPr>
          <p:cNvSpPr>
            <a:spLocks xmlns:a="http://schemas.openxmlformats.org/drawingml/2006/main" noGrp="1"/>
          </p:cNvSpPr>
          <p:nvPr/>
        </p:nvSpPr>
        <p:spPr>
          <a:xfrm xmlns:a="http://schemas.openxmlformats.org/drawingml/2006/main">
            <a:off x="4314825" y="2238375"/>
            <a:ext cx="3562350" cy="3143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7684FF8-C031-4511-81DD-A2307291C86B}"/>
              </a:ext>
            </a:extLst>
          </p:cNvPr>
          <p:cNvSpPr>
            <a:spLocks xmlns:a="http://schemas.openxmlformats.org/drawingml/2006/main" noGrp="1"/>
          </p:cNvSpPr>
          <p:nvPr/>
        </p:nvSpPr>
        <p:spPr>
          <a:xfrm xmlns:a="http://schemas.openxmlformats.org/drawingml/2006/main">
            <a:off x="4619625" y="293370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3600" b="0">
                <a:solidFill>
                  <a:srgbClr val="3D8DFF"/>
                </a:solidFill>
                <a:latin typeface="Arial"/>
                <a:ea typeface="Arial"/>
                <a:cs typeface="Arial"/>
              </a:defRPr>
            </a:pPr>
            <a:r>
              <a:rPr sz="3600" b="0">
                <a:solidFill>
                  <a:srgbClr val="3D8DFF"/>
                </a:solidFill>
                <a:latin typeface="Arial"/>
                <a:ea typeface="Arial"/>
                <a:cs typeface="Arial"/>
              </a:rPr>
              <a:t>0.0</a:t>
            </a:r>
          </a:p>
        </p:txBody>
      </p:sp>
      <p:sp>
        <p:nvSpPr>
          <p:cNvPr id="9" name="">
            <a:extLst xmlns:a="http://schemas.openxmlformats.org/drawingml/2006/main">
              <a:ext uri="{FF2B5EF4-FFF2-40B4-BE49-F238E27FC236}">
                <a16:creationId xmlns:a16="http://schemas.microsoft.com/office/drawing/2014/main" id="{D1EA9646-69F9-4897-9454-907ECC739267}"/>
              </a:ext>
            </a:extLst>
          </p:cNvPr>
          <p:cNvSpPr>
            <a:spLocks xmlns:a="http://schemas.openxmlformats.org/drawingml/2006/main" noGrp="1"/>
          </p:cNvSpPr>
          <p:nvPr/>
        </p:nvSpPr>
        <p:spPr>
          <a:xfrm xmlns:a="http://schemas.openxmlformats.org/drawingml/2006/main">
            <a:off x="4619625" y="4124325"/>
            <a:ext cx="295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نرخ ثبت نامعتبر روی موارد خودداری</a:t>
            </a:r>
          </a:p>
        </p:txBody>
      </p:sp>
      <p:sp>
        <p:nvSpPr>
          <p:cNvPr id="10" name="">
            <a:extLst xmlns:a="http://schemas.openxmlformats.org/drawingml/2006/main">
              <a:ext uri="{FF2B5EF4-FFF2-40B4-BE49-F238E27FC236}">
                <a16:creationId xmlns:a16="http://schemas.microsoft.com/office/drawing/2014/main" id="{7A457333-5E8E-4107-B701-B3F5D2A32021}"/>
              </a:ext>
            </a:extLst>
          </p:cNvPr>
          <p:cNvSpPr>
            <a:spLocks xmlns:a="http://schemas.openxmlformats.org/drawingml/2006/main" noGrp="1"/>
          </p:cNvSpPr>
          <p:nvPr/>
        </p:nvSpPr>
        <p:spPr>
          <a:xfrm xmlns:a="http://schemas.openxmlformats.org/drawingml/2006/main">
            <a:off x="8134350" y="2238375"/>
            <a:ext cx="3562350" cy="3143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349A702-864D-46A1-AD70-4843B9F7EAE7}"/>
              </a:ext>
            </a:extLst>
          </p:cNvPr>
          <p:cNvSpPr>
            <a:spLocks xmlns:a="http://schemas.openxmlformats.org/drawingml/2006/main" noGrp="1"/>
          </p:cNvSpPr>
          <p:nvPr/>
        </p:nvSpPr>
        <p:spPr>
          <a:xfrm xmlns:a="http://schemas.openxmlformats.org/drawingml/2006/main">
            <a:off x="8439150" y="293370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3600" b="0">
                <a:solidFill>
                  <a:srgbClr val="111111"/>
                </a:solidFill>
                <a:latin typeface="Arial"/>
                <a:ea typeface="Arial"/>
                <a:cs typeface="Arial"/>
              </a:defRPr>
            </a:pPr>
            <a:r>
              <a:rPr sz="3600" b="0">
                <a:solidFill>
                  <a:srgbClr val="111111"/>
                </a:solidFill>
                <a:latin typeface="Arial"/>
                <a:ea typeface="Arial"/>
                <a:cs typeface="Arial"/>
              </a:rPr>
              <a:t>0.9222</a:t>
            </a:r>
          </a:p>
        </p:txBody>
      </p:sp>
      <p:sp>
        <p:nvSpPr>
          <p:cNvPr id="12" name="">
            <a:extLst xmlns:a="http://schemas.openxmlformats.org/drawingml/2006/main">
              <a:ext uri="{FF2B5EF4-FFF2-40B4-BE49-F238E27FC236}">
                <a16:creationId xmlns:a16="http://schemas.microsoft.com/office/drawing/2014/main" id="{EC5CF830-2AFD-455E-89F7-F58D61177E28}"/>
              </a:ext>
            </a:extLst>
          </p:cNvPr>
          <p:cNvSpPr>
            <a:spLocks xmlns:a="http://schemas.openxmlformats.org/drawingml/2006/main" noGrp="1"/>
          </p:cNvSpPr>
          <p:nvPr/>
        </p:nvSpPr>
        <p:spPr>
          <a:xfrm xmlns:a="http://schemas.openxmlformats.org/drawingml/2006/main">
            <a:off x="8439150" y="4124325"/>
            <a:ext cx="295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دقت کنش؛ F1 کلان 0.9399</a:t>
            </a:r>
          </a:p>
        </p:txBody>
      </p:sp>
      <p:sp>
        <p:nvSpPr>
          <p:cNvPr id="13" name="">
            <a:extLst xmlns:a="http://schemas.openxmlformats.org/drawingml/2006/main">
              <a:ext uri="{FF2B5EF4-FFF2-40B4-BE49-F238E27FC236}">
                <a16:creationId xmlns:a16="http://schemas.microsoft.com/office/drawing/2014/main" id="{BEF53FA5-BA7B-455F-A7EA-AD9BC5404C0A}"/>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گزارش نهایی کنترل‌گر MGP-6</a:t>
            </a:r>
          </a:p>
        </p:txBody>
      </p:sp>
    </p:spTree>
    <p:extLst>
      <p:ext uri="{BB962C8B-B14F-4D97-AF65-F5344CB8AC3E}">
        <p14:creationId xmlns:p14="http://schemas.microsoft.com/office/powerpoint/2010/main" val="176860166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CCE81E5-4A3E-4983-A7CD-C1735E409A9E}"/>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حذف هر مؤلفه، امضای خطای متفاوتی ایجاد می‌کند</a:t>
            </a:r>
          </a:p>
        </p:txBody>
      </p:sp>
      <p:sp>
        <p:nvSpPr>
          <p:cNvPr id="2" name="">
            <a:extLst xmlns:a="http://schemas.openxmlformats.org/drawingml/2006/main">
              <a:ext uri="{FF2B5EF4-FFF2-40B4-BE49-F238E27FC236}">
                <a16:creationId xmlns:a16="http://schemas.microsoft.com/office/drawing/2014/main" id="{A3E46064-AD45-4546-9B14-8A4C1B4CFC71}"/>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FCB49676-FA4B-474E-8061-B1F90C19F0F3}"/>
              </a:ext>
            </a:extLst>
          </p:cNvPr>
          <p:cNvSpPr>
            <a:spLocks xmlns:a="http://schemas.openxmlformats.org/drawingml/2006/main" noGrp="1"/>
          </p:cNvSpPr>
          <p:nvPr/>
        </p:nvSpPr>
        <p:spPr>
          <a:xfrm xmlns:a="http://schemas.openxmlformats.org/drawingml/2006/main">
            <a:off x="495300" y="12573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دقت کنش به‌تنهایی افت تبار را نمی‌بیند؛ معیارهای ایمنی سازوکارهای متفاوت را آشکار می‌کنند.</a:t>
            </a:r>
          </a:p>
        </p:txBody>
      </p:sp>
      <p:graphicFrame>
        <p:nvGraphicFramePr>
          <p:cNvPr id="9" name=""/>
          <p:cNvGraphicFramePr/>
          <p:nvPr/>
        </p:nvGraphicFramePr>
        <p:xfrm>
          <a:off xmlns:a="http://schemas.openxmlformats.org/drawingml/2006/main" x="495300" y="2095500"/>
          <a:ext xmlns:a="http://schemas.openxmlformats.org/drawingml/2006/main" cx="11201400" cy="3848100"/>
        </p:xfrm>
        <a:graphic xmlns:a="http://schemas.openxmlformats.org/drawingml/2006/main">
          <a:graphicData uri="http://schemas.openxmlformats.org/drawingml/2006/table">
            <a:tbl>
              <a:tblPr/>
              <a:tblGrid>
                <a:gridCol w="4282888"/>
                <a:gridCol w="1647265"/>
                <a:gridCol w="1647265"/>
                <a:gridCol w="3623982"/>
              </a:tblGrid>
              <a:tr h="641350">
                <a:tc>
                  <a:txBody>
                    <a:bodyPr/>
                    <a:lstStyle/>
                    <a:p>
                      <a:pPr algn="r"/>
                      <a:r>
                        <a:rPr sz="1425" b="1">
                          <a:solidFill>
                            <a:srgbClr val="111111"/>
                          </a:solidFill>
                          <a:latin typeface="Arial"/>
                          <a:ea typeface="Arial"/>
                          <a:cs typeface="Arial"/>
                        </a:rPr>
                        <a:t>امضای اندازه‌گیری‌شده</a:t>
                      </a:r>
                    </a:p>
                  </a:txBody>
                  <a:tcPr marL="91440" marR="91440" marT="45720" marB="45720">
                    <a:solidFill>
                      <a:srgbClr val="DCEBFA"/>
                    </a:solidFill>
                  </a:tcPr>
                </a:tc>
                <a:tc>
                  <a:txBody>
                    <a:bodyPr/>
                    <a:lstStyle/>
                    <a:p>
                      <a:pPr algn="r"/>
                      <a:r>
                        <a:rPr sz="1425" b="1">
                          <a:solidFill>
                            <a:srgbClr val="111111"/>
                          </a:solidFill>
                          <a:latin typeface="Arial"/>
                          <a:ea typeface="Arial"/>
                          <a:cs typeface="Arial"/>
                        </a:rPr>
                        <a:t>F1 کلان</a:t>
                      </a:r>
                    </a:p>
                  </a:txBody>
                  <a:tcPr marL="91440" marR="91440" marT="45720" marB="45720">
                    <a:solidFill>
                      <a:srgbClr val="DCEBFA"/>
                    </a:solidFill>
                  </a:tcPr>
                </a:tc>
                <a:tc>
                  <a:txBody>
                    <a:bodyPr/>
                    <a:lstStyle/>
                    <a:p>
                      <a:pPr algn="r"/>
                      <a:r>
                        <a:rPr sz="1425" b="1">
                          <a:solidFill>
                            <a:srgbClr val="111111"/>
                          </a:solidFill>
                          <a:latin typeface="Arial"/>
                          <a:ea typeface="Arial"/>
                          <a:cs typeface="Arial"/>
                        </a:rPr>
                        <a:t>دقت</a:t>
                      </a:r>
                    </a:p>
                  </a:txBody>
                  <a:tcPr marL="91440" marR="91440" marT="45720" marB="45720">
                    <a:solidFill>
                      <a:srgbClr val="DCEBFA"/>
                    </a:solidFill>
                  </a:tcPr>
                </a:tc>
                <a:tc>
                  <a:txBody>
                    <a:bodyPr/>
                    <a:lstStyle/>
                    <a:p>
                      <a:pPr algn="r"/>
                      <a:r>
                        <a:rPr sz="1425" b="1">
                          <a:solidFill>
                            <a:srgbClr val="111111"/>
                          </a:solidFill>
                          <a:latin typeface="Arial"/>
                          <a:ea typeface="Arial"/>
                          <a:cs typeface="Arial"/>
                        </a:rPr>
                        <a:t>سامانه</a:t>
                      </a:r>
                    </a:p>
                  </a:txBody>
                  <a:tcPr marL="91440" marR="91440" marT="45720" marB="45720">
                    <a:solidFill>
                      <a:srgbClr val="DCEBFA"/>
                    </a:solidFill>
                  </a:tcPr>
                </a:tc>
              </a:tr>
              <a:tr h="641350">
                <a:tc>
                  <a:txBody>
                    <a:bodyPr/>
                    <a:lstStyle/>
                    <a:p>
                      <a:pPr algn="r"/>
                      <a:r>
                        <a:rPr sz="1350" b="0">
                          <a:solidFill>
                            <a:srgbClr val="111111"/>
                          </a:solidFill>
                          <a:latin typeface="Arial"/>
                          <a:ea typeface="Arial"/>
                          <a:cs typeface="Arial"/>
                        </a:rPr>
                        <a:t>ثبت نامعتبر 0.0</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0.9399</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0.9222</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KSA کامل</a:t>
                      </a:r>
                    </a:p>
                  </a:txBody>
                  <a:tcPr marL="91440" marR="91440" marT="45720" marB="45720">
                    <a:solidFill>
                      <a:srgbClr val="F7F7F7"/>
                    </a:solidFill>
                  </a:tcPr>
                </a:tc>
              </a:tr>
              <a:tr h="641350">
                <a:tc>
                  <a:txBody>
                    <a:bodyPr/>
                    <a:lstStyle/>
                    <a:p>
                      <a:pPr algn="r"/>
                      <a:r>
                        <a:rPr sz="1350" b="0">
                          <a:solidFill>
                            <a:srgbClr val="111111"/>
                          </a:solidFill>
                          <a:latin typeface="Arial"/>
                          <a:ea typeface="Arial"/>
                          <a:cs typeface="Arial"/>
                        </a:rPr>
                        <a:t>ثبت نامعتبر ← 1.0</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0.4278</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0.5556</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بدون خودداری</a:t>
                      </a:r>
                    </a:p>
                  </a:txBody>
                  <a:tcPr marL="91440" marR="91440" marT="45720" marB="45720">
                    <a:solidFill>
                      <a:srgbClr val="FFFFFF"/>
                    </a:solidFill>
                  </a:tcPr>
                </a:tc>
              </a:tr>
              <a:tr h="641350">
                <a:tc>
                  <a:txBody>
                    <a:bodyPr/>
                    <a:lstStyle/>
                    <a:p>
                      <a:pPr algn="r"/>
                      <a:r>
                        <a:rPr sz="1350" b="0">
                          <a:solidFill>
                            <a:srgbClr val="111111"/>
                          </a:solidFill>
                          <a:latin typeface="Arial"/>
                          <a:ea typeface="Arial"/>
                          <a:cs typeface="Arial"/>
                        </a:rPr>
                        <a:t>ثبت نامعتبر ← 0.606</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0.7428</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0.7000</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بدون منشأ</a:t>
                      </a:r>
                    </a:p>
                  </a:txBody>
                  <a:tcPr marL="91440" marR="91440" marT="45720" marB="45720">
                    <a:solidFill>
                      <a:srgbClr val="F7F7F7"/>
                    </a:solidFill>
                  </a:tcPr>
                </a:tc>
              </a:tr>
              <a:tr h="641350">
                <a:tc>
                  <a:txBody>
                    <a:bodyPr/>
                    <a:lstStyle/>
                    <a:p>
                      <a:pPr algn="r"/>
                      <a:r>
                        <a:rPr sz="1350" b="0">
                          <a:solidFill>
                            <a:srgbClr val="111111"/>
                          </a:solidFill>
                          <a:latin typeface="Arial"/>
                          <a:ea typeface="Arial"/>
                          <a:cs typeface="Arial"/>
                        </a:rPr>
                        <a:t>F1 نگه‌داری ← 0.0</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0.5680</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0.7889</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بدون نوع</a:t>
                      </a:r>
                    </a:p>
                  </a:txBody>
                  <a:tcPr marL="91440" marR="91440" marT="45720" marB="45720">
                    <a:solidFill>
                      <a:srgbClr val="FFFFFF"/>
                    </a:solidFill>
                  </a:tcPr>
                </a:tc>
              </a:tr>
              <a:tr h="641350">
                <a:tc>
                  <a:txBody>
                    <a:bodyPr/>
                    <a:lstStyle/>
                    <a:p>
                      <a:pPr algn="r"/>
                      <a:r>
                        <a:rPr sz="1350" b="0">
                          <a:solidFill>
                            <a:srgbClr val="111111"/>
                          </a:solidFill>
                          <a:latin typeface="Arial"/>
                          <a:ea typeface="Arial"/>
                          <a:cs typeface="Arial"/>
                        </a:rPr>
                        <a:t>تبار 0.8556 ← 0.3689</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0.9222</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بدون تبار</a:t>
                      </a:r>
                    </a:p>
                  </a:txBody>
                  <a:tcPr marL="91440" marR="91440" marT="45720" marB="45720">
                    <a:solidFill>
                      <a:srgbClr val="F7F7F7"/>
                    </a:solidFill>
                  </a:tcPr>
                </a:tc>
              </a:tr>
            </a:tbl>
          </a:graphicData>
        </a:graphic>
      </p:graphicFrame>
      <p:sp>
        <p:nvSpPr>
          <p:cNvPr id="5" name="">
            <a:extLst xmlns:a="http://schemas.openxmlformats.org/drawingml/2006/main">
              <a:ext uri="{FF2B5EF4-FFF2-40B4-BE49-F238E27FC236}">
                <a16:creationId xmlns:a16="http://schemas.microsoft.com/office/drawing/2014/main" id="{417D7D1E-1388-476B-BB7C-36B1304204E6}"/>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اجرای کامل حذف مؤلفه‌های MGP-6</a:t>
            </a:r>
          </a:p>
        </p:txBody>
      </p:sp>
    </p:spTree>
    <p:extLst>
      <p:ext uri="{BB962C8B-B14F-4D97-AF65-F5344CB8AC3E}">
        <p14:creationId xmlns:p14="http://schemas.microsoft.com/office/powerpoint/2010/main" val="10361539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1D01C95-CB54-4C31-A4B9-C8459C088604}"/>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امتیاز سامانه‌های بیرونی به نگاشت NOOP وابسته است</a:t>
            </a:r>
          </a:p>
        </p:txBody>
      </p:sp>
      <p:sp>
        <p:nvSpPr>
          <p:cNvPr id="2" name="">
            <a:extLst xmlns:a="http://schemas.openxmlformats.org/drawingml/2006/main">
              <a:ext uri="{FF2B5EF4-FFF2-40B4-BE49-F238E27FC236}">
                <a16:creationId xmlns:a16="http://schemas.microsoft.com/office/drawing/2014/main" id="{D22DC391-29C9-49D4-A53B-D919EC863DDF}"/>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14</a:t>
            </a:r>
          </a:p>
        </p:txBody>
      </p:sp>
      <p:graphicFrame>
        <p:nvGraphicFramePr>
          <p:cNvPr id="10" name="Chart"/>
          <p:cNvGraphicFramePr/>
          <p:nvPr/>
        </p:nvGraphicFramePr>
        <p:xfrm>
          <a:off xmlns:a="http://schemas.openxmlformats.org/drawingml/2006/main" x="457200" y="1381125"/>
          <a:ext xmlns:a="http://schemas.openxmlformats.org/drawingml/2006/main" cx="7000875" cy="4762500"/>
        </p:xfrm>
        <a:graphic xmlns:a="http://schemas.openxmlformats.org/drawingml/2006/main">
          <a:graphicData uri="http://schemas.openxmlformats.org/drawingml/2006/chart">
            <c:chart xmlns:r="http://schemas.openxmlformats.org/officeDocument/2006/relationships" xmlns:c="http://schemas.openxmlformats.org/drawingml/2006/chart" r:id="R522264b53c2b4106"/>
          </a:graphicData>
        </a:graphic>
      </p:graphicFrame>
      <p:sp>
        <p:nvSpPr>
          <p:cNvPr id="4" name="">
            <a:extLst xmlns:a="http://schemas.openxmlformats.org/drawingml/2006/main">
              <a:ext uri="{FF2B5EF4-FFF2-40B4-BE49-F238E27FC236}">
                <a16:creationId xmlns:a16="http://schemas.microsoft.com/office/drawing/2014/main" id="{AEA37EC7-1037-45ED-8C67-17A0FC68F071}"/>
              </a:ext>
            </a:extLst>
          </p:cNvPr>
          <p:cNvSpPr>
            <a:spLocks xmlns:a="http://schemas.openxmlformats.org/drawingml/2006/main" noGrp="1"/>
          </p:cNvSpPr>
          <p:nvPr/>
        </p:nvSpPr>
        <p:spPr>
          <a:xfrm xmlns:a="http://schemas.openxmlformats.org/drawingml/2006/main">
            <a:off x="7858125" y="1600200"/>
            <a:ext cx="3838575" cy="3981450"/>
          </a:xfrm>
          <a:prstGeom xmlns:a="http://schemas.openxmlformats.org/drawingml/2006/main" prst="rect">
            <a:avLst/>
          </a:prstGeom>
          <a:solidFill xmlns:a="http://schemas.openxmlformats.org/drawingml/2006/main">
            <a:srgbClr val="F2F2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3F43E43-08E0-4793-BBC0-76CBE2E23247}"/>
              </a:ext>
            </a:extLst>
          </p:cNvPr>
          <p:cNvSpPr>
            <a:spLocks xmlns:a="http://schemas.openxmlformats.org/drawingml/2006/main" noGrp="1"/>
          </p:cNvSpPr>
          <p:nvPr/>
        </p:nvSpPr>
        <p:spPr>
          <a:xfrm xmlns:a="http://schemas.openxmlformats.org/drawingml/2006/main">
            <a:off x="8143875" y="1962150"/>
            <a:ext cx="32670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3D8DFF"/>
                </a:solidFill>
                <a:latin typeface="Arial"/>
                <a:ea typeface="Arial"/>
                <a:cs typeface="Arial"/>
              </a:defRPr>
            </a:pPr>
            <a:r>
              <a:rPr sz="1950" b="1">
                <a:solidFill>
                  <a:srgbClr val="3D8DFF"/>
                </a:solidFill>
                <a:latin typeface="Arial"/>
                <a:ea typeface="Arial"/>
                <a:cs typeface="Arial"/>
              </a:rPr>
              <a:t>کران وابسته به نگاشت</a:t>
            </a:r>
          </a:p>
        </p:txBody>
      </p:sp>
      <p:sp>
        <p:nvSpPr>
          <p:cNvPr id="6" name="">
            <a:extLst xmlns:a="http://schemas.openxmlformats.org/drawingml/2006/main">
              <a:ext uri="{FF2B5EF4-FFF2-40B4-BE49-F238E27FC236}">
                <a16:creationId xmlns:a16="http://schemas.microsoft.com/office/drawing/2014/main" id="{899DBFF4-FA82-4207-B3FF-1FAB69084BF4}"/>
              </a:ext>
            </a:extLst>
          </p:cNvPr>
          <p:cNvSpPr>
            <a:spLocks xmlns:a="http://schemas.openxmlformats.org/drawingml/2006/main" noGrp="1"/>
          </p:cNvSpPr>
          <p:nvPr/>
        </p:nvSpPr>
        <p:spPr>
          <a:xfrm xmlns:a="http://schemas.openxmlformats.org/drawingml/2006/main">
            <a:off x="8143875" y="2762250"/>
            <a:ext cx="3267075"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این رابط‌ها معنای کنش KSA را مستقیماً ارائه نمی‌کنند. هر دو نگاشت باید گزارش شود.</a:t>
            </a:r>
          </a:p>
          <a:p xmlns:a="http://schemas.openxmlformats.org/drawingml/2006/main">
            <a:r>
              <a:t/>
            </a:r>
          </a:p>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MemOS با امتیاز 0.144 فقط تشخیصی است، چون جایگزینی در رابط مشاهده‌پذیر نیست.</a:t>
            </a:r>
          </a:p>
        </p:txBody>
      </p:sp>
      <p:sp>
        <p:nvSpPr>
          <p:cNvPr id="7" name="">
            <a:extLst xmlns:a="http://schemas.openxmlformats.org/drawingml/2006/main">
              <a:ext uri="{FF2B5EF4-FFF2-40B4-BE49-F238E27FC236}">
                <a16:creationId xmlns:a16="http://schemas.microsoft.com/office/drawing/2014/main" id="{FA41FA8E-D2AF-4D59-9B92-39828210D68B}"/>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گزارش‌های رابط سامانه‌های بیرونی؛ دفتر نتایج v1.1</a:t>
            </a:r>
          </a:p>
        </p:txBody>
      </p:sp>
    </p:spTree>
    <p:extLst>
      <p:ext uri="{BB962C8B-B14F-4D97-AF65-F5344CB8AC3E}">
        <p14:creationId xmlns:p14="http://schemas.microsoft.com/office/powerpoint/2010/main" val="211399637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47F889E-DA8B-4F68-95C0-B6A251404A53}"/>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شواهد برچسب‌گذاری قوی است، اما فقط یک برچسب‌زن مستقل دارد</a:t>
            </a:r>
          </a:p>
        </p:txBody>
      </p:sp>
      <p:sp>
        <p:nvSpPr>
          <p:cNvPr id="2" name="">
            <a:extLst xmlns:a="http://schemas.openxmlformats.org/drawingml/2006/main">
              <a:ext uri="{FF2B5EF4-FFF2-40B4-BE49-F238E27FC236}">
                <a16:creationId xmlns:a16="http://schemas.microsoft.com/office/drawing/2014/main" id="{F48D53FE-EDC1-46D5-9BF2-320EDBF9A9B3}"/>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8F54CB07-9103-4113-8A49-E2EF009B6B54}"/>
              </a:ext>
            </a:extLst>
          </p:cNvPr>
          <p:cNvSpPr>
            <a:spLocks xmlns:a="http://schemas.openxmlformats.org/drawingml/2006/main" noGrp="1"/>
          </p:cNvSpPr>
          <p:nvPr/>
        </p:nvSpPr>
        <p:spPr>
          <a:xfrm xmlns:a="http://schemas.openxmlformats.org/drawingml/2006/main">
            <a:off x="495300" y="1266825"/>
            <a:ext cx="11201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650" b="0">
                <a:solidFill>
                  <a:srgbClr val="5F6368"/>
                </a:solidFill>
                <a:latin typeface="Arial"/>
                <a:ea typeface="Arial"/>
                <a:cs typeface="Arial"/>
              </a:defRPr>
            </a:pPr>
            <a:r>
              <a:rPr sz="1650" b="0">
                <a:solidFill>
                  <a:srgbClr val="5F6368"/>
                </a:solidFill>
                <a:latin typeface="Arial"/>
                <a:ea typeface="Arial"/>
                <a:cs typeface="Arial"/>
              </a:rPr>
              <a:t>فقط بخش آزمون؛ برچسب خام تا دریافت رضایت بازتوزیع در انتشار عمومی قرار نمی‌گیرد.</a:t>
            </a:r>
          </a:p>
        </p:txBody>
      </p:sp>
      <p:sp>
        <p:nvSpPr>
          <p:cNvPr id="4" name="">
            <a:extLst xmlns:a="http://schemas.openxmlformats.org/drawingml/2006/main">
              <a:ext uri="{FF2B5EF4-FFF2-40B4-BE49-F238E27FC236}">
                <a16:creationId xmlns:a16="http://schemas.microsoft.com/office/drawing/2014/main" id="{7D7437BC-B7DB-4AF1-976C-F149E44A3086}"/>
              </a:ext>
            </a:extLst>
          </p:cNvPr>
          <p:cNvSpPr>
            <a:spLocks xmlns:a="http://schemas.openxmlformats.org/drawingml/2006/main" noGrp="1"/>
          </p:cNvSpPr>
          <p:nvPr/>
        </p:nvSpPr>
        <p:spPr>
          <a:xfrm xmlns:a="http://schemas.openxmlformats.org/drawingml/2006/main">
            <a:off x="495300" y="2238375"/>
            <a:ext cx="3562350" cy="3143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96B570D-CE40-46CE-B4BB-4D6394967CB7}"/>
              </a:ext>
            </a:extLst>
          </p:cNvPr>
          <p:cNvSpPr>
            <a:spLocks xmlns:a="http://schemas.openxmlformats.org/drawingml/2006/main" noGrp="1"/>
          </p:cNvSpPr>
          <p:nvPr/>
        </p:nvSpPr>
        <p:spPr>
          <a:xfrm xmlns:a="http://schemas.openxmlformats.org/drawingml/2006/main">
            <a:off x="800100" y="293370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3600" b="0">
                <a:solidFill>
                  <a:srgbClr val="111111"/>
                </a:solidFill>
                <a:latin typeface="Arial"/>
                <a:ea typeface="Arial"/>
                <a:cs typeface="Arial"/>
              </a:defRPr>
            </a:pPr>
            <a:r>
              <a:rPr sz="3600" b="0">
                <a:solidFill>
                  <a:srgbClr val="111111"/>
                </a:solidFill>
                <a:latin typeface="Arial"/>
                <a:ea typeface="Arial"/>
                <a:cs typeface="Arial"/>
              </a:rPr>
              <a:t>4 LLMs</a:t>
            </a:r>
          </a:p>
        </p:txBody>
      </p:sp>
      <p:sp>
        <p:nvSpPr>
          <p:cNvPr id="6" name="">
            <a:extLst xmlns:a="http://schemas.openxmlformats.org/drawingml/2006/main">
              <a:ext uri="{FF2B5EF4-FFF2-40B4-BE49-F238E27FC236}">
                <a16:creationId xmlns:a16="http://schemas.microsoft.com/office/drawing/2014/main" id="{28FDCEC6-85C5-4063-9DD8-082523730EAE}"/>
              </a:ext>
            </a:extLst>
          </p:cNvPr>
          <p:cNvSpPr>
            <a:spLocks xmlns:a="http://schemas.openxmlformats.org/drawingml/2006/main" noGrp="1"/>
          </p:cNvSpPr>
          <p:nvPr/>
        </p:nvSpPr>
        <p:spPr>
          <a:xfrm xmlns:a="http://schemas.openxmlformats.org/drawingml/2006/main">
            <a:off x="800100" y="4124325"/>
            <a:ext cx="295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پنل ممیزی جداگانه؛ توافق انسانی نیست</a:t>
            </a:r>
          </a:p>
        </p:txBody>
      </p:sp>
      <p:sp>
        <p:nvSpPr>
          <p:cNvPr id="7" name="">
            <a:extLst xmlns:a="http://schemas.openxmlformats.org/drawingml/2006/main">
              <a:ext uri="{FF2B5EF4-FFF2-40B4-BE49-F238E27FC236}">
                <a16:creationId xmlns:a16="http://schemas.microsoft.com/office/drawing/2014/main" id="{248B2369-8270-425A-8F91-6ACC5963BDB9}"/>
              </a:ext>
            </a:extLst>
          </p:cNvPr>
          <p:cNvSpPr>
            <a:spLocks xmlns:a="http://schemas.openxmlformats.org/drawingml/2006/main" noGrp="1"/>
          </p:cNvSpPr>
          <p:nvPr/>
        </p:nvSpPr>
        <p:spPr>
          <a:xfrm xmlns:a="http://schemas.openxmlformats.org/drawingml/2006/main">
            <a:off x="4314825" y="2238375"/>
            <a:ext cx="3562350" cy="3143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ABD0493-2DAF-4C56-A670-D91C53AEF304}"/>
              </a:ext>
            </a:extLst>
          </p:cNvPr>
          <p:cNvSpPr>
            <a:spLocks xmlns:a="http://schemas.openxmlformats.org/drawingml/2006/main" noGrp="1"/>
          </p:cNvSpPr>
          <p:nvPr/>
        </p:nvSpPr>
        <p:spPr>
          <a:xfrm xmlns:a="http://schemas.openxmlformats.org/drawingml/2006/main">
            <a:off x="4619625" y="293370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3600" b="0">
                <a:solidFill>
                  <a:srgbClr val="3D8DFF"/>
                </a:solidFill>
                <a:latin typeface="Arial"/>
                <a:ea typeface="Arial"/>
                <a:cs typeface="Arial"/>
              </a:defRPr>
            </a:pPr>
            <a:r>
              <a:rPr sz="3600" b="0">
                <a:solidFill>
                  <a:srgbClr val="3D8DFF"/>
                </a:solidFill>
                <a:latin typeface="Arial"/>
                <a:ea typeface="Arial"/>
                <a:cs typeface="Arial"/>
              </a:rPr>
              <a:t>κ=0.981</a:t>
            </a:r>
          </a:p>
        </p:txBody>
      </p:sp>
      <p:sp>
        <p:nvSpPr>
          <p:cNvPr id="9" name="">
            <a:extLst xmlns:a="http://schemas.openxmlformats.org/drawingml/2006/main">
              <a:ext uri="{FF2B5EF4-FFF2-40B4-BE49-F238E27FC236}">
                <a16:creationId xmlns:a16="http://schemas.microsoft.com/office/drawing/2014/main" id="{A6C65908-CA97-4F78-811B-B1F5F302B672}"/>
              </a:ext>
            </a:extLst>
          </p:cNvPr>
          <p:cNvSpPr>
            <a:spLocks xmlns:a="http://schemas.openxmlformats.org/drawingml/2006/main" noGrp="1"/>
          </p:cNvSpPr>
          <p:nvPr/>
        </p:nvSpPr>
        <p:spPr>
          <a:xfrm xmlns:a="http://schemas.openxmlformats.org/drawingml/2006/main">
            <a:off x="4619625" y="4124325"/>
            <a:ext cx="295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کاپای کوهن؛ فاصلهٔ ۹۵٪: 0.940 تا 1.0</a:t>
            </a:r>
          </a:p>
        </p:txBody>
      </p:sp>
      <p:sp>
        <p:nvSpPr>
          <p:cNvPr id="10" name="">
            <a:extLst xmlns:a="http://schemas.openxmlformats.org/drawingml/2006/main">
              <a:ext uri="{FF2B5EF4-FFF2-40B4-BE49-F238E27FC236}">
                <a16:creationId xmlns:a16="http://schemas.microsoft.com/office/drawing/2014/main" id="{B8A13F3B-FB2A-4708-BA6D-8E46CCE94F7E}"/>
              </a:ext>
            </a:extLst>
          </p:cNvPr>
          <p:cNvSpPr>
            <a:spLocks xmlns:a="http://schemas.openxmlformats.org/drawingml/2006/main" noGrp="1"/>
          </p:cNvSpPr>
          <p:nvPr/>
        </p:nvSpPr>
        <p:spPr>
          <a:xfrm xmlns:a="http://schemas.openxmlformats.org/drawingml/2006/main">
            <a:off x="8134350" y="2238375"/>
            <a:ext cx="3562350" cy="3143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90FA57D-EFA1-43A9-B26C-4F4CD6CF45AC}"/>
              </a:ext>
            </a:extLst>
          </p:cNvPr>
          <p:cNvSpPr>
            <a:spLocks xmlns:a="http://schemas.openxmlformats.org/drawingml/2006/main" noGrp="1"/>
          </p:cNvSpPr>
          <p:nvPr/>
        </p:nvSpPr>
        <p:spPr>
          <a:xfrm xmlns:a="http://schemas.openxmlformats.org/drawingml/2006/main">
            <a:off x="8439150" y="293370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3600" b="0">
                <a:solidFill>
                  <a:srgbClr val="111111"/>
                </a:solidFill>
                <a:latin typeface="Arial"/>
                <a:ea typeface="Arial"/>
                <a:cs typeface="Arial"/>
              </a:defRPr>
            </a:pPr>
            <a:r>
              <a:rPr sz="3600" b="0">
                <a:solidFill>
                  <a:srgbClr val="111111"/>
                </a:solidFill>
                <a:latin typeface="Arial"/>
                <a:ea typeface="Arial"/>
                <a:cs typeface="Arial"/>
              </a:rPr>
              <a:t>89/90</a:t>
            </a:r>
          </a:p>
        </p:txBody>
      </p:sp>
      <p:sp>
        <p:nvSpPr>
          <p:cNvPr id="12" name="">
            <a:extLst xmlns:a="http://schemas.openxmlformats.org/drawingml/2006/main">
              <a:ext uri="{FF2B5EF4-FFF2-40B4-BE49-F238E27FC236}">
                <a16:creationId xmlns:a16="http://schemas.microsoft.com/office/drawing/2014/main" id="{09F96C04-E282-47AA-915E-A0513C945067}"/>
              </a:ext>
            </a:extLst>
          </p:cNvPr>
          <p:cNvSpPr>
            <a:spLocks xmlns:a="http://schemas.openxmlformats.org/drawingml/2006/main" noGrp="1"/>
          </p:cNvSpPr>
          <p:nvPr/>
        </p:nvSpPr>
        <p:spPr>
          <a:xfrm xmlns:a="http://schemas.openxmlformats.org/drawingml/2006/main">
            <a:off x="8439150" y="4124325"/>
            <a:ext cx="295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توافق مستقل روی کنش</a:t>
            </a:r>
          </a:p>
        </p:txBody>
      </p:sp>
      <p:sp>
        <p:nvSpPr>
          <p:cNvPr id="13" name="">
            <a:extLst xmlns:a="http://schemas.openxmlformats.org/drawingml/2006/main">
              <a:ext uri="{FF2B5EF4-FFF2-40B4-BE49-F238E27FC236}">
                <a16:creationId xmlns:a16="http://schemas.microsoft.com/office/drawing/2014/main" id="{698B2268-044C-4D14-90A0-DA1DB2EE8DDE}"/>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خلاصهٔ توافق انسانی و ممیزی چهارمدلی</a:t>
            </a:r>
          </a:p>
        </p:txBody>
      </p:sp>
    </p:spTree>
    <p:extLst>
      <p:ext uri="{BB962C8B-B14F-4D97-AF65-F5344CB8AC3E}">
        <p14:creationId xmlns:p14="http://schemas.microsoft.com/office/powerpoint/2010/main" val="157228447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B7D5410-9242-4A05-B251-B65447AA0178}"/>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برای LongMemEval نتیجهٔ نهایی نداریم و عدد ۷۷٫۲٪ رد می‌شود</a:t>
            </a:r>
          </a:p>
        </p:txBody>
      </p:sp>
      <p:sp>
        <p:nvSpPr>
          <p:cNvPr id="2" name="">
            <a:extLst xmlns:a="http://schemas.openxmlformats.org/drawingml/2006/main">
              <a:ext uri="{FF2B5EF4-FFF2-40B4-BE49-F238E27FC236}">
                <a16:creationId xmlns:a16="http://schemas.microsoft.com/office/drawing/2014/main" id="{1DC51C17-9CA8-437D-8F3F-F0B568A99C63}"/>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5FA4A7B4-D1CC-4B4F-9BFD-4DC012F18C62}"/>
              </a:ext>
            </a:extLst>
          </p:cNvPr>
          <p:cNvSpPr>
            <a:spLocks xmlns:a="http://schemas.openxmlformats.org/drawingml/2006/main" noGrp="1"/>
          </p:cNvSpPr>
          <p:nvPr/>
        </p:nvSpPr>
        <p:spPr>
          <a:xfrm xmlns:a="http://schemas.openxmlformats.org/drawingml/2006/main">
            <a:off x="495300" y="1257300"/>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725" b="0">
                <a:solidFill>
                  <a:srgbClr val="5F6368"/>
                </a:solidFill>
                <a:latin typeface="Arial"/>
                <a:ea typeface="Arial"/>
                <a:cs typeface="Arial"/>
              </a:defRPr>
            </a:pPr>
            <a:r>
              <a:rPr sz="1725" b="0">
                <a:solidFill>
                  <a:srgbClr val="5F6368"/>
                </a:solidFill>
                <a:latin typeface="Arial"/>
                <a:ea typeface="Arial"/>
                <a:cs typeface="Arial"/>
              </a:rPr>
              <a:t>اجرای همگن نهایی 1.1 پس از HTTP 403 و پیش از استنتاج، externally_pending است.</a:t>
            </a:r>
          </a:p>
        </p:txBody>
      </p:sp>
      <p:sp>
        <p:nvSpPr>
          <p:cNvPr id="4" name="">
            <a:extLst xmlns:a="http://schemas.openxmlformats.org/drawingml/2006/main">
              <a:ext uri="{FF2B5EF4-FFF2-40B4-BE49-F238E27FC236}">
                <a16:creationId xmlns:a16="http://schemas.microsoft.com/office/drawing/2014/main" id="{BAA03CFF-417B-4BFA-8426-AFE208E8016C}"/>
              </a:ext>
            </a:extLst>
          </p:cNvPr>
          <p:cNvSpPr>
            <a:spLocks xmlns:a="http://schemas.openxmlformats.org/drawingml/2006/main" noGrp="1"/>
          </p:cNvSpPr>
          <p:nvPr/>
        </p:nvSpPr>
        <p:spPr>
          <a:xfrm xmlns:a="http://schemas.openxmlformats.org/drawingml/2006/main">
            <a:off x="495300" y="2171700"/>
            <a:ext cx="3562350" cy="22288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870DF30-2A43-44D4-9E42-11100A4CD5CC}"/>
              </a:ext>
            </a:extLst>
          </p:cNvPr>
          <p:cNvSpPr>
            <a:spLocks xmlns:a="http://schemas.openxmlformats.org/drawingml/2006/main" noGrp="1"/>
          </p:cNvSpPr>
          <p:nvPr/>
        </p:nvSpPr>
        <p:spPr>
          <a:xfrm xmlns:a="http://schemas.openxmlformats.org/drawingml/2006/main">
            <a:off x="762000" y="2619375"/>
            <a:ext cx="302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300" b="1">
                <a:solidFill>
                  <a:srgbClr val="111111"/>
                </a:solidFill>
                <a:latin typeface="Arial"/>
                <a:ea typeface="Arial"/>
                <a:cs typeface="Arial"/>
              </a:defRPr>
            </a:pPr>
            <a:r>
              <a:rPr sz="3300" b="1">
                <a:solidFill>
                  <a:srgbClr val="111111"/>
                </a:solidFill>
                <a:latin typeface="Arial"/>
                <a:ea typeface="Arial"/>
                <a:cs typeface="Arial"/>
              </a:rPr>
              <a:t>55.6–70.0%</a:t>
            </a:r>
          </a:p>
        </p:txBody>
      </p:sp>
      <p:sp>
        <p:nvSpPr>
          <p:cNvPr id="6" name="">
            <a:extLst xmlns:a="http://schemas.openxmlformats.org/drawingml/2006/main">
              <a:ext uri="{FF2B5EF4-FFF2-40B4-BE49-F238E27FC236}">
                <a16:creationId xmlns:a16="http://schemas.microsoft.com/office/drawing/2014/main" id="{AE9CEABC-0134-4E85-B9D3-A83C0E2BD2B3}"/>
              </a:ext>
            </a:extLst>
          </p:cNvPr>
          <p:cNvSpPr>
            <a:spLocks xmlns:a="http://schemas.openxmlformats.org/drawingml/2006/main" noGrp="1"/>
          </p:cNvSpPr>
          <p:nvPr/>
        </p:nvSpPr>
        <p:spPr>
          <a:xfrm xmlns:a="http://schemas.openxmlformats.org/drawingml/2006/main">
            <a:off x="762000" y="3552825"/>
            <a:ext cx="3028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کران با حفظ چهار بازداوری Codex/GPT-5</a:t>
            </a:r>
          </a:p>
        </p:txBody>
      </p:sp>
      <p:sp>
        <p:nvSpPr>
          <p:cNvPr id="7" name="">
            <a:extLst xmlns:a="http://schemas.openxmlformats.org/drawingml/2006/main">
              <a:ext uri="{FF2B5EF4-FFF2-40B4-BE49-F238E27FC236}">
                <a16:creationId xmlns:a16="http://schemas.microsoft.com/office/drawing/2014/main" id="{D9FAADDE-FDA0-4D0C-9FC2-C201ED4A7E88}"/>
              </a:ext>
            </a:extLst>
          </p:cNvPr>
          <p:cNvSpPr>
            <a:spLocks xmlns:a="http://schemas.openxmlformats.org/drawingml/2006/main" noGrp="1"/>
          </p:cNvSpPr>
          <p:nvPr/>
        </p:nvSpPr>
        <p:spPr>
          <a:xfrm xmlns:a="http://schemas.openxmlformats.org/drawingml/2006/main">
            <a:off x="4314825" y="2171700"/>
            <a:ext cx="3562350" cy="22288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6458AC5-A4CA-497C-A7AA-01F36FBA6CA5}"/>
              </a:ext>
            </a:extLst>
          </p:cNvPr>
          <p:cNvSpPr>
            <a:spLocks xmlns:a="http://schemas.openxmlformats.org/drawingml/2006/main" noGrp="1"/>
          </p:cNvSpPr>
          <p:nvPr/>
        </p:nvSpPr>
        <p:spPr>
          <a:xfrm xmlns:a="http://schemas.openxmlformats.org/drawingml/2006/main">
            <a:off x="4581525" y="2619375"/>
            <a:ext cx="302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300" b="1">
                <a:solidFill>
                  <a:srgbClr val="3D8DFF"/>
                </a:solidFill>
                <a:latin typeface="Arial"/>
                <a:ea typeface="Arial"/>
                <a:cs typeface="Arial"/>
              </a:defRPr>
            </a:pPr>
            <a:r>
              <a:rPr sz="3300" b="1">
                <a:solidFill>
                  <a:srgbClr val="3D8DFF"/>
                </a:solidFill>
                <a:latin typeface="Arial"/>
                <a:ea typeface="Arial"/>
                <a:cs typeface="Arial"/>
              </a:rPr>
              <a:t>53.3–67.8%</a:t>
            </a:r>
          </a:p>
        </p:txBody>
      </p:sp>
      <p:sp>
        <p:nvSpPr>
          <p:cNvPr id="9" name="">
            <a:extLst xmlns:a="http://schemas.openxmlformats.org/drawingml/2006/main">
              <a:ext uri="{FF2B5EF4-FFF2-40B4-BE49-F238E27FC236}">
                <a16:creationId xmlns:a16="http://schemas.microsoft.com/office/drawing/2014/main" id="{968949B2-C9FC-4A00-A037-5479661126E0}"/>
              </a:ext>
            </a:extLst>
          </p:cNvPr>
          <p:cNvSpPr>
            <a:spLocks xmlns:a="http://schemas.openxmlformats.org/drawingml/2006/main" noGrp="1"/>
          </p:cNvSpPr>
          <p:nvPr/>
        </p:nvSpPr>
        <p:spPr>
          <a:xfrm xmlns:a="http://schemas.openxmlformats.org/drawingml/2006/main">
            <a:off x="4581525" y="3552825"/>
            <a:ext cx="3028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کران بدبینانه/خوش‌بینانهٔ خام روی ۱۸۰</a:t>
            </a:r>
          </a:p>
        </p:txBody>
      </p:sp>
      <p:sp>
        <p:nvSpPr>
          <p:cNvPr id="10" name="">
            <a:extLst xmlns:a="http://schemas.openxmlformats.org/drawingml/2006/main">
              <a:ext uri="{FF2B5EF4-FFF2-40B4-BE49-F238E27FC236}">
                <a16:creationId xmlns:a16="http://schemas.microsoft.com/office/drawing/2014/main" id="{D1BAEFDE-62D5-4A38-94A1-63DA8436F105}"/>
              </a:ext>
            </a:extLst>
          </p:cNvPr>
          <p:cNvSpPr>
            <a:spLocks xmlns:a="http://schemas.openxmlformats.org/drawingml/2006/main" noGrp="1"/>
          </p:cNvSpPr>
          <p:nvPr/>
        </p:nvSpPr>
        <p:spPr>
          <a:xfrm xmlns:a="http://schemas.openxmlformats.org/drawingml/2006/main">
            <a:off x="8134350" y="2171700"/>
            <a:ext cx="3562350" cy="22288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01AE738-11F8-48B5-B557-22568A48A84F}"/>
              </a:ext>
            </a:extLst>
          </p:cNvPr>
          <p:cNvSpPr>
            <a:spLocks xmlns:a="http://schemas.openxmlformats.org/drawingml/2006/main" noGrp="1"/>
          </p:cNvSpPr>
          <p:nvPr/>
        </p:nvSpPr>
        <p:spPr>
          <a:xfrm xmlns:a="http://schemas.openxmlformats.org/drawingml/2006/main">
            <a:off x="8401050" y="2619375"/>
            <a:ext cx="302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300" b="1">
                <a:solidFill>
                  <a:srgbClr val="111111"/>
                </a:solidFill>
                <a:latin typeface="Arial"/>
                <a:ea typeface="Arial"/>
                <a:cs typeface="Arial"/>
              </a:defRPr>
            </a:pPr>
            <a:r>
              <a:rPr sz="3300" b="1">
                <a:solidFill>
                  <a:srgbClr val="111111"/>
                </a:solidFill>
                <a:latin typeface="Arial"/>
                <a:ea typeface="Arial"/>
                <a:cs typeface="Arial"/>
              </a:rPr>
              <a:t>96/154</a:t>
            </a:r>
          </a:p>
        </p:txBody>
      </p:sp>
      <p:sp>
        <p:nvSpPr>
          <p:cNvPr id="12" name="">
            <a:extLst xmlns:a="http://schemas.openxmlformats.org/drawingml/2006/main">
              <a:ext uri="{FF2B5EF4-FFF2-40B4-BE49-F238E27FC236}">
                <a16:creationId xmlns:a16="http://schemas.microsoft.com/office/drawing/2014/main" id="{763731E2-3A00-44A3-8FC2-9C3DCBF35B33}"/>
              </a:ext>
            </a:extLst>
          </p:cNvPr>
          <p:cNvSpPr>
            <a:spLocks xmlns:a="http://schemas.openxmlformats.org/drawingml/2006/main" noGrp="1"/>
          </p:cNvSpPr>
          <p:nvPr/>
        </p:nvSpPr>
        <p:spPr>
          <a:xfrm xmlns:a="http://schemas.openxmlformats.org/drawingml/2006/main">
            <a:off x="8401050" y="3552825"/>
            <a:ext cx="3028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111"/>
                </a:solidFill>
                <a:latin typeface="Arial"/>
                <a:ea typeface="Arial"/>
                <a:cs typeface="Arial"/>
              </a:defRPr>
            </a:pPr>
            <a:r>
              <a:rPr sz="1500" b="0">
                <a:solidFill>
                  <a:srgbClr val="111111"/>
                </a:solidFill>
                <a:latin typeface="Arial"/>
                <a:ea typeface="Arial"/>
                <a:cs typeface="Arial"/>
              </a:rPr>
              <a:t>تعداد درست خام در موارد مشاهده‌شده</a:t>
            </a:r>
          </a:p>
        </p:txBody>
      </p:sp>
      <p:sp>
        <p:nvSpPr>
          <p:cNvPr id="13" name="">
            <a:extLst xmlns:a="http://schemas.openxmlformats.org/drawingml/2006/main">
              <a:ext uri="{FF2B5EF4-FFF2-40B4-BE49-F238E27FC236}">
                <a16:creationId xmlns:a16="http://schemas.microsoft.com/office/drawing/2014/main" id="{F84FE328-7E77-43D5-B872-0A336FA22106}"/>
              </a:ext>
            </a:extLst>
          </p:cNvPr>
          <p:cNvSpPr>
            <a:spLocks xmlns:a="http://schemas.openxmlformats.org/drawingml/2006/main" noGrp="1"/>
          </p:cNvSpPr>
          <p:nvPr/>
        </p:nvSpPr>
        <p:spPr>
          <a:xfrm xmlns:a="http://schemas.openxmlformats.org/drawingml/2006/main">
            <a:off x="1866900" y="4810125"/>
            <a:ext cx="8458200" cy="933450"/>
          </a:xfrm>
          <a:prstGeom xmlns:a="http://schemas.openxmlformats.org/drawingml/2006/main" prst="rect">
            <a:avLst/>
          </a:prstGeom>
          <a:solidFill xmlns:a="http://schemas.openxmlformats.org/drawingml/2006/main">
            <a:srgbClr val="FDECEC"/>
          </a:solidFill>
          <a:ln xmlns:a="http://schemas.openxmlformats.org/drawingml/2006/main" w="9525">
            <a:solidFill>
              <a:srgbClr val="B42318"/>
            </a:solidFill>
            <a:prstDash val="solid"/>
          </a:ln>
        </p:spPr>
      </p:sp>
      <p:sp>
        <p:nvSpPr>
          <p:cNvPr id="14" name="">
            <a:extLst xmlns:a="http://schemas.openxmlformats.org/drawingml/2006/main">
              <a:ext uri="{FF2B5EF4-FFF2-40B4-BE49-F238E27FC236}">
                <a16:creationId xmlns:a16="http://schemas.microsoft.com/office/drawing/2014/main" id="{8D2FC90A-C7EF-4C3C-935B-563C314F6EDF}"/>
              </a:ext>
            </a:extLst>
          </p:cNvPr>
          <p:cNvSpPr>
            <a:spLocks xmlns:a="http://schemas.openxmlformats.org/drawingml/2006/main" noGrp="1"/>
          </p:cNvSpPr>
          <p:nvPr/>
        </p:nvSpPr>
        <p:spPr>
          <a:xfrm xmlns:a="http://schemas.openxmlformats.org/drawingml/2006/main">
            <a:off x="2171700" y="5010150"/>
            <a:ext cx="7848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B42318"/>
                </a:solidFill>
                <a:latin typeface="Arial"/>
                <a:ea typeface="Arial"/>
                <a:cs typeface="Arial"/>
              </a:defRPr>
            </a:pPr>
            <a:r>
              <a:rPr sz="1650" b="1">
                <a:solidFill>
                  <a:srgbClr val="B42318"/>
                </a:solidFill>
                <a:latin typeface="Arial"/>
                <a:ea typeface="Arial"/>
                <a:cs typeface="Arial"/>
              </a:rPr>
              <a:t>ساخت تاریخی ۱۳۹/۱۸۰ = ۷۷٫۲٪ فقط شکست‌های قبلی را بازپخش و موفقیت‌ها را حمل کرده است؛ failure_replay_only است، نه نتیجه.</a:t>
            </a:r>
          </a:p>
        </p:txBody>
      </p:sp>
      <p:sp>
        <p:nvSpPr>
          <p:cNvPr id="15" name="">
            <a:extLst xmlns:a="http://schemas.openxmlformats.org/drawingml/2006/main">
              <a:ext uri="{FF2B5EF4-FFF2-40B4-BE49-F238E27FC236}">
                <a16:creationId xmlns:a16="http://schemas.microsoft.com/office/drawing/2014/main" id="{561C462A-F5A7-402F-A242-C025C78FB3D1}"/>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حقیقت علمی LongMemEval و بازسازی اجراها</a:t>
            </a:r>
          </a:p>
        </p:txBody>
      </p:sp>
    </p:spTree>
    <p:extLst>
      <p:ext uri="{BB962C8B-B14F-4D97-AF65-F5344CB8AC3E}">
        <p14:creationId xmlns:p14="http://schemas.microsoft.com/office/powerpoint/2010/main" val="66354586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062A725-C062-4DC3-BB62-43EA80ADB3F5}"/>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ترجیحات تک‌جلسه‌ای دشوارترین توانایی پایین‌دستی است</a:t>
            </a:r>
          </a:p>
        </p:txBody>
      </p:sp>
      <p:sp>
        <p:nvSpPr>
          <p:cNvPr id="2" name="">
            <a:extLst xmlns:a="http://schemas.openxmlformats.org/drawingml/2006/main">
              <a:ext uri="{FF2B5EF4-FFF2-40B4-BE49-F238E27FC236}">
                <a16:creationId xmlns:a16="http://schemas.microsoft.com/office/drawing/2014/main" id="{3D9863BC-0205-431D-AA35-7A7E02469B6F}"/>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40C88686-AC05-4F7B-8E8B-EEA590F2EC93}"/>
              </a:ext>
            </a:extLst>
          </p:cNvPr>
          <p:cNvSpPr>
            <a:spLocks xmlns:a="http://schemas.openxmlformats.org/drawingml/2006/main" noGrp="1"/>
          </p:cNvSpPr>
          <p:nvPr/>
        </p:nvSpPr>
        <p:spPr>
          <a:xfrm xmlns:a="http://schemas.openxmlformats.org/drawingml/2006/main">
            <a:off x="495300" y="1266825"/>
            <a:ext cx="11201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650" b="0">
                <a:solidFill>
                  <a:srgbClr val="5F6368"/>
                </a:solidFill>
                <a:latin typeface="Arial"/>
                <a:ea typeface="Arial"/>
                <a:cs typeface="Arial"/>
              </a:defRPr>
            </a:pPr>
            <a:r>
              <a:rPr sz="1650" b="0">
                <a:solidFill>
                  <a:srgbClr val="5F6368"/>
                </a:solidFill>
                <a:latin typeface="Arial"/>
                <a:ea typeface="Arial"/>
                <a:cs typeface="Arial"/>
              </a:rPr>
              <a:t>پرامپت بازپخش با v7 متفاوت بود؛ بنابراین ۰/۱۹ اثر خالص مدل پاسخ را جدا نمی‌کند.</a:t>
            </a:r>
          </a:p>
        </p:txBody>
      </p:sp>
      <p:sp>
        <p:nvSpPr>
          <p:cNvPr id="4" name="">
            <a:extLst xmlns:a="http://schemas.openxmlformats.org/drawingml/2006/main">
              <a:ext uri="{FF2B5EF4-FFF2-40B4-BE49-F238E27FC236}">
                <a16:creationId xmlns:a16="http://schemas.microsoft.com/office/drawing/2014/main" id="{7F99AF1E-3112-448E-BA8F-393AB787BACD}"/>
              </a:ext>
            </a:extLst>
          </p:cNvPr>
          <p:cNvSpPr>
            <a:spLocks xmlns:a="http://schemas.openxmlformats.org/drawingml/2006/main" noGrp="1"/>
          </p:cNvSpPr>
          <p:nvPr/>
        </p:nvSpPr>
        <p:spPr>
          <a:xfrm xmlns:a="http://schemas.openxmlformats.org/drawingml/2006/main">
            <a:off x="495300" y="2238375"/>
            <a:ext cx="3562350" cy="3143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F1F231E-0CDF-4065-89CB-5B886C0A304A}"/>
              </a:ext>
            </a:extLst>
          </p:cNvPr>
          <p:cNvSpPr>
            <a:spLocks xmlns:a="http://schemas.openxmlformats.org/drawingml/2006/main" noGrp="1"/>
          </p:cNvSpPr>
          <p:nvPr/>
        </p:nvSpPr>
        <p:spPr>
          <a:xfrm xmlns:a="http://schemas.openxmlformats.org/drawingml/2006/main">
            <a:off x="800100" y="293370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3600" b="0">
                <a:solidFill>
                  <a:srgbClr val="111111"/>
                </a:solidFill>
                <a:latin typeface="Arial"/>
                <a:ea typeface="Arial"/>
                <a:cs typeface="Arial"/>
              </a:defRPr>
            </a:pPr>
            <a:r>
              <a:rPr sz="3600" b="0">
                <a:solidFill>
                  <a:srgbClr val="111111"/>
                </a:solidFill>
                <a:latin typeface="Arial"/>
                <a:ea typeface="Arial"/>
                <a:cs typeface="Arial"/>
              </a:rPr>
              <a:t>12/19</a:t>
            </a:r>
          </a:p>
        </p:txBody>
      </p:sp>
      <p:sp>
        <p:nvSpPr>
          <p:cNvPr id="6" name="">
            <a:extLst xmlns:a="http://schemas.openxmlformats.org/drawingml/2006/main">
              <a:ext uri="{FF2B5EF4-FFF2-40B4-BE49-F238E27FC236}">
                <a16:creationId xmlns:a16="http://schemas.microsoft.com/office/drawing/2014/main" id="{5600D705-A2CB-4E60-8E61-642B76AF7356}"/>
              </a:ext>
            </a:extLst>
          </p:cNvPr>
          <p:cNvSpPr>
            <a:spLocks xmlns:a="http://schemas.openxmlformats.org/drawingml/2006/main" noGrp="1"/>
          </p:cNvSpPr>
          <p:nvPr/>
        </p:nvSpPr>
        <p:spPr>
          <a:xfrm xmlns:a="http://schemas.openxmlformats.org/drawingml/2006/main">
            <a:off x="800100" y="4124325"/>
            <a:ext cx="295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خطاهای منسوب به رتبه‌بندی بازیابی</a:t>
            </a:r>
          </a:p>
        </p:txBody>
      </p:sp>
      <p:sp>
        <p:nvSpPr>
          <p:cNvPr id="7" name="">
            <a:extLst xmlns:a="http://schemas.openxmlformats.org/drawingml/2006/main">
              <a:ext uri="{FF2B5EF4-FFF2-40B4-BE49-F238E27FC236}">
                <a16:creationId xmlns:a16="http://schemas.microsoft.com/office/drawing/2014/main" id="{DC5D6AC6-D4C5-4A36-B7C8-B1B808922238}"/>
              </a:ext>
            </a:extLst>
          </p:cNvPr>
          <p:cNvSpPr>
            <a:spLocks xmlns:a="http://schemas.openxmlformats.org/drawingml/2006/main" noGrp="1"/>
          </p:cNvSpPr>
          <p:nvPr/>
        </p:nvSpPr>
        <p:spPr>
          <a:xfrm xmlns:a="http://schemas.openxmlformats.org/drawingml/2006/main">
            <a:off x="4314825" y="2238375"/>
            <a:ext cx="3562350" cy="3143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9616B8F-D37C-4275-9113-FE4AD24C5CD5}"/>
              </a:ext>
            </a:extLst>
          </p:cNvPr>
          <p:cNvSpPr>
            <a:spLocks xmlns:a="http://schemas.openxmlformats.org/drawingml/2006/main" noGrp="1"/>
          </p:cNvSpPr>
          <p:nvPr/>
        </p:nvSpPr>
        <p:spPr>
          <a:xfrm xmlns:a="http://schemas.openxmlformats.org/drawingml/2006/main">
            <a:off x="4619625" y="293370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3600" b="0">
                <a:solidFill>
                  <a:srgbClr val="3D8DFF"/>
                </a:solidFill>
                <a:latin typeface="Arial"/>
                <a:ea typeface="Arial"/>
                <a:cs typeface="Arial"/>
              </a:defRPr>
            </a:pPr>
            <a:r>
              <a:rPr sz="3600" b="0">
                <a:solidFill>
                  <a:srgbClr val="3D8DFF"/>
                </a:solidFill>
                <a:latin typeface="Arial"/>
                <a:ea typeface="Arial"/>
                <a:cs typeface="Arial"/>
              </a:rPr>
              <a:t>≤9/30</a:t>
            </a:r>
          </a:p>
        </p:txBody>
      </p:sp>
      <p:sp>
        <p:nvSpPr>
          <p:cNvPr id="9" name="">
            <a:extLst xmlns:a="http://schemas.openxmlformats.org/drawingml/2006/main">
              <a:ext uri="{FF2B5EF4-FFF2-40B4-BE49-F238E27FC236}">
                <a16:creationId xmlns:a16="http://schemas.microsoft.com/office/drawing/2014/main" id="{AE87B635-692F-45BC-BC62-F779EBEEEB9D}"/>
              </a:ext>
            </a:extLst>
          </p:cNvPr>
          <p:cNvSpPr>
            <a:spLocks xmlns:a="http://schemas.openxmlformats.org/drawingml/2006/main" noGrp="1"/>
          </p:cNvSpPr>
          <p:nvPr/>
        </p:nvSpPr>
        <p:spPr>
          <a:xfrm xmlns:a="http://schemas.openxmlformats.org/drawingml/2006/main">
            <a:off x="4619625" y="4124325"/>
            <a:ext cx="295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بیشترین مقدار ممکن برای کل توانایی</a:t>
            </a:r>
          </a:p>
        </p:txBody>
      </p:sp>
      <p:sp>
        <p:nvSpPr>
          <p:cNvPr id="10" name="">
            <a:extLst xmlns:a="http://schemas.openxmlformats.org/drawingml/2006/main">
              <a:ext uri="{FF2B5EF4-FFF2-40B4-BE49-F238E27FC236}">
                <a16:creationId xmlns:a16="http://schemas.microsoft.com/office/drawing/2014/main" id="{17F01353-F8E0-4AA8-9422-AC70578F6F65}"/>
              </a:ext>
            </a:extLst>
          </p:cNvPr>
          <p:cNvSpPr>
            <a:spLocks xmlns:a="http://schemas.openxmlformats.org/drawingml/2006/main" noGrp="1"/>
          </p:cNvSpPr>
          <p:nvPr/>
        </p:nvSpPr>
        <p:spPr>
          <a:xfrm xmlns:a="http://schemas.openxmlformats.org/drawingml/2006/main">
            <a:off x="8134350" y="2238375"/>
            <a:ext cx="3562350" cy="3143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E1AA0AC-C55F-42E8-AEBD-4132879A8FD0}"/>
              </a:ext>
            </a:extLst>
          </p:cNvPr>
          <p:cNvSpPr>
            <a:spLocks xmlns:a="http://schemas.openxmlformats.org/drawingml/2006/main" noGrp="1"/>
          </p:cNvSpPr>
          <p:nvPr/>
        </p:nvSpPr>
        <p:spPr>
          <a:xfrm xmlns:a="http://schemas.openxmlformats.org/drawingml/2006/main">
            <a:off x="8439150" y="293370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3600" b="0">
                <a:solidFill>
                  <a:srgbClr val="111111"/>
                </a:solidFill>
                <a:latin typeface="Arial"/>
                <a:ea typeface="Arial"/>
                <a:cs typeface="Arial"/>
              </a:defRPr>
            </a:pPr>
            <a:r>
              <a:rPr sz="3600" b="0">
                <a:solidFill>
                  <a:srgbClr val="111111"/>
                </a:solidFill>
                <a:latin typeface="Arial"/>
                <a:ea typeface="Arial"/>
                <a:cs typeface="Arial"/>
              </a:rPr>
              <a:t>8/29</a:t>
            </a:r>
          </a:p>
        </p:txBody>
      </p:sp>
      <p:sp>
        <p:nvSpPr>
          <p:cNvPr id="12" name="">
            <a:extLst xmlns:a="http://schemas.openxmlformats.org/drawingml/2006/main">
              <a:ext uri="{FF2B5EF4-FFF2-40B4-BE49-F238E27FC236}">
                <a16:creationId xmlns:a16="http://schemas.microsoft.com/office/drawing/2014/main" id="{747F57F7-870E-4B53-BA4D-9B604331C55B}"/>
              </a:ext>
            </a:extLst>
          </p:cNvPr>
          <p:cNvSpPr>
            <a:spLocks xmlns:a="http://schemas.openxmlformats.org/drawingml/2006/main" noGrp="1"/>
          </p:cNvSpPr>
          <p:nvPr/>
        </p:nvSpPr>
        <p:spPr>
          <a:xfrm xmlns:a="http://schemas.openxmlformats.org/drawingml/2006/main">
            <a:off x="8439150" y="4124325"/>
            <a:ext cx="295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درست مشاهده‌شده در موارد حل‌شده</a:t>
            </a:r>
          </a:p>
        </p:txBody>
      </p:sp>
      <p:sp>
        <p:nvSpPr>
          <p:cNvPr id="13" name="">
            <a:extLst xmlns:a="http://schemas.openxmlformats.org/drawingml/2006/main">
              <a:ext uri="{FF2B5EF4-FFF2-40B4-BE49-F238E27FC236}">
                <a16:creationId xmlns:a16="http://schemas.microsoft.com/office/drawing/2014/main" id="{B0235054-2137-4139-AB06-ABAF51403A04}"/>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طبقه‌بندی خطای SSP و دفتر نتایج v1.1</a:t>
            </a:r>
          </a:p>
        </p:txBody>
      </p:sp>
    </p:spTree>
    <p:extLst>
      <p:ext uri="{BB962C8B-B14F-4D97-AF65-F5344CB8AC3E}">
        <p14:creationId xmlns:p14="http://schemas.microsoft.com/office/powerpoint/2010/main" val="188892878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FCA9890-3951-404C-818F-F912CB676D93}"/>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تحلیل خطا، شکست ایمنی را از شکست پوشش جدا می‌کند</a:t>
            </a:r>
          </a:p>
        </p:txBody>
      </p:sp>
      <p:sp>
        <p:nvSpPr>
          <p:cNvPr id="2" name="">
            <a:extLst xmlns:a="http://schemas.openxmlformats.org/drawingml/2006/main">
              <a:ext uri="{FF2B5EF4-FFF2-40B4-BE49-F238E27FC236}">
                <a16:creationId xmlns:a16="http://schemas.microsoft.com/office/drawing/2014/main" id="{5742059E-4352-4894-A886-83D6A2D6A254}"/>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ED33BF85-18C4-4135-9E8E-80521C0E77FA}"/>
              </a:ext>
            </a:extLst>
          </p:cNvPr>
          <p:cNvSpPr>
            <a:spLocks xmlns:a="http://schemas.openxmlformats.org/drawingml/2006/main" noGrp="1"/>
          </p:cNvSpPr>
          <p:nvPr/>
        </p:nvSpPr>
        <p:spPr>
          <a:xfrm xmlns:a="http://schemas.openxmlformats.org/drawingml/2006/main">
            <a:off x="495300" y="1666875"/>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SSP در LongMemEval</a:t>
            </a:r>
          </a:p>
        </p:txBody>
      </p:sp>
      <p:sp>
        <p:nvSpPr>
          <p:cNvPr id="4" name="">
            <a:extLst xmlns:a="http://schemas.openxmlformats.org/drawingml/2006/main">
              <a:ext uri="{FF2B5EF4-FFF2-40B4-BE49-F238E27FC236}">
                <a16:creationId xmlns:a16="http://schemas.microsoft.com/office/drawing/2014/main" id="{5C1D0633-92B5-4434-A043-4B11262F1E44}"/>
              </a:ext>
            </a:extLst>
          </p:cNvPr>
          <p:cNvSpPr>
            <a:spLocks xmlns:a="http://schemas.openxmlformats.org/drawingml/2006/main" noGrp="1"/>
          </p:cNvSpPr>
          <p:nvPr/>
        </p:nvSpPr>
        <p:spPr>
          <a:xfrm xmlns:a="http://schemas.openxmlformats.org/drawingml/2006/main">
            <a:off x="495300" y="2257425"/>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خطاها در رتبه‌بندی، ساخت زمینه، انتساب و تولید پاسخ محلی‌سازی می‌شوند.</a:t>
            </a:r>
          </a:p>
        </p:txBody>
      </p:sp>
      <p:sp>
        <p:nvSpPr>
          <p:cNvPr id="5" name="">
            <a:extLst xmlns:a="http://schemas.openxmlformats.org/drawingml/2006/main">
              <a:ext uri="{FF2B5EF4-FFF2-40B4-BE49-F238E27FC236}">
                <a16:creationId xmlns:a16="http://schemas.microsoft.com/office/drawing/2014/main" id="{C41197A4-22E4-4293-8857-265FD5362B1D}"/>
              </a:ext>
            </a:extLst>
          </p:cNvPr>
          <p:cNvSpPr>
            <a:spLocks xmlns:a="http://schemas.openxmlformats.org/drawingml/2006/main" noGrp="1"/>
          </p:cNvSpPr>
          <p:nvPr/>
        </p:nvSpPr>
        <p:spPr>
          <a:xfrm xmlns:a="http://schemas.openxmlformats.org/drawingml/2006/main">
            <a:off x="6229350" y="1666875"/>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حذف تبار</a:t>
            </a:r>
          </a:p>
        </p:txBody>
      </p:sp>
      <p:sp>
        <p:nvSpPr>
          <p:cNvPr id="6" name="">
            <a:extLst xmlns:a="http://schemas.openxmlformats.org/drawingml/2006/main">
              <a:ext uri="{FF2B5EF4-FFF2-40B4-BE49-F238E27FC236}">
                <a16:creationId xmlns:a16="http://schemas.microsoft.com/office/drawing/2014/main" id="{D25D49AB-1FCE-4C0C-8D92-0428878D0F6D}"/>
              </a:ext>
            </a:extLst>
          </p:cNvPr>
          <p:cNvSpPr>
            <a:spLocks xmlns:a="http://schemas.openxmlformats.org/drawingml/2006/main" noGrp="1"/>
          </p:cNvSpPr>
          <p:nvPr/>
        </p:nvSpPr>
        <p:spPr>
          <a:xfrm xmlns:a="http://schemas.openxmlformats.org/drawingml/2006/main">
            <a:off x="6229350" y="2257425"/>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دقت تصمیم ثابت است ولی قابلیت ممیزی به‌شدت افت می‌کند.</a:t>
            </a:r>
          </a:p>
        </p:txBody>
      </p:sp>
      <p:sp>
        <p:nvSpPr>
          <p:cNvPr id="7" name="">
            <a:extLst xmlns:a="http://schemas.openxmlformats.org/drawingml/2006/main">
              <a:ext uri="{FF2B5EF4-FFF2-40B4-BE49-F238E27FC236}">
                <a16:creationId xmlns:a16="http://schemas.microsoft.com/office/drawing/2014/main" id="{9E1CECDC-4ABF-4D10-AAB0-4EB1D9374363}"/>
              </a:ext>
            </a:extLst>
          </p:cNvPr>
          <p:cNvSpPr>
            <a:spLocks xmlns:a="http://schemas.openxmlformats.org/drawingml/2006/main" noGrp="1"/>
          </p:cNvSpPr>
          <p:nvPr/>
        </p:nvSpPr>
        <p:spPr>
          <a:xfrm xmlns:a="http://schemas.openxmlformats.org/drawingml/2006/main">
            <a:off x="495300" y="3886200"/>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تصمیم بدون ساختار</a:t>
            </a:r>
          </a:p>
        </p:txBody>
      </p:sp>
      <p:sp>
        <p:nvSpPr>
          <p:cNvPr id="8" name="">
            <a:extLst xmlns:a="http://schemas.openxmlformats.org/drawingml/2006/main">
              <a:ext uri="{FF2B5EF4-FFF2-40B4-BE49-F238E27FC236}">
                <a16:creationId xmlns:a16="http://schemas.microsoft.com/office/drawing/2014/main" id="{D9F8A935-2A76-4A19-9595-BF69AF84028D}"/>
              </a:ext>
            </a:extLst>
          </p:cNvPr>
          <p:cNvSpPr>
            <a:spLocks xmlns:a="http://schemas.openxmlformats.org/drawingml/2006/main" noGrp="1"/>
          </p:cNvSpPr>
          <p:nvPr/>
        </p:nvSpPr>
        <p:spPr>
          <a:xfrm xmlns:a="http://schemas.openxmlformats.org/drawingml/2006/main">
            <a:off x="495300" y="4476750"/>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در ۶۰٫۶٪ موارد طلاییِ خودداری، ثبت نامعتبر انجام می‌دهد.</a:t>
            </a:r>
          </a:p>
        </p:txBody>
      </p:sp>
      <p:sp>
        <p:nvSpPr>
          <p:cNvPr id="9" name="">
            <a:extLst xmlns:a="http://schemas.openxmlformats.org/drawingml/2006/main">
              <a:ext uri="{FF2B5EF4-FFF2-40B4-BE49-F238E27FC236}">
                <a16:creationId xmlns:a16="http://schemas.microsoft.com/office/drawing/2014/main" id="{EBE2B93A-85B9-4BE1-861E-FAC87FF8CA30}"/>
              </a:ext>
            </a:extLst>
          </p:cNvPr>
          <p:cNvSpPr>
            <a:spLocks xmlns:a="http://schemas.openxmlformats.org/drawingml/2006/main" noGrp="1"/>
          </p:cNvSpPr>
          <p:nvPr/>
        </p:nvSpPr>
        <p:spPr>
          <a:xfrm xmlns:a="http://schemas.openxmlformats.org/drawingml/2006/main">
            <a:off x="6229350" y="3886200"/>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KSA قاعده‌ای</a:t>
            </a:r>
          </a:p>
        </p:txBody>
      </p:sp>
      <p:sp>
        <p:nvSpPr>
          <p:cNvPr id="10" name="">
            <a:extLst xmlns:a="http://schemas.openxmlformats.org/drawingml/2006/main">
              <a:ext uri="{FF2B5EF4-FFF2-40B4-BE49-F238E27FC236}">
                <a16:creationId xmlns:a16="http://schemas.microsoft.com/office/drawing/2014/main" id="{DD4DD5E0-54A1-48E1-A057-77FE54F8B3EE}"/>
              </a:ext>
            </a:extLst>
          </p:cNvPr>
          <p:cNvSpPr>
            <a:spLocks xmlns:a="http://schemas.openxmlformats.org/drawingml/2006/main" noGrp="1"/>
          </p:cNvSpPr>
          <p:nvPr/>
        </p:nvSpPr>
        <p:spPr>
          <a:xfrm xmlns:a="http://schemas.openxmlformats.org/drawingml/2006/main">
            <a:off x="6229350" y="4476750"/>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بازیابی محافظه‌کارانهٔ جایگزینی: هر خطای باقی‌مانده خودداری می‌کند.</a:t>
            </a:r>
          </a:p>
        </p:txBody>
      </p:sp>
      <p:sp>
        <p:nvSpPr>
          <p:cNvPr id="11" name="">
            <a:extLst xmlns:a="http://schemas.openxmlformats.org/drawingml/2006/main">
              <a:ext uri="{FF2B5EF4-FFF2-40B4-BE49-F238E27FC236}">
                <a16:creationId xmlns:a16="http://schemas.microsoft.com/office/drawing/2014/main" id="{563A298C-0469-4D1E-B487-EA6B56A433F1}"/>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گزارش طبقه‌بندی خطا و تحلیل SSP</a:t>
            </a:r>
          </a:p>
        </p:txBody>
      </p:sp>
    </p:spTree>
    <p:extLst>
      <p:ext uri="{BB962C8B-B14F-4D97-AF65-F5344CB8AC3E}">
        <p14:creationId xmlns:p14="http://schemas.microsoft.com/office/powerpoint/2010/main" val="49159848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E1878D8-A044-4CE5-809A-A04C3BFC499A}"/>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نتیجه‌گیری‌ها عمداً محدود نگه داشته شده‌اند</a:t>
            </a:r>
          </a:p>
        </p:txBody>
      </p:sp>
      <p:sp>
        <p:nvSpPr>
          <p:cNvPr id="2" name="">
            <a:extLst xmlns:a="http://schemas.openxmlformats.org/drawingml/2006/main">
              <a:ext uri="{FF2B5EF4-FFF2-40B4-BE49-F238E27FC236}">
                <a16:creationId xmlns:a16="http://schemas.microsoft.com/office/drawing/2014/main" id="{5E994371-F276-4A13-9516-9DAF3C4DBF6D}"/>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23EB44BB-9FB9-4A97-B147-CBF6253ECD1D}"/>
              </a:ext>
            </a:extLst>
          </p:cNvPr>
          <p:cNvSpPr>
            <a:spLocks xmlns:a="http://schemas.openxmlformats.org/drawingml/2006/main" noGrp="1"/>
          </p:cNvSpPr>
          <p:nvPr/>
        </p:nvSpPr>
        <p:spPr>
          <a:xfrm xmlns:a="http://schemas.openxmlformats.org/drawingml/2006/main">
            <a:off x="495300" y="1666875"/>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شواهد پایین‌دستی</a:t>
            </a:r>
          </a:p>
        </p:txBody>
      </p:sp>
      <p:sp>
        <p:nvSpPr>
          <p:cNvPr id="4" name="">
            <a:extLst xmlns:a="http://schemas.openxmlformats.org/drawingml/2006/main">
              <a:ext uri="{FF2B5EF4-FFF2-40B4-BE49-F238E27FC236}">
                <a16:creationId xmlns:a16="http://schemas.microsoft.com/office/drawing/2014/main" id="{863ED41C-7EBC-48D1-9D98-CFA4C2A4F5C0}"/>
              </a:ext>
            </a:extLst>
          </p:cNvPr>
          <p:cNvSpPr>
            <a:spLocks xmlns:a="http://schemas.openxmlformats.org/drawingml/2006/main" noGrp="1"/>
          </p:cNvSpPr>
          <p:nvPr/>
        </p:nvSpPr>
        <p:spPr>
          <a:xfrm xmlns:a="http://schemas.openxmlformats.org/drawingml/2006/main">
            <a:off x="495300" y="2257425"/>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LongMemEval نهایی نداریم و معیارهای ایمنی به اعتبارسنجی بیرونی نیاز دارند.</a:t>
            </a:r>
          </a:p>
        </p:txBody>
      </p:sp>
      <p:sp>
        <p:nvSpPr>
          <p:cNvPr id="5" name="">
            <a:extLst xmlns:a="http://schemas.openxmlformats.org/drawingml/2006/main">
              <a:ext uri="{FF2B5EF4-FFF2-40B4-BE49-F238E27FC236}">
                <a16:creationId xmlns:a16="http://schemas.microsoft.com/office/drawing/2014/main" id="{B84B7C17-98D7-4EFB-A340-25D6ECB4E2E2}"/>
              </a:ext>
            </a:extLst>
          </p:cNvPr>
          <p:cNvSpPr>
            <a:spLocks xmlns:a="http://schemas.openxmlformats.org/drawingml/2006/main" noGrp="1"/>
          </p:cNvSpPr>
          <p:nvPr/>
        </p:nvSpPr>
        <p:spPr>
          <a:xfrm xmlns:a="http://schemas.openxmlformats.org/drawingml/2006/main">
            <a:off x="6229350" y="1666875"/>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اعتبار رابط</a:t>
            </a:r>
          </a:p>
        </p:txBody>
      </p:sp>
      <p:sp>
        <p:nvSpPr>
          <p:cNvPr id="6" name="">
            <a:extLst xmlns:a="http://schemas.openxmlformats.org/drawingml/2006/main">
              <a:ext uri="{FF2B5EF4-FFF2-40B4-BE49-F238E27FC236}">
                <a16:creationId xmlns:a16="http://schemas.microsoft.com/office/drawing/2014/main" id="{DB9DC3B9-4BEB-41EC-AA48-DB949D62498F}"/>
              </a:ext>
            </a:extLst>
          </p:cNvPr>
          <p:cNvSpPr>
            <a:spLocks xmlns:a="http://schemas.openxmlformats.org/drawingml/2006/main" noGrp="1"/>
          </p:cNvSpPr>
          <p:nvPr/>
        </p:nvSpPr>
        <p:spPr>
          <a:xfrm xmlns:a="http://schemas.openxmlformats.org/drawingml/2006/main">
            <a:off x="6229350" y="2257425"/>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مقایسهٔ بیرونی کران وابسته به رابط و نگاشت است.</a:t>
            </a:r>
          </a:p>
        </p:txBody>
      </p:sp>
      <p:sp>
        <p:nvSpPr>
          <p:cNvPr id="7" name="">
            <a:extLst xmlns:a="http://schemas.openxmlformats.org/drawingml/2006/main">
              <a:ext uri="{FF2B5EF4-FFF2-40B4-BE49-F238E27FC236}">
                <a16:creationId xmlns:a16="http://schemas.microsoft.com/office/drawing/2014/main" id="{297D00E3-1AA5-47CD-9F87-312CE700183D}"/>
              </a:ext>
            </a:extLst>
          </p:cNvPr>
          <p:cNvSpPr>
            <a:spLocks xmlns:a="http://schemas.openxmlformats.org/drawingml/2006/main" noGrp="1"/>
          </p:cNvSpPr>
          <p:nvPr/>
        </p:nvSpPr>
        <p:spPr>
          <a:xfrm xmlns:a="http://schemas.openxmlformats.org/drawingml/2006/main">
            <a:off x="495300" y="3886200"/>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برچسب‌گذاری</a:t>
            </a:r>
          </a:p>
        </p:txBody>
      </p:sp>
      <p:sp>
        <p:nvSpPr>
          <p:cNvPr id="8" name="">
            <a:extLst xmlns:a="http://schemas.openxmlformats.org/drawingml/2006/main">
              <a:ext uri="{FF2B5EF4-FFF2-40B4-BE49-F238E27FC236}">
                <a16:creationId xmlns:a16="http://schemas.microsoft.com/office/drawing/2014/main" id="{3914FDF3-B062-4BEA-BDCE-870604CF35F4}"/>
              </a:ext>
            </a:extLst>
          </p:cNvPr>
          <p:cNvSpPr>
            <a:spLocks xmlns:a="http://schemas.openxmlformats.org/drawingml/2006/main" noGrp="1"/>
          </p:cNvSpPr>
          <p:nvPr/>
        </p:nvSpPr>
        <p:spPr>
          <a:xfrm xmlns:a="http://schemas.openxmlformats.org/drawingml/2006/main">
            <a:off x="495300" y="4476750"/>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یک برچسب‌زن مستقل؛ هویت و استقلال بر گواهی نویسنده متکی است.</a:t>
            </a:r>
          </a:p>
        </p:txBody>
      </p:sp>
      <p:sp>
        <p:nvSpPr>
          <p:cNvPr id="9" name="">
            <a:extLst xmlns:a="http://schemas.openxmlformats.org/drawingml/2006/main">
              <a:ext uri="{FF2B5EF4-FFF2-40B4-BE49-F238E27FC236}">
                <a16:creationId xmlns:a16="http://schemas.microsoft.com/office/drawing/2014/main" id="{BE010088-CFB6-4BF0-B7D3-E9EE245C7331}"/>
              </a:ext>
            </a:extLst>
          </p:cNvPr>
          <p:cNvSpPr>
            <a:spLocks xmlns:a="http://schemas.openxmlformats.org/drawingml/2006/main" noGrp="1"/>
          </p:cNvSpPr>
          <p:nvPr/>
        </p:nvSpPr>
        <p:spPr>
          <a:xfrm xmlns:a="http://schemas.openxmlformats.org/drawingml/2006/main">
            <a:off x="6229350" y="3886200"/>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آزمون مصنوعی</a:t>
            </a:r>
          </a:p>
        </p:txBody>
      </p:sp>
      <p:sp>
        <p:nvSpPr>
          <p:cNvPr id="10" name="">
            <a:extLst xmlns:a="http://schemas.openxmlformats.org/drawingml/2006/main">
              <a:ext uri="{FF2B5EF4-FFF2-40B4-BE49-F238E27FC236}">
                <a16:creationId xmlns:a16="http://schemas.microsoft.com/office/drawing/2014/main" id="{FD691400-A937-4770-BCA2-98CE21847DCA}"/>
              </a:ext>
            </a:extLst>
          </p:cNvPr>
          <p:cNvSpPr>
            <a:spLocks xmlns:a="http://schemas.openxmlformats.org/drawingml/2006/main" noGrp="1"/>
          </p:cNvSpPr>
          <p:nvPr/>
        </p:nvSpPr>
        <p:spPr>
          <a:xfrm xmlns:a="http://schemas.openxmlformats.org/drawingml/2006/main">
            <a:off x="6229350" y="4476750"/>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MGP-6 طراحی پژوهشگر، کوچک و غیرنمایندهٔ جمعیت واقعی است.</a:t>
            </a:r>
          </a:p>
        </p:txBody>
      </p:sp>
      <p:sp>
        <p:nvSpPr>
          <p:cNvPr id="11" name="">
            <a:extLst xmlns:a="http://schemas.openxmlformats.org/drawingml/2006/main">
              <a:ext uri="{FF2B5EF4-FFF2-40B4-BE49-F238E27FC236}">
                <a16:creationId xmlns:a16="http://schemas.microsoft.com/office/drawing/2014/main" id="{5E6C1138-3399-4AD0-BD73-1BB07B734F2E}"/>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تهدیدهای اعتبار و سند محدودیت‌ها</a:t>
            </a:r>
          </a:p>
        </p:txBody>
      </p:sp>
    </p:spTree>
    <p:extLst>
      <p:ext uri="{BB962C8B-B14F-4D97-AF65-F5344CB8AC3E}">
        <p14:creationId xmlns:p14="http://schemas.microsoft.com/office/powerpoint/2010/main" val="25795398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156147B-9C52-40DA-B994-B68E711A991A}"/>
              </a:ext>
            </a:extLst>
          </p:cNvPr>
          <p:cNvSpPr>
            <a:spLocks xmlns:a="http://schemas.openxmlformats.org/drawingml/2006/main" noGrp="1"/>
          </p:cNvSpPr>
          <p:nvPr/>
        </p:nvSpPr>
        <p:spPr>
          <a:xfrm xmlns:a="http://schemas.openxmlformats.org/drawingml/2006/main">
            <a:off x="495300" y="428625"/>
            <a:ext cx="1120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00" b="1">
                <a:solidFill>
                  <a:srgbClr val="5F6368"/>
                </a:solidFill>
                <a:latin typeface="Arial"/>
                <a:ea typeface="Arial"/>
                <a:cs typeface="Arial"/>
              </a:defRPr>
            </a:pPr>
            <a:r>
              <a:rPr sz="1500" b="1">
                <a:solidFill>
                  <a:srgbClr val="5F6368"/>
                </a:solidFill>
                <a:latin typeface="Arial"/>
                <a:ea typeface="Arial"/>
                <a:cs typeface="Arial"/>
              </a:rPr>
              <a:t>جمع‌بندی</a:t>
            </a:r>
          </a:p>
        </p:txBody>
      </p:sp>
      <p:sp>
        <p:nvSpPr>
          <p:cNvPr id="2" name="">
            <a:extLst xmlns:a="http://schemas.openxmlformats.org/drawingml/2006/main">
              <a:ext uri="{FF2B5EF4-FFF2-40B4-BE49-F238E27FC236}">
                <a16:creationId xmlns:a16="http://schemas.microsoft.com/office/drawing/2014/main" id="{F9FD4CA3-DC74-437C-8DA1-1680D7A9B24B}"/>
              </a:ext>
            </a:extLst>
          </p:cNvPr>
          <p:cNvSpPr>
            <a:spLocks xmlns:a="http://schemas.openxmlformats.org/drawingml/2006/main" noGrp="1"/>
          </p:cNvSpPr>
          <p:nvPr/>
        </p:nvSpPr>
        <p:spPr>
          <a:xfrm xmlns:a="http://schemas.openxmlformats.org/drawingml/2006/main">
            <a:off x="495300" y="1238250"/>
            <a:ext cx="112014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4200" b="0">
                <a:solidFill>
                  <a:srgbClr val="111111"/>
                </a:solidFill>
                <a:latin typeface="Arial"/>
                <a:ea typeface="Arial"/>
                <a:cs typeface="Arial"/>
              </a:defRPr>
            </a:pPr>
            <a:r>
              <a:rPr sz="4200" b="0">
                <a:solidFill>
                  <a:srgbClr val="111111"/>
                </a:solidFill>
                <a:latin typeface="Arial"/>
                <a:ea typeface="Arial"/>
                <a:cs typeface="Arial"/>
              </a:rPr>
              <a:t>ابتدا نوشتن را حاکمیت کنید؛ سپس حالت و پاسخ را بسنجید</a:t>
            </a:r>
          </a:p>
        </p:txBody>
      </p:sp>
      <p:sp>
        <p:nvSpPr>
          <p:cNvPr id="3" name="">
            <a:extLst xmlns:a="http://schemas.openxmlformats.org/drawingml/2006/main">
              <a:ext uri="{FF2B5EF4-FFF2-40B4-BE49-F238E27FC236}">
                <a16:creationId xmlns:a16="http://schemas.microsoft.com/office/drawing/2014/main" id="{F58D6C05-91DD-40A4-8EF9-7860BC6496C9}"/>
              </a:ext>
            </a:extLst>
          </p:cNvPr>
          <p:cNvSpPr>
            <a:spLocks xmlns:a="http://schemas.openxmlformats.org/drawingml/2006/main" noGrp="1"/>
          </p:cNvSpPr>
          <p:nvPr/>
        </p:nvSpPr>
        <p:spPr>
          <a:xfrm xmlns:a="http://schemas.openxmlformats.org/drawingml/2006/main">
            <a:off x="495300" y="3429000"/>
            <a:ext cx="685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7C241A1C-D57A-47EB-AE38-02C1910C88F5}"/>
              </a:ext>
            </a:extLst>
          </p:cNvPr>
          <p:cNvSpPr>
            <a:spLocks xmlns:a="http://schemas.openxmlformats.org/drawingml/2006/main" noGrp="1"/>
          </p:cNvSpPr>
          <p:nvPr/>
        </p:nvSpPr>
        <p:spPr>
          <a:xfrm xmlns:a="http://schemas.openxmlformats.org/drawingml/2006/main">
            <a:off x="495300" y="4048125"/>
            <a:ext cx="3333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650" b="0">
                <a:solidFill>
                  <a:srgbClr val="111111"/>
                </a:solidFill>
                <a:latin typeface="Arial"/>
                <a:ea typeface="Arial"/>
                <a:cs typeface="Arial"/>
              </a:defRPr>
            </a:pPr>
            <a:r>
              <a:rPr sz="1650" b="0">
                <a:solidFill>
                  <a:srgbClr val="111111"/>
                </a:solidFill>
                <a:latin typeface="Arial"/>
                <a:ea typeface="Arial"/>
                <a:cs typeface="Arial"/>
              </a:rPr>
              <a:t>شواهد پایین‌دستی هنوز کامل نیست؛ اجرای همگن اقدام بیرونی بعدی است.</a:t>
            </a:r>
          </a:p>
        </p:txBody>
      </p:sp>
      <p:sp>
        <p:nvSpPr>
          <p:cNvPr id="5" name="">
            <a:extLst xmlns:a="http://schemas.openxmlformats.org/drawingml/2006/main">
              <a:ext uri="{FF2B5EF4-FFF2-40B4-BE49-F238E27FC236}">
                <a16:creationId xmlns:a16="http://schemas.microsoft.com/office/drawing/2014/main" id="{EFFBFE5A-EE7A-41D0-BE71-886910908C00}"/>
              </a:ext>
            </a:extLst>
          </p:cNvPr>
          <p:cNvSpPr>
            <a:spLocks xmlns:a="http://schemas.openxmlformats.org/drawingml/2006/main" noGrp="1"/>
          </p:cNvSpPr>
          <p:nvPr/>
        </p:nvSpPr>
        <p:spPr>
          <a:xfrm xmlns:a="http://schemas.openxmlformats.org/drawingml/2006/main">
            <a:off x="4314825" y="3429000"/>
            <a:ext cx="685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A8A99F3E-6939-42A1-9ACF-F5CB61FF3D8E}"/>
              </a:ext>
            </a:extLst>
          </p:cNvPr>
          <p:cNvSpPr>
            <a:spLocks xmlns:a="http://schemas.openxmlformats.org/drawingml/2006/main" noGrp="1"/>
          </p:cNvSpPr>
          <p:nvPr/>
        </p:nvSpPr>
        <p:spPr>
          <a:xfrm xmlns:a="http://schemas.openxmlformats.org/drawingml/2006/main">
            <a:off x="4314825" y="4048125"/>
            <a:ext cx="3333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650" b="0">
                <a:solidFill>
                  <a:srgbClr val="111111"/>
                </a:solidFill>
                <a:latin typeface="Arial"/>
                <a:ea typeface="Arial"/>
                <a:cs typeface="Arial"/>
              </a:defRPr>
            </a:pPr>
            <a:r>
              <a:rPr sz="1650" b="0">
                <a:solidFill>
                  <a:srgbClr val="111111"/>
                </a:solidFill>
                <a:latin typeface="Arial"/>
                <a:ea typeface="Arial"/>
                <a:cs typeface="Arial"/>
              </a:rPr>
              <a:t>MGP-6 امضاهای متفاوت ایمنی و تبار را آشکار می‌کند که دقت پاسخ پنهان می‌سازد.</a:t>
            </a:r>
          </a:p>
        </p:txBody>
      </p:sp>
      <p:sp>
        <p:nvSpPr>
          <p:cNvPr id="7" name="">
            <a:extLst xmlns:a="http://schemas.openxmlformats.org/drawingml/2006/main">
              <a:ext uri="{FF2B5EF4-FFF2-40B4-BE49-F238E27FC236}">
                <a16:creationId xmlns:a16="http://schemas.microsoft.com/office/drawing/2014/main" id="{2F8F3BC2-0174-4970-90A5-3FC845894BA3}"/>
              </a:ext>
            </a:extLst>
          </p:cNvPr>
          <p:cNvSpPr>
            <a:spLocks xmlns:a="http://schemas.openxmlformats.org/drawingml/2006/main" noGrp="1"/>
          </p:cNvSpPr>
          <p:nvPr/>
        </p:nvSpPr>
        <p:spPr>
          <a:xfrm xmlns:a="http://schemas.openxmlformats.org/drawingml/2006/main">
            <a:off x="8134350" y="3429000"/>
            <a:ext cx="685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9CF98F0D-DFA6-4350-A7B3-5FAD63F2C5AA}"/>
              </a:ext>
            </a:extLst>
          </p:cNvPr>
          <p:cNvSpPr>
            <a:spLocks xmlns:a="http://schemas.openxmlformats.org/drawingml/2006/main" noGrp="1"/>
          </p:cNvSpPr>
          <p:nvPr/>
        </p:nvSpPr>
        <p:spPr>
          <a:xfrm xmlns:a="http://schemas.openxmlformats.org/drawingml/2006/main">
            <a:off x="8134350" y="4048125"/>
            <a:ext cx="3333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650" b="0">
                <a:solidFill>
                  <a:srgbClr val="111111"/>
                </a:solidFill>
                <a:latin typeface="Arial"/>
                <a:ea typeface="Arial"/>
                <a:cs typeface="Arial"/>
              </a:defRPr>
            </a:pPr>
            <a:r>
              <a:rPr sz="1650" b="0">
                <a:solidFill>
                  <a:srgbClr val="111111"/>
                </a:solidFill>
                <a:latin typeface="Arial"/>
                <a:ea typeface="Arial"/>
                <a:cs typeface="Arial"/>
              </a:rPr>
              <a:t>مرز ثابت نگه‌داری / جایگزینی / خودداری، گذار حافظه را صریح و قابل‌ممیزی می‌کند.</a:t>
            </a:r>
          </a:p>
        </p:txBody>
      </p:sp>
      <p:sp>
        <p:nvSpPr>
          <p:cNvPr id="9" name="">
            <a:extLst xmlns:a="http://schemas.openxmlformats.org/drawingml/2006/main">
              <a:ext uri="{FF2B5EF4-FFF2-40B4-BE49-F238E27FC236}">
                <a16:creationId xmlns:a16="http://schemas.microsoft.com/office/drawing/2014/main" id="{CA3685B6-5617-4D12-909E-E4DF879A879E}"/>
              </a:ext>
            </a:extLst>
          </p:cNvPr>
          <p:cNvSpPr>
            <a:spLocks xmlns:a="http://schemas.openxmlformats.org/drawingml/2006/main" noGrp="1"/>
          </p:cNvSpPr>
          <p:nvPr/>
        </p:nvSpPr>
        <p:spPr>
          <a:xfrm xmlns:a="http://schemas.openxmlformats.org/drawingml/2006/main">
            <a:off x="495300" y="592455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650" b="1">
                <a:solidFill>
                  <a:srgbClr val="5F6368"/>
                </a:solidFill>
                <a:latin typeface="Arial"/>
                <a:ea typeface="Arial"/>
                <a:cs typeface="Arial"/>
              </a:defRPr>
            </a:pPr>
            <a:r>
              <a:rPr sz="1650" b="1">
                <a:solidFill>
                  <a:srgbClr val="5F6368"/>
                </a:solidFill>
                <a:latin typeface="Arial"/>
                <a:ea typeface="Arial"/>
                <a:cs typeface="Arial"/>
              </a:rPr>
              <a:t>پرسش‌ها — اسلایدهای پشتیبان در ادامه</a:t>
            </a:r>
          </a:p>
        </p:txBody>
      </p:sp>
    </p:spTree>
    <p:extLst>
      <p:ext uri="{BB962C8B-B14F-4D97-AF65-F5344CB8AC3E}">
        <p14:creationId xmlns:p14="http://schemas.microsoft.com/office/powerpoint/2010/main" val="197908014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1220F87-3DBA-4C52-946C-AC8E3FF6F492}"/>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پشتیبان — تعریف رسمی تصمیم و شکست</a:t>
            </a:r>
          </a:p>
        </p:txBody>
      </p:sp>
      <p:sp>
        <p:nvSpPr>
          <p:cNvPr id="2" name="">
            <a:extLst xmlns:a="http://schemas.openxmlformats.org/drawingml/2006/main">
              <a:ext uri="{FF2B5EF4-FFF2-40B4-BE49-F238E27FC236}">
                <a16:creationId xmlns:a16="http://schemas.microsoft.com/office/drawing/2014/main" id="{1B3CC9E0-2DA9-47F8-B75E-54204625ABF5}"/>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6858E146-B8EC-449F-9F1B-03BFFAC1A007}"/>
              </a:ext>
            </a:extLst>
          </p:cNvPr>
          <p:cNvSpPr>
            <a:spLocks xmlns:a="http://schemas.openxmlformats.org/drawingml/2006/main" noGrp="1"/>
          </p:cNvSpPr>
          <p:nvPr/>
        </p:nvSpPr>
        <p:spPr>
          <a:xfrm xmlns:a="http://schemas.openxmlformats.org/drawingml/2006/main">
            <a:off x="495300" y="1619250"/>
            <a:ext cx="7239000" cy="35623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AF614E20-4281-4252-AE68-3F43FA8A7975}"/>
              </a:ext>
            </a:extLst>
          </p:cNvPr>
          <p:cNvSpPr>
            <a:spLocks xmlns:a="http://schemas.openxmlformats.org/drawingml/2006/main" noGrp="1"/>
          </p:cNvSpPr>
          <p:nvPr/>
        </p:nvSpPr>
        <p:spPr>
          <a:xfrm xmlns:a="http://schemas.openxmlformats.org/drawingml/2006/main">
            <a:off x="781050" y="2009775"/>
            <a:ext cx="66675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0">
                <a:solidFill>
                  <a:srgbClr val="111111"/>
                </a:solidFill>
                <a:latin typeface="Arial"/>
                <a:ea typeface="Arial"/>
                <a:cs typeface="Arial"/>
              </a:defRPr>
            </a:pPr>
            <a:r>
              <a:rPr sz="2025" b="0">
                <a:solidFill>
                  <a:srgbClr val="111111"/>
                </a:solidFill>
                <a:latin typeface="Arial"/>
                <a:ea typeface="Arial"/>
                <a:cs typeface="Arial"/>
              </a:rPr>
              <a:t>d_t = π(c_t, r_t, M_t) ∈ {KEEP, SUPERSEDE, ABSTAIN}</a:t>
            </a:r>
          </a:p>
          <a:p xmlns:a="http://schemas.openxmlformats.org/drawingml/2006/main">
            <a:r>
              <a:t/>
            </a:r>
          </a:p>
          <a:p xmlns:a="http://schemas.openxmlformats.org/drawingml/2006/main">
            <a:pPr algn="l">
              <a:defRPr sz="2025" b="0">
                <a:solidFill>
                  <a:srgbClr val="111111"/>
                </a:solidFill>
                <a:latin typeface="Arial"/>
                <a:ea typeface="Arial"/>
                <a:cs typeface="Arial"/>
              </a:defRPr>
            </a:pPr>
            <a:r>
              <a:rPr sz="2025" b="0">
                <a:solidFill>
                  <a:srgbClr val="111111"/>
                </a:solidFill>
                <a:latin typeface="Arial"/>
                <a:ea typeface="Arial"/>
                <a:cs typeface="Arial"/>
              </a:rPr>
              <a:t>Invalid commit = Pr(ŷ ∈ {K,S} | y=A)</a:t>
            </a:r>
          </a:p>
          <a:p xmlns:a="http://schemas.openxmlformats.org/drawingml/2006/main">
            <a:pPr algn="l">
              <a:defRPr sz="2025" b="0">
                <a:solidFill>
                  <a:srgbClr val="111111"/>
                </a:solidFill>
                <a:latin typeface="Arial"/>
                <a:ea typeface="Arial"/>
                <a:cs typeface="Arial"/>
              </a:defRPr>
            </a:pPr>
            <a:r>
              <a:rPr sz="2025" b="0">
                <a:solidFill>
                  <a:srgbClr val="111111"/>
                </a:solidFill>
                <a:latin typeface="Arial"/>
                <a:ea typeface="Arial"/>
                <a:cs typeface="Arial"/>
              </a:rPr>
              <a:t>Missed supersession = Pr(ŷ ≠ S | y=S)</a:t>
            </a:r>
          </a:p>
          <a:p xmlns:a="http://schemas.openxmlformats.org/drawingml/2006/main">
            <a:pPr algn="l">
              <a:defRPr sz="2025" b="0">
                <a:solidFill>
                  <a:srgbClr val="111111"/>
                </a:solidFill>
                <a:latin typeface="Arial"/>
                <a:ea typeface="Arial"/>
                <a:cs typeface="Arial"/>
              </a:defRPr>
            </a:pPr>
            <a:r>
              <a:rPr sz="2025" b="0">
                <a:solidFill>
                  <a:srgbClr val="111111"/>
                </a:solidFill>
                <a:latin typeface="Arial"/>
                <a:ea typeface="Arial"/>
                <a:cs typeface="Arial"/>
              </a:rPr>
              <a:t>Lineage integrity = valid links / expected links</a:t>
            </a:r>
          </a:p>
        </p:txBody>
      </p:sp>
      <p:sp>
        <p:nvSpPr>
          <p:cNvPr id="5" name="">
            <a:extLst xmlns:a="http://schemas.openxmlformats.org/drawingml/2006/main">
              <a:ext uri="{FF2B5EF4-FFF2-40B4-BE49-F238E27FC236}">
                <a16:creationId xmlns:a16="http://schemas.microsoft.com/office/drawing/2014/main" id="{5CDDADC1-B306-43E1-AC1C-BC55A8C1FF6E}"/>
              </a:ext>
            </a:extLst>
          </p:cNvPr>
          <p:cNvSpPr>
            <a:spLocks xmlns:a="http://schemas.openxmlformats.org/drawingml/2006/main" noGrp="1"/>
          </p:cNvSpPr>
          <p:nvPr/>
        </p:nvSpPr>
        <p:spPr>
          <a:xfrm xmlns:a="http://schemas.openxmlformats.org/drawingml/2006/main">
            <a:off x="8096250" y="1619250"/>
            <a:ext cx="3600450" cy="15811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63E8F84-8E59-4A09-91C6-BD1BFB31C9AD}"/>
              </a:ext>
            </a:extLst>
          </p:cNvPr>
          <p:cNvSpPr>
            <a:spLocks xmlns:a="http://schemas.openxmlformats.org/drawingml/2006/main" noGrp="1"/>
          </p:cNvSpPr>
          <p:nvPr/>
        </p:nvSpPr>
        <p:spPr>
          <a:xfrm xmlns:a="http://schemas.openxmlformats.org/drawingml/2006/main">
            <a:off x="8362950" y="188595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111111"/>
                </a:solidFill>
                <a:latin typeface="Arial"/>
                <a:ea typeface="Arial"/>
                <a:cs typeface="Arial"/>
              </a:defRPr>
            </a:pPr>
            <a:r>
              <a:rPr sz="1800" b="1">
                <a:solidFill>
                  <a:srgbClr val="111111"/>
                </a:solidFill>
                <a:latin typeface="Arial"/>
                <a:ea typeface="Arial"/>
                <a:cs typeface="Arial"/>
              </a:rPr>
              <a:t>ایمنی ثبت</a:t>
            </a:r>
          </a:p>
        </p:txBody>
      </p:sp>
      <p:sp>
        <p:nvSpPr>
          <p:cNvPr id="7" name="">
            <a:extLst xmlns:a="http://schemas.openxmlformats.org/drawingml/2006/main">
              <a:ext uri="{FF2B5EF4-FFF2-40B4-BE49-F238E27FC236}">
                <a16:creationId xmlns:a16="http://schemas.microsoft.com/office/drawing/2014/main" id="{94679689-8113-4A30-83E6-93CC26DA6650}"/>
              </a:ext>
            </a:extLst>
          </p:cNvPr>
          <p:cNvSpPr>
            <a:spLocks xmlns:a="http://schemas.openxmlformats.org/drawingml/2006/main" noGrp="1"/>
          </p:cNvSpPr>
          <p:nvPr/>
        </p:nvSpPr>
        <p:spPr>
          <a:xfrm xmlns:a="http://schemas.openxmlformats.org/drawingml/2006/main">
            <a:off x="8362950" y="2381250"/>
            <a:ext cx="3067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00" b="0">
                <a:solidFill>
                  <a:srgbClr val="111111"/>
                </a:solidFill>
                <a:latin typeface="Arial"/>
                <a:ea typeface="Arial"/>
                <a:cs typeface="Arial"/>
              </a:defRPr>
            </a:pPr>
            <a:r>
              <a:rPr sz="1500" b="0">
                <a:solidFill>
                  <a:srgbClr val="111111"/>
                </a:solidFill>
                <a:latin typeface="Arial"/>
                <a:ea typeface="Arial"/>
                <a:cs typeface="Arial"/>
              </a:rPr>
              <a:t>در کنش طلاییِ خودداری، هیچ تغییر حالتی مجاز نیست.</a:t>
            </a:r>
          </a:p>
        </p:txBody>
      </p:sp>
      <p:sp>
        <p:nvSpPr>
          <p:cNvPr id="8" name="">
            <a:extLst xmlns:a="http://schemas.openxmlformats.org/drawingml/2006/main">
              <a:ext uri="{FF2B5EF4-FFF2-40B4-BE49-F238E27FC236}">
                <a16:creationId xmlns:a16="http://schemas.microsoft.com/office/drawing/2014/main" id="{289A44D5-5C74-4B10-854A-39B876B2774F}"/>
              </a:ext>
            </a:extLst>
          </p:cNvPr>
          <p:cNvSpPr>
            <a:spLocks xmlns:a="http://schemas.openxmlformats.org/drawingml/2006/main" noGrp="1"/>
          </p:cNvSpPr>
          <p:nvPr/>
        </p:nvSpPr>
        <p:spPr>
          <a:xfrm xmlns:a="http://schemas.openxmlformats.org/drawingml/2006/main">
            <a:off x="8096250" y="3600450"/>
            <a:ext cx="3600450" cy="15811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0A16468-97E0-4221-9C23-4C389E2379D2}"/>
              </a:ext>
            </a:extLst>
          </p:cNvPr>
          <p:cNvSpPr>
            <a:spLocks xmlns:a="http://schemas.openxmlformats.org/drawingml/2006/main" noGrp="1"/>
          </p:cNvSpPr>
          <p:nvPr/>
        </p:nvSpPr>
        <p:spPr>
          <a:xfrm xmlns:a="http://schemas.openxmlformats.org/drawingml/2006/main">
            <a:off x="8362950" y="386715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00" b="1">
                <a:solidFill>
                  <a:srgbClr val="111111"/>
                </a:solidFill>
                <a:latin typeface="Arial"/>
                <a:ea typeface="Arial"/>
                <a:cs typeface="Arial"/>
              </a:defRPr>
            </a:pPr>
            <a:r>
              <a:rPr sz="1800" b="1">
                <a:solidFill>
                  <a:srgbClr val="111111"/>
                </a:solidFill>
                <a:latin typeface="Arial"/>
                <a:ea typeface="Arial"/>
                <a:cs typeface="Arial"/>
              </a:rPr>
              <a:t>درستی حالت</a:t>
            </a:r>
          </a:p>
        </p:txBody>
      </p:sp>
      <p:sp>
        <p:nvSpPr>
          <p:cNvPr id="10" name="">
            <a:extLst xmlns:a="http://schemas.openxmlformats.org/drawingml/2006/main">
              <a:ext uri="{FF2B5EF4-FFF2-40B4-BE49-F238E27FC236}">
                <a16:creationId xmlns:a16="http://schemas.microsoft.com/office/drawing/2014/main" id="{EA94E8A1-989E-4C6E-832C-7BBC4E39D069}"/>
              </a:ext>
            </a:extLst>
          </p:cNvPr>
          <p:cNvSpPr>
            <a:spLocks xmlns:a="http://schemas.openxmlformats.org/drawingml/2006/main" noGrp="1"/>
          </p:cNvSpPr>
          <p:nvPr/>
        </p:nvSpPr>
        <p:spPr>
          <a:xfrm xmlns:a="http://schemas.openxmlformats.org/drawingml/2006/main">
            <a:off x="8362950" y="4362450"/>
            <a:ext cx="3067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00" b="0">
                <a:solidFill>
                  <a:srgbClr val="111111"/>
                </a:solidFill>
                <a:latin typeface="Arial"/>
                <a:ea typeface="Arial"/>
                <a:cs typeface="Arial"/>
              </a:defRPr>
            </a:pPr>
            <a:r>
              <a:rPr sz="1500" b="0">
                <a:solidFill>
                  <a:srgbClr val="111111"/>
                </a:solidFill>
                <a:latin typeface="Arial"/>
                <a:ea typeface="Arial"/>
                <a:cs typeface="Arial"/>
              </a:rPr>
              <a:t>برچسب درست کافی نیست اگر گذار یا تبار خراب باشد.</a:t>
            </a:r>
          </a:p>
        </p:txBody>
      </p:sp>
      <p:sp>
        <p:nvSpPr>
          <p:cNvPr id="11" name="">
            <a:extLst xmlns:a="http://schemas.openxmlformats.org/drawingml/2006/main">
              <a:ext uri="{FF2B5EF4-FFF2-40B4-BE49-F238E27FC236}">
                <a16:creationId xmlns:a16="http://schemas.microsoft.com/office/drawing/2014/main" id="{FDEE8683-891A-4E86-8152-DD59C03B89E8}"/>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پیوست C پایان‌نامه و تعریف معیارهای نهایی</a:t>
            </a:r>
          </a:p>
        </p:txBody>
      </p:sp>
    </p:spTree>
    <p:extLst>
      <p:ext uri="{BB962C8B-B14F-4D97-AF65-F5344CB8AC3E}">
        <p14:creationId xmlns:p14="http://schemas.microsoft.com/office/powerpoint/2010/main" val="17150230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6D8A4BE-24AC-456F-960B-A89AE5CB8968}"/>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پشتیبان — سازوکار مبناها و قابلیت‌های قابل‌بیان</a:t>
            </a:r>
          </a:p>
        </p:txBody>
      </p:sp>
      <p:sp>
        <p:nvSpPr>
          <p:cNvPr id="2" name="">
            <a:extLst xmlns:a="http://schemas.openxmlformats.org/drawingml/2006/main">
              <a:ext uri="{FF2B5EF4-FFF2-40B4-BE49-F238E27FC236}">
                <a16:creationId xmlns:a16="http://schemas.microsoft.com/office/drawing/2014/main" id="{8E497E8D-7199-4B69-9E6E-B8E6B27F6DE2}"/>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22</a:t>
            </a:r>
          </a:p>
        </p:txBody>
      </p:sp>
      <p:graphicFrame>
        <p:nvGraphicFramePr>
          <p:cNvPr id="7" name=""/>
          <p:cNvGraphicFramePr/>
          <p:nvPr/>
        </p:nvGraphicFramePr>
        <p:xfrm>
          <a:off xmlns:a="http://schemas.openxmlformats.org/drawingml/2006/main" x="495300" y="1543050"/>
          <a:ext xmlns:a="http://schemas.openxmlformats.org/drawingml/2006/main" cx="11201400" cy="4476750"/>
        </p:xfrm>
        <a:graphic xmlns:a="http://schemas.openxmlformats.org/drawingml/2006/main">
          <a:graphicData uri="http://schemas.openxmlformats.org/drawingml/2006/table">
            <a:tbl>
              <a:tblPr/>
              <a:tblGrid>
                <a:gridCol w="2067951"/>
                <a:gridCol w="2067951"/>
                <a:gridCol w="4652889"/>
                <a:gridCol w="2412609"/>
              </a:tblGrid>
              <a:tr h="639536">
                <a:tc>
                  <a:txBody>
                    <a:bodyPr/>
                    <a:lstStyle/>
                    <a:p>
                      <a:pPr algn="r"/>
                      <a:r>
                        <a:rPr sz="1425" b="1">
                          <a:solidFill>
                            <a:srgbClr val="111111"/>
                          </a:solidFill>
                          <a:latin typeface="Arial"/>
                          <a:ea typeface="Arial"/>
                          <a:cs typeface="Arial"/>
                        </a:rPr>
                        <a:t>تبار؟</a:t>
                      </a:r>
                    </a:p>
                  </a:txBody>
                  <a:tcPr marL="91440" marR="91440" marT="45720" marB="45720">
                    <a:solidFill>
                      <a:srgbClr val="DCEBFA"/>
                    </a:solidFill>
                  </a:tcPr>
                </a:tc>
                <a:tc>
                  <a:txBody>
                    <a:bodyPr/>
                    <a:lstStyle/>
                    <a:p>
                      <a:pPr algn="r"/>
                      <a:r>
                        <a:rPr sz="1425" b="1">
                          <a:solidFill>
                            <a:srgbClr val="111111"/>
                          </a:solidFill>
                          <a:latin typeface="Arial"/>
                          <a:ea typeface="Arial"/>
                          <a:cs typeface="Arial"/>
                        </a:rPr>
                        <a:t>خودداری؟</a:t>
                      </a:r>
                    </a:p>
                  </a:txBody>
                  <a:tcPr marL="91440" marR="91440" marT="45720" marB="45720">
                    <a:solidFill>
                      <a:srgbClr val="DCEBFA"/>
                    </a:solidFill>
                  </a:tcPr>
                </a:tc>
                <a:tc>
                  <a:txBody>
                    <a:bodyPr/>
                    <a:lstStyle/>
                    <a:p>
                      <a:pPr algn="r"/>
                      <a:r>
                        <a:rPr sz="1425" b="1">
                          <a:solidFill>
                            <a:srgbClr val="111111"/>
                          </a:solidFill>
                          <a:latin typeface="Arial"/>
                          <a:ea typeface="Arial"/>
                          <a:cs typeface="Arial"/>
                        </a:rPr>
                        <a:t>سازوکار</a:t>
                      </a:r>
                    </a:p>
                  </a:txBody>
                  <a:tcPr marL="91440" marR="91440" marT="45720" marB="45720">
                    <a:solidFill>
                      <a:srgbClr val="DCEBFA"/>
                    </a:solidFill>
                  </a:tcPr>
                </a:tc>
                <a:tc>
                  <a:txBody>
                    <a:bodyPr/>
                    <a:lstStyle/>
                    <a:p>
                      <a:pPr algn="r"/>
                      <a:r>
                        <a:rPr sz="1425" b="1">
                          <a:solidFill>
                            <a:srgbClr val="111111"/>
                          </a:solidFill>
                          <a:latin typeface="Arial"/>
                          <a:ea typeface="Arial"/>
                          <a:cs typeface="Arial"/>
                        </a:rPr>
                        <a:t>سامانه</a:t>
                      </a:r>
                    </a:p>
                  </a:txBody>
                  <a:tcPr marL="91440" marR="91440" marT="45720" marB="45720">
                    <a:solidFill>
                      <a:srgbClr val="DCEBFA"/>
                    </a:solidFill>
                  </a:tcPr>
                </a:tc>
              </a:tr>
              <a:tr h="639536">
                <a:tc>
                  <a:txBody>
                    <a:bodyPr/>
                    <a:lstStyle/>
                    <a:p>
                      <a:pPr algn="r"/>
                      <a:r>
                        <a:rPr sz="1350" b="0">
                          <a:solidFill>
                            <a:srgbClr val="111111"/>
                          </a:solidFill>
                          <a:latin typeface="Arial"/>
                          <a:ea typeface="Arial"/>
                          <a:cs typeface="Arial"/>
                        </a:rPr>
                        <a:t>خیر</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خیر</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بدون حافظهٔ پایدار</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B1</a:t>
                      </a:r>
                    </a:p>
                  </a:txBody>
                  <a:tcPr marL="91440" marR="91440" marT="45720" marB="45720">
                    <a:solidFill>
                      <a:srgbClr val="F7F7F7"/>
                    </a:solidFill>
                  </a:tcPr>
                </a:tc>
              </a:tr>
              <a:tr h="639536">
                <a:tc>
                  <a:txBody>
                    <a:bodyPr/>
                    <a:lstStyle/>
                    <a:p>
                      <a:pPr algn="r"/>
                      <a:r>
                        <a:rPr sz="1350" b="0">
                          <a:solidFill>
                            <a:srgbClr val="111111"/>
                          </a:solidFill>
                          <a:latin typeface="Arial"/>
                          <a:ea typeface="Arial"/>
                          <a:cs typeface="Arial"/>
                        </a:rPr>
                        <a:t>خیر</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خیر</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بازیابی برداری تخت</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B2</a:t>
                      </a:r>
                    </a:p>
                  </a:txBody>
                  <a:tcPr marL="91440" marR="91440" marT="45720" marB="45720">
                    <a:solidFill>
                      <a:srgbClr val="FFFFFF"/>
                    </a:solidFill>
                  </a:tcPr>
                </a:tc>
              </a:tr>
              <a:tr h="639536">
                <a:tc>
                  <a:txBody>
                    <a:bodyPr/>
                    <a:lstStyle/>
                    <a:p>
                      <a:pPr algn="r"/>
                      <a:r>
                        <a:rPr sz="1350" b="0">
                          <a:solidFill>
                            <a:srgbClr val="111111"/>
                          </a:solidFill>
                          <a:latin typeface="Arial"/>
                          <a:ea typeface="Arial"/>
                          <a:cs typeface="Arial"/>
                        </a:rPr>
                        <a:t>خیر</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خیر</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هرس تازگی</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B3</a:t>
                      </a:r>
                    </a:p>
                  </a:txBody>
                  <a:tcPr marL="91440" marR="91440" marT="45720" marB="45720">
                    <a:solidFill>
                      <a:srgbClr val="F7F7F7"/>
                    </a:solidFill>
                  </a:tcPr>
                </a:tc>
              </a:tr>
              <a:tr h="639536">
                <a:tc>
                  <a:txBody>
                    <a:bodyPr/>
                    <a:lstStyle/>
                    <a:p>
                      <a:pPr algn="r"/>
                      <a:r>
                        <a:rPr sz="1350" b="0">
                          <a:solidFill>
                            <a:srgbClr val="111111"/>
                          </a:solidFill>
                          <a:latin typeface="Arial"/>
                          <a:ea typeface="Arial"/>
                          <a:cs typeface="Arial"/>
                        </a:rPr>
                        <a:t>خیر</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خیر</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بازنویسی ساده</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B4</a:t>
                      </a:r>
                    </a:p>
                  </a:txBody>
                  <a:tcPr marL="91440" marR="91440" marT="45720" marB="45720">
                    <a:solidFill>
                      <a:srgbClr val="FFFFFF"/>
                    </a:solidFill>
                  </a:tcPr>
                </a:tc>
              </a:tr>
              <a:tr h="639536">
                <a:tc>
                  <a:txBody>
                    <a:bodyPr/>
                    <a:lstStyle/>
                    <a:p>
                      <a:pPr algn="r"/>
                      <a:r>
                        <a:rPr sz="1350" b="0">
                          <a:solidFill>
                            <a:srgbClr val="111111"/>
                          </a:solidFill>
                          <a:latin typeface="Arial"/>
                          <a:ea typeface="Arial"/>
                          <a:cs typeface="Arial"/>
                        </a:rPr>
                        <a:t>بله</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بله</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سیاست پنج‌ویژگی</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KSA قاعده</a:t>
                      </a:r>
                    </a:p>
                  </a:txBody>
                  <a:tcPr marL="91440" marR="91440" marT="45720" marB="45720">
                    <a:solidFill>
                      <a:srgbClr val="F7F7F7"/>
                    </a:solidFill>
                  </a:tcPr>
                </a:tc>
              </a:tr>
              <a:tr h="639536">
                <a:tc>
                  <a:txBody>
                    <a:bodyPr/>
                    <a:lstStyle/>
                    <a:p>
                      <a:pPr algn="r"/>
                      <a:r>
                        <a:rPr sz="1350" b="0">
                          <a:solidFill>
                            <a:srgbClr val="111111"/>
                          </a:solidFill>
                          <a:latin typeface="Arial"/>
                          <a:ea typeface="Arial"/>
                          <a:cs typeface="Arial"/>
                        </a:rPr>
                        <a:t>بله</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بله</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تصمیم Qwen در همان چارچوب</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KSA مدل</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64453C2-C2F2-4776-A369-C9FE38A96286}"/>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فصل ۵ پایان‌نامه و رابط‌های مبنا</a:t>
            </a:r>
          </a:p>
        </p:txBody>
      </p:sp>
    </p:spTree>
    <p:extLst>
      <p:ext uri="{BB962C8B-B14F-4D97-AF65-F5344CB8AC3E}">
        <p14:creationId xmlns:p14="http://schemas.microsoft.com/office/powerpoint/2010/main" val="125873648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82B09A4-BF18-4C8A-A32A-2E19DCEC675E}"/>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پشتیبان — آزمون‌های آماری و دامنهٔ استنباط</a:t>
            </a:r>
          </a:p>
        </p:txBody>
      </p:sp>
      <p:sp>
        <p:nvSpPr>
          <p:cNvPr id="2" name="">
            <a:extLst xmlns:a="http://schemas.openxmlformats.org/drawingml/2006/main">
              <a:ext uri="{FF2B5EF4-FFF2-40B4-BE49-F238E27FC236}">
                <a16:creationId xmlns:a16="http://schemas.microsoft.com/office/drawing/2014/main" id="{9C791A84-7802-43DB-9825-9DA587DA9CCE}"/>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23</a:t>
            </a:r>
          </a:p>
        </p:txBody>
      </p:sp>
      <p:graphicFrame>
        <p:nvGraphicFramePr>
          <p:cNvPr id="7" name=""/>
          <p:cNvGraphicFramePr/>
          <p:nvPr/>
        </p:nvGraphicFramePr>
        <p:xfrm>
          <a:off xmlns:a="http://schemas.openxmlformats.org/drawingml/2006/main" x="495300" y="1543050"/>
          <a:ext xmlns:a="http://schemas.openxmlformats.org/drawingml/2006/main" cx="11201400" cy="4476750"/>
        </p:xfrm>
        <a:graphic xmlns:a="http://schemas.openxmlformats.org/drawingml/2006/main">
          <a:graphicData uri="http://schemas.openxmlformats.org/drawingml/2006/table">
            <a:tbl>
              <a:tblPr/>
              <a:tblGrid>
                <a:gridCol w="3009331"/>
                <a:gridCol w="2173406"/>
                <a:gridCol w="2173406"/>
                <a:gridCol w="3845257"/>
              </a:tblGrid>
              <a:tr h="895350">
                <a:tc>
                  <a:txBody>
                    <a:bodyPr/>
                    <a:lstStyle/>
                    <a:p>
                      <a:pPr algn="r"/>
                      <a:r>
                        <a:rPr sz="1425" b="1">
                          <a:solidFill>
                            <a:srgbClr val="111111"/>
                          </a:solidFill>
                          <a:latin typeface="Arial"/>
                          <a:ea typeface="Arial"/>
                          <a:cs typeface="Arial"/>
                        </a:rPr>
                        <a:t>تفسیر</a:t>
                      </a:r>
                    </a:p>
                  </a:txBody>
                  <a:tcPr marL="91440" marR="91440" marT="45720" marB="45720">
                    <a:solidFill>
                      <a:srgbClr val="DCEBFA"/>
                    </a:solidFill>
                  </a:tcPr>
                </a:tc>
                <a:tc>
                  <a:txBody>
                    <a:bodyPr/>
                    <a:lstStyle/>
                    <a:p>
                      <a:pPr algn="r"/>
                      <a:r>
                        <a:rPr sz="1425" b="1">
                          <a:solidFill>
                            <a:srgbClr val="111111"/>
                          </a:solidFill>
                          <a:latin typeface="Arial"/>
                          <a:ea typeface="Arial"/>
                          <a:cs typeface="Arial"/>
                        </a:rPr>
                        <a:t>p هولم</a:t>
                      </a:r>
                    </a:p>
                  </a:txBody>
                  <a:tcPr marL="91440" marR="91440" marT="45720" marB="45720">
                    <a:solidFill>
                      <a:srgbClr val="DCEBFA"/>
                    </a:solidFill>
                  </a:tcPr>
                </a:tc>
                <a:tc>
                  <a:txBody>
                    <a:bodyPr/>
                    <a:lstStyle/>
                    <a:p>
                      <a:pPr algn="r"/>
                      <a:r>
                        <a:rPr sz="1425" b="1">
                          <a:solidFill>
                            <a:srgbClr val="111111"/>
                          </a:solidFill>
                          <a:latin typeface="Arial"/>
                          <a:ea typeface="Arial"/>
                          <a:cs typeface="Arial"/>
                        </a:rPr>
                        <a:t>اختلاف ریسک</a:t>
                      </a:r>
                    </a:p>
                  </a:txBody>
                  <a:tcPr marL="91440" marR="91440" marT="45720" marB="45720">
                    <a:solidFill>
                      <a:srgbClr val="DCEBFA"/>
                    </a:solidFill>
                  </a:tcPr>
                </a:tc>
                <a:tc>
                  <a:txBody>
                    <a:bodyPr/>
                    <a:lstStyle/>
                    <a:p>
                      <a:pPr algn="r"/>
                      <a:r>
                        <a:rPr sz="1425" b="1">
                          <a:solidFill>
                            <a:srgbClr val="111111"/>
                          </a:solidFill>
                          <a:latin typeface="Arial"/>
                          <a:ea typeface="Arial"/>
                          <a:cs typeface="Arial"/>
                        </a:rPr>
                        <a:t>کنتراست</a:t>
                      </a:r>
                    </a:p>
                  </a:txBody>
                  <a:tcPr marL="91440" marR="91440" marT="45720" marB="45720">
                    <a:solidFill>
                      <a:srgbClr val="DCEBFA"/>
                    </a:solidFill>
                  </a:tcPr>
                </a:tc>
              </a:tr>
              <a:tr h="895350">
                <a:tc>
                  <a:txBody>
                    <a:bodyPr/>
                    <a:lstStyle/>
                    <a:p>
                      <a:pPr algn="r"/>
                      <a:r>
                        <a:rPr sz="1350" b="0">
                          <a:solidFill>
                            <a:srgbClr val="111111"/>
                          </a:solidFill>
                          <a:latin typeface="Arial"/>
                          <a:ea typeface="Arial"/>
                          <a:cs typeface="Arial"/>
                        </a:rPr>
                        <a:t>بهبود پشتیبانی‌شده</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1.6×10⁻⁵</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+0.2222</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قاعده در برابر صفرنمونه</a:t>
                      </a:r>
                    </a:p>
                  </a:txBody>
                  <a:tcPr marL="91440" marR="91440" marT="45720" marB="45720">
                    <a:solidFill>
                      <a:srgbClr val="F7F7F7"/>
                    </a:solidFill>
                  </a:tcPr>
                </a:tc>
              </a:tr>
              <a:tr h="895350">
                <a:tc>
                  <a:txBody>
                    <a:bodyPr/>
                    <a:lstStyle/>
                    <a:p>
                      <a:pPr algn="r"/>
                      <a:r>
                        <a:rPr sz="1350" b="0">
                          <a:solidFill>
                            <a:srgbClr val="111111"/>
                          </a:solidFill>
                          <a:latin typeface="Arial"/>
                          <a:ea typeface="Arial"/>
                          <a:cs typeface="Arial"/>
                        </a:rPr>
                        <a:t>غیرمعنادار</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0.286</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+0.0333</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قاعده در برابر KSA مدل</a:t>
                      </a:r>
                    </a:p>
                  </a:txBody>
                  <a:tcPr marL="91440" marR="91440" marT="45720" marB="45720">
                    <a:solidFill>
                      <a:srgbClr val="FFFFFF"/>
                    </a:solidFill>
                  </a:tcPr>
                </a:tc>
              </a:tr>
              <a:tr h="895350">
                <a:tc>
                  <a:txBody>
                    <a:bodyPr/>
                    <a:lstStyle/>
                    <a:p>
                      <a:pPr algn="r"/>
                      <a:r>
                        <a:rPr sz="1350" b="0">
                          <a:solidFill>
                            <a:srgbClr val="111111"/>
                          </a:solidFill>
                          <a:latin typeface="Arial"/>
                          <a:ea typeface="Arial"/>
                          <a:cs typeface="Arial"/>
                        </a:rPr>
                        <a:t>کنتراست تشخیصی</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&lt;0.001</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+0.5000</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قاعده در برابر B4</a:t>
                      </a:r>
                    </a:p>
                  </a:txBody>
                  <a:tcPr marL="91440" marR="91440" marT="45720" marB="45720">
                    <a:solidFill>
                      <a:srgbClr val="F7F7F7"/>
                    </a:solidFill>
                  </a:tcPr>
                </a:tc>
              </a:tr>
              <a:tr h="895350">
                <a:tc>
                  <a:txBody>
                    <a:bodyPr/>
                    <a:lstStyle/>
                    <a:p>
                      <a:pPr algn="r"/>
                      <a:r>
                        <a:rPr sz="1350" b="0">
                          <a:solidFill>
                            <a:srgbClr val="111111"/>
                          </a:solidFill>
                          <a:latin typeface="Arial"/>
                          <a:ea typeface="Arial"/>
                          <a:cs typeface="Arial"/>
                        </a:rPr>
                        <a:t>بدون آزمون؛ طراحی پاک نداریم</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LongMemEval</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FEF9D93-52BD-4687-81B0-742BB3421EB6}"/>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گزارش تحلیل آماری؛ n=180 جفتی</a:t>
            </a:r>
          </a:p>
        </p:txBody>
      </p:sp>
    </p:spTree>
    <p:extLst>
      <p:ext uri="{BB962C8B-B14F-4D97-AF65-F5344CB8AC3E}">
        <p14:creationId xmlns:p14="http://schemas.microsoft.com/office/powerpoint/2010/main" val="152707896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99BAC37-39F0-487F-83FC-21F5DB815B42}"/>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پشتیبان — توافق برچسب‌گذاری و یک مورد مرزی</a:t>
            </a:r>
          </a:p>
        </p:txBody>
      </p:sp>
      <p:sp>
        <p:nvSpPr>
          <p:cNvPr id="2" name="">
            <a:extLst xmlns:a="http://schemas.openxmlformats.org/drawingml/2006/main">
              <a:ext uri="{FF2B5EF4-FFF2-40B4-BE49-F238E27FC236}">
                <a16:creationId xmlns:a16="http://schemas.microsoft.com/office/drawing/2014/main" id="{BC60DC8D-D517-42A7-88F3-22FBCEEB6C4D}"/>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24</a:t>
            </a:r>
          </a:p>
        </p:txBody>
      </p:sp>
      <p:sp>
        <p:nvSpPr>
          <p:cNvPr id="3" name="">
            <a:extLst xmlns:a="http://schemas.openxmlformats.org/drawingml/2006/main">
              <a:ext uri="{FF2B5EF4-FFF2-40B4-BE49-F238E27FC236}">
                <a16:creationId xmlns:a16="http://schemas.microsoft.com/office/drawing/2014/main" id="{CB587071-6651-43A9-9399-663445907D13}"/>
              </a:ext>
            </a:extLst>
          </p:cNvPr>
          <p:cNvSpPr>
            <a:spLocks xmlns:a="http://schemas.openxmlformats.org/drawingml/2006/main" noGrp="1"/>
          </p:cNvSpPr>
          <p:nvPr/>
        </p:nvSpPr>
        <p:spPr>
          <a:xfrm xmlns:a="http://schemas.openxmlformats.org/drawingml/2006/main">
            <a:off x="495300" y="1266825"/>
            <a:ext cx="11201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650" b="0">
                <a:solidFill>
                  <a:srgbClr val="5F6368"/>
                </a:solidFill>
                <a:latin typeface="Arial"/>
                <a:ea typeface="Arial"/>
                <a:cs typeface="Arial"/>
              </a:defRPr>
            </a:pPr>
            <a:r>
              <a:rPr sz="1650" b="0">
                <a:solidFill>
                  <a:srgbClr val="5F6368"/>
                </a:solidFill>
                <a:latin typeface="Arial"/>
                <a:ea typeface="Arial"/>
                <a:cs typeface="Arial"/>
              </a:rPr>
              <a:t>تنها اختلاف: تعارض ضمنی با برچسب طلایی جایگزینی و برچسب مستقل خودداری.</a:t>
            </a:r>
          </a:p>
        </p:txBody>
      </p:sp>
      <p:sp>
        <p:nvSpPr>
          <p:cNvPr id="4" name="">
            <a:extLst xmlns:a="http://schemas.openxmlformats.org/drawingml/2006/main">
              <a:ext uri="{FF2B5EF4-FFF2-40B4-BE49-F238E27FC236}">
                <a16:creationId xmlns:a16="http://schemas.microsoft.com/office/drawing/2014/main" id="{AE13E98B-61B2-44F4-9E58-395222D8EDCB}"/>
              </a:ext>
            </a:extLst>
          </p:cNvPr>
          <p:cNvSpPr>
            <a:spLocks xmlns:a="http://schemas.openxmlformats.org/drawingml/2006/main" noGrp="1"/>
          </p:cNvSpPr>
          <p:nvPr/>
        </p:nvSpPr>
        <p:spPr>
          <a:xfrm xmlns:a="http://schemas.openxmlformats.org/drawingml/2006/main">
            <a:off x="495300" y="2238375"/>
            <a:ext cx="3562350" cy="3143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3F0F6E8-3474-45C0-87BD-45A22DED7B42}"/>
              </a:ext>
            </a:extLst>
          </p:cNvPr>
          <p:cNvSpPr>
            <a:spLocks xmlns:a="http://schemas.openxmlformats.org/drawingml/2006/main" noGrp="1"/>
          </p:cNvSpPr>
          <p:nvPr/>
        </p:nvSpPr>
        <p:spPr>
          <a:xfrm xmlns:a="http://schemas.openxmlformats.org/drawingml/2006/main">
            <a:off x="800100" y="293370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3600" b="0">
                <a:solidFill>
                  <a:srgbClr val="111111"/>
                </a:solidFill>
                <a:latin typeface="Arial"/>
                <a:ea typeface="Arial"/>
                <a:cs typeface="Arial"/>
              </a:defRPr>
            </a:pPr>
            <a:r>
              <a:rPr sz="3600" b="0">
                <a:solidFill>
                  <a:srgbClr val="111111"/>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6B51A4B3-8FD7-4451-8CA2-78FC6A44F96E}"/>
              </a:ext>
            </a:extLst>
          </p:cNvPr>
          <p:cNvSpPr>
            <a:spLocks xmlns:a="http://schemas.openxmlformats.org/drawingml/2006/main" noGrp="1"/>
          </p:cNvSpPr>
          <p:nvPr/>
        </p:nvSpPr>
        <p:spPr>
          <a:xfrm xmlns:a="http://schemas.openxmlformats.org/drawingml/2006/main">
            <a:off x="800100" y="4124325"/>
            <a:ext cx="295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حساسیت بخش آزمون به یک مورد</a:t>
            </a:r>
          </a:p>
        </p:txBody>
      </p:sp>
      <p:sp>
        <p:nvSpPr>
          <p:cNvPr id="7" name="">
            <a:extLst xmlns:a="http://schemas.openxmlformats.org/drawingml/2006/main">
              <a:ext uri="{FF2B5EF4-FFF2-40B4-BE49-F238E27FC236}">
                <a16:creationId xmlns:a16="http://schemas.microsoft.com/office/drawing/2014/main" id="{58E6C1DB-0AB3-4EDC-89E8-8587B01E8651}"/>
              </a:ext>
            </a:extLst>
          </p:cNvPr>
          <p:cNvSpPr>
            <a:spLocks xmlns:a="http://schemas.openxmlformats.org/drawingml/2006/main" noGrp="1"/>
          </p:cNvSpPr>
          <p:nvPr/>
        </p:nvSpPr>
        <p:spPr>
          <a:xfrm xmlns:a="http://schemas.openxmlformats.org/drawingml/2006/main">
            <a:off x="4314825" y="2238375"/>
            <a:ext cx="3562350" cy="31432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80C05A3-CB24-417D-9486-742760F601D2}"/>
              </a:ext>
            </a:extLst>
          </p:cNvPr>
          <p:cNvSpPr>
            <a:spLocks xmlns:a="http://schemas.openxmlformats.org/drawingml/2006/main" noGrp="1"/>
          </p:cNvSpPr>
          <p:nvPr/>
        </p:nvSpPr>
        <p:spPr>
          <a:xfrm xmlns:a="http://schemas.openxmlformats.org/drawingml/2006/main">
            <a:off x="4619625" y="293370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3600" b="0">
                <a:solidFill>
                  <a:srgbClr val="3D8DFF"/>
                </a:solidFill>
                <a:latin typeface="Arial"/>
                <a:ea typeface="Arial"/>
                <a:cs typeface="Arial"/>
              </a:defRPr>
            </a:pPr>
            <a:r>
              <a:rPr sz="3600" b="0">
                <a:solidFill>
                  <a:srgbClr val="3D8DFF"/>
                </a:solidFill>
                <a:latin typeface="Arial"/>
                <a:ea typeface="Arial"/>
                <a:cs typeface="Arial"/>
              </a:rPr>
              <a:t>0.9815</a:t>
            </a:r>
          </a:p>
        </p:txBody>
      </p:sp>
      <p:sp>
        <p:nvSpPr>
          <p:cNvPr id="9" name="">
            <a:extLst xmlns:a="http://schemas.openxmlformats.org/drawingml/2006/main">
              <a:ext uri="{FF2B5EF4-FFF2-40B4-BE49-F238E27FC236}">
                <a16:creationId xmlns:a16="http://schemas.microsoft.com/office/drawing/2014/main" id="{F16BB66D-510E-43A9-8DDF-92F6455BEE08}"/>
              </a:ext>
            </a:extLst>
          </p:cNvPr>
          <p:cNvSpPr>
            <a:spLocks xmlns:a="http://schemas.openxmlformats.org/drawingml/2006/main" noGrp="1"/>
          </p:cNvSpPr>
          <p:nvPr/>
        </p:nvSpPr>
        <p:spPr>
          <a:xfrm xmlns:a="http://schemas.openxmlformats.org/drawingml/2006/main">
            <a:off x="4619625" y="4124325"/>
            <a:ext cx="295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کاپای Fleiss چهار مدل؛ ممیزی جدا</a:t>
            </a:r>
          </a:p>
        </p:txBody>
      </p:sp>
      <p:sp>
        <p:nvSpPr>
          <p:cNvPr id="10" name="">
            <a:extLst xmlns:a="http://schemas.openxmlformats.org/drawingml/2006/main">
              <a:ext uri="{FF2B5EF4-FFF2-40B4-BE49-F238E27FC236}">
                <a16:creationId xmlns:a16="http://schemas.microsoft.com/office/drawing/2014/main" id="{A53B1A07-7164-4453-8B4A-7DDE3332A833}"/>
              </a:ext>
            </a:extLst>
          </p:cNvPr>
          <p:cNvSpPr>
            <a:spLocks xmlns:a="http://schemas.openxmlformats.org/drawingml/2006/main" noGrp="1"/>
          </p:cNvSpPr>
          <p:nvPr/>
        </p:nvSpPr>
        <p:spPr>
          <a:xfrm xmlns:a="http://schemas.openxmlformats.org/drawingml/2006/main">
            <a:off x="8134350" y="2238375"/>
            <a:ext cx="3562350" cy="3143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ABDC4B0-072F-4477-A551-A39A8BBC23D7}"/>
              </a:ext>
            </a:extLst>
          </p:cNvPr>
          <p:cNvSpPr>
            <a:spLocks xmlns:a="http://schemas.openxmlformats.org/drawingml/2006/main" noGrp="1"/>
          </p:cNvSpPr>
          <p:nvPr/>
        </p:nvSpPr>
        <p:spPr>
          <a:xfrm xmlns:a="http://schemas.openxmlformats.org/drawingml/2006/main">
            <a:off x="8439150" y="293370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r">
              <a:defRPr sz="3600" b="0">
                <a:solidFill>
                  <a:srgbClr val="111111"/>
                </a:solidFill>
                <a:latin typeface="Arial"/>
                <a:ea typeface="Arial"/>
                <a:cs typeface="Arial"/>
              </a:defRPr>
            </a:pPr>
            <a:r>
              <a:rPr sz="3600" b="0">
                <a:solidFill>
                  <a:srgbClr val="111111"/>
                </a:solidFill>
                <a:latin typeface="Arial"/>
                <a:ea typeface="Arial"/>
                <a:cs typeface="Arial"/>
              </a:rPr>
              <a:t>0.9889</a:t>
            </a:r>
          </a:p>
        </p:txBody>
      </p:sp>
      <p:sp>
        <p:nvSpPr>
          <p:cNvPr id="12" name="">
            <a:extLst xmlns:a="http://schemas.openxmlformats.org/drawingml/2006/main">
              <a:ext uri="{FF2B5EF4-FFF2-40B4-BE49-F238E27FC236}">
                <a16:creationId xmlns:a16="http://schemas.microsoft.com/office/drawing/2014/main" id="{A891FEDE-4200-4F0F-88FA-13AB850241B5}"/>
              </a:ext>
            </a:extLst>
          </p:cNvPr>
          <p:cNvSpPr>
            <a:spLocks xmlns:a="http://schemas.openxmlformats.org/drawingml/2006/main" noGrp="1"/>
          </p:cNvSpPr>
          <p:nvPr/>
        </p:nvSpPr>
        <p:spPr>
          <a:xfrm xmlns:a="http://schemas.openxmlformats.org/drawingml/2006/main">
            <a:off x="8439150" y="4124325"/>
            <a:ext cx="295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توافق خام در ۹۰ مورد آزمون</a:t>
            </a:r>
          </a:p>
        </p:txBody>
      </p:sp>
      <p:sp>
        <p:nvSpPr>
          <p:cNvPr id="13" name="">
            <a:extLst xmlns:a="http://schemas.openxmlformats.org/drawingml/2006/main">
              <a:ext uri="{FF2B5EF4-FFF2-40B4-BE49-F238E27FC236}">
                <a16:creationId xmlns:a16="http://schemas.microsoft.com/office/drawing/2014/main" id="{B8032F16-668C-40A6-A418-29F7A4860A36}"/>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بستهٔ ممیزی برچسب‌گذاری و پیوست D</a:t>
            </a:r>
          </a:p>
        </p:txBody>
      </p:sp>
    </p:spTree>
    <p:extLst>
      <p:ext uri="{BB962C8B-B14F-4D97-AF65-F5344CB8AC3E}">
        <p14:creationId xmlns:p14="http://schemas.microsoft.com/office/powerpoint/2010/main" val="55451632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122794D-E5B4-4062-927D-180B84E5B7B2}"/>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پشتیبان — کنترل نشت داده و آزادی عمل پژوهشگر</a:t>
            </a:r>
          </a:p>
        </p:txBody>
      </p:sp>
      <p:sp>
        <p:nvSpPr>
          <p:cNvPr id="2" name="">
            <a:extLst xmlns:a="http://schemas.openxmlformats.org/drawingml/2006/main">
              <a:ext uri="{FF2B5EF4-FFF2-40B4-BE49-F238E27FC236}">
                <a16:creationId xmlns:a16="http://schemas.microsoft.com/office/drawing/2014/main" id="{E63C4106-27C9-4A25-99A0-0E2D9BCB281E}"/>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25</a:t>
            </a:r>
          </a:p>
        </p:txBody>
      </p:sp>
      <p:sp>
        <p:nvSpPr>
          <p:cNvPr id="3" name="">
            <a:extLst xmlns:a="http://schemas.openxmlformats.org/drawingml/2006/main">
              <a:ext uri="{FF2B5EF4-FFF2-40B4-BE49-F238E27FC236}">
                <a16:creationId xmlns:a16="http://schemas.microsoft.com/office/drawing/2014/main" id="{D6DE8EF6-7279-47A9-A599-E2BC7644EA6A}"/>
              </a:ext>
            </a:extLst>
          </p:cNvPr>
          <p:cNvSpPr>
            <a:spLocks xmlns:a="http://schemas.openxmlformats.org/drawingml/2006/main" noGrp="1"/>
          </p:cNvSpPr>
          <p:nvPr/>
        </p:nvSpPr>
        <p:spPr>
          <a:xfrm xmlns:a="http://schemas.openxmlformats.org/drawingml/2006/main">
            <a:off x="495300" y="1666875"/>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تغییر پسینی</a:t>
            </a:r>
          </a:p>
        </p:txBody>
      </p:sp>
      <p:sp>
        <p:nvSpPr>
          <p:cNvPr id="4" name="">
            <a:extLst xmlns:a="http://schemas.openxmlformats.org/drawingml/2006/main">
              <a:ext uri="{FF2B5EF4-FFF2-40B4-BE49-F238E27FC236}">
                <a16:creationId xmlns:a16="http://schemas.microsoft.com/office/drawing/2014/main" id="{8CAB541A-152E-4198-94C1-903738FC66A7}"/>
              </a:ext>
            </a:extLst>
          </p:cNvPr>
          <p:cNvSpPr>
            <a:spLocks xmlns:a="http://schemas.openxmlformats.org/drawingml/2006/main" noGrp="1"/>
          </p:cNvSpPr>
          <p:nvPr/>
        </p:nvSpPr>
        <p:spPr>
          <a:xfrm xmlns:a="http://schemas.openxmlformats.org/drawingml/2006/main">
            <a:off x="495300" y="2257425"/>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بازداوری، انتخاب شکست‌ها، تغییر مدل و تکمیل مکمل صریح ثبت می‌شوند.</a:t>
            </a:r>
          </a:p>
        </p:txBody>
      </p:sp>
      <p:sp>
        <p:nvSpPr>
          <p:cNvPr id="5" name="">
            <a:extLst xmlns:a="http://schemas.openxmlformats.org/drawingml/2006/main">
              <a:ext uri="{FF2B5EF4-FFF2-40B4-BE49-F238E27FC236}">
                <a16:creationId xmlns:a16="http://schemas.microsoft.com/office/drawing/2014/main" id="{D52797ED-FC10-4B2D-BBFE-415AD793989B}"/>
              </a:ext>
            </a:extLst>
          </p:cNvPr>
          <p:cNvSpPr>
            <a:spLocks xmlns:a="http://schemas.openxmlformats.org/drawingml/2006/main" noGrp="1"/>
          </p:cNvSpPr>
          <p:nvPr/>
        </p:nvSpPr>
        <p:spPr>
          <a:xfrm xmlns:a="http://schemas.openxmlformats.org/drawingml/2006/main">
            <a:off x="6229350" y="1666875"/>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وضعیت اجرا</a:t>
            </a:r>
          </a:p>
        </p:txBody>
      </p:sp>
      <p:sp>
        <p:nvSpPr>
          <p:cNvPr id="6" name="">
            <a:extLst xmlns:a="http://schemas.openxmlformats.org/drawingml/2006/main">
              <a:ext uri="{FF2B5EF4-FFF2-40B4-BE49-F238E27FC236}">
                <a16:creationId xmlns:a16="http://schemas.microsoft.com/office/drawing/2014/main" id="{7D59F8BA-BDFE-4F03-94D3-DBCDDDACE803}"/>
              </a:ext>
            </a:extLst>
          </p:cNvPr>
          <p:cNvSpPr>
            <a:spLocks xmlns:a="http://schemas.openxmlformats.org/drawingml/2006/main" noGrp="1"/>
          </p:cNvSpPr>
          <p:nvPr/>
        </p:nvSpPr>
        <p:spPr>
          <a:xfrm xmlns:a="http://schemas.openxmlformats.org/drawingml/2006/main">
            <a:off x="6229350" y="2257425"/>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بازپخش، ناقص، نامعتبر و تشخیصی وارد جدول نهایی نمی‌شوند.</a:t>
            </a:r>
          </a:p>
        </p:txBody>
      </p:sp>
      <p:sp>
        <p:nvSpPr>
          <p:cNvPr id="7" name="">
            <a:extLst xmlns:a="http://schemas.openxmlformats.org/drawingml/2006/main">
              <a:ext uri="{FF2B5EF4-FFF2-40B4-BE49-F238E27FC236}">
                <a16:creationId xmlns:a16="http://schemas.microsoft.com/office/drawing/2014/main" id="{0D29604D-F37F-415E-929F-DA91942D1F05}"/>
              </a:ext>
            </a:extLst>
          </p:cNvPr>
          <p:cNvSpPr>
            <a:spLocks xmlns:a="http://schemas.openxmlformats.org/drawingml/2006/main" noGrp="1"/>
          </p:cNvSpPr>
          <p:nvPr/>
        </p:nvSpPr>
        <p:spPr>
          <a:xfrm xmlns:a="http://schemas.openxmlformats.org/drawingml/2006/main">
            <a:off x="495300" y="3886200"/>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افشای تقسیم</a:t>
            </a:r>
          </a:p>
        </p:txBody>
      </p:sp>
      <p:sp>
        <p:nvSpPr>
          <p:cNvPr id="8" name="">
            <a:extLst xmlns:a="http://schemas.openxmlformats.org/drawingml/2006/main">
              <a:ext uri="{FF2B5EF4-FFF2-40B4-BE49-F238E27FC236}">
                <a16:creationId xmlns:a16="http://schemas.microsoft.com/office/drawing/2014/main" id="{55B52D63-6BC3-4608-88A9-06650DA528EB}"/>
              </a:ext>
            </a:extLst>
          </p:cNvPr>
          <p:cNvSpPr>
            <a:spLocks xmlns:a="http://schemas.openxmlformats.org/drawingml/2006/main" noGrp="1"/>
          </p:cNvSpPr>
          <p:nvPr/>
        </p:nvSpPr>
        <p:spPr>
          <a:xfrm xmlns:a="http://schemas.openxmlformats.org/drawingml/2006/main">
            <a:off x="495300" y="4476750"/>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نتیجهٔ ۱۸۰ شامل آموزش و توسعه است؛ آزمون ۹۰تایی جدا گزارش می‌شود.</a:t>
            </a:r>
          </a:p>
        </p:txBody>
      </p:sp>
      <p:sp>
        <p:nvSpPr>
          <p:cNvPr id="9" name="">
            <a:extLst xmlns:a="http://schemas.openxmlformats.org/drawingml/2006/main">
              <a:ext uri="{FF2B5EF4-FFF2-40B4-BE49-F238E27FC236}">
                <a16:creationId xmlns:a16="http://schemas.microsoft.com/office/drawing/2014/main" id="{5DC172AC-DF37-4E27-B977-663CB4BB7279}"/>
              </a:ext>
            </a:extLst>
          </p:cNvPr>
          <p:cNvSpPr>
            <a:spLocks xmlns:a="http://schemas.openxmlformats.org/drawingml/2006/main" noGrp="1"/>
          </p:cNvSpPr>
          <p:nvPr/>
        </p:nvSpPr>
        <p:spPr>
          <a:xfrm xmlns:a="http://schemas.openxmlformats.org/drawingml/2006/main">
            <a:off x="6229350" y="3886200"/>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شناسهٔ ثابت</a:t>
            </a:r>
          </a:p>
        </p:txBody>
      </p:sp>
      <p:sp>
        <p:nvSpPr>
          <p:cNvPr id="10" name="">
            <a:extLst xmlns:a="http://schemas.openxmlformats.org/drawingml/2006/main">
              <a:ext uri="{FF2B5EF4-FFF2-40B4-BE49-F238E27FC236}">
                <a16:creationId xmlns:a16="http://schemas.microsoft.com/office/drawing/2014/main" id="{F5125886-1A86-4AAE-8531-1B3E79BF20DB}"/>
              </a:ext>
            </a:extLst>
          </p:cNvPr>
          <p:cNvSpPr>
            <a:spLocks xmlns:a="http://schemas.openxmlformats.org/drawingml/2006/main" noGrp="1"/>
          </p:cNvSpPr>
          <p:nvPr/>
        </p:nvSpPr>
        <p:spPr>
          <a:xfrm xmlns:a="http://schemas.openxmlformats.org/drawingml/2006/main">
            <a:off x="6229350" y="4476750"/>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پیش‌بینی با شناسه هم‌تراز و پوشش و تکرار بررسی می‌شود.</a:t>
            </a:r>
          </a:p>
        </p:txBody>
      </p:sp>
      <p:sp>
        <p:nvSpPr>
          <p:cNvPr id="11" name="">
            <a:extLst xmlns:a="http://schemas.openxmlformats.org/drawingml/2006/main">
              <a:ext uri="{FF2B5EF4-FFF2-40B4-BE49-F238E27FC236}">
                <a16:creationId xmlns:a16="http://schemas.microsoft.com/office/drawing/2014/main" id="{973F79C9-9011-4AB4-91AC-EB197B9537B9}"/>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ممیزی نشت داده و آزادی عمل پژوهشگر</a:t>
            </a:r>
          </a:p>
        </p:txBody>
      </p:sp>
    </p:spTree>
    <p:extLst>
      <p:ext uri="{BB962C8B-B14F-4D97-AF65-F5344CB8AC3E}">
        <p14:creationId xmlns:p14="http://schemas.microsoft.com/office/powerpoint/2010/main" val="186007914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2E4AF3E-2ACA-4549-805D-3985BB237147}"/>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پشتیبان — چرا شواهد LongMemEval فقط تشخیصی است</a:t>
            </a:r>
          </a:p>
        </p:txBody>
      </p:sp>
      <p:sp>
        <p:nvSpPr>
          <p:cNvPr id="2" name="">
            <a:extLst xmlns:a="http://schemas.openxmlformats.org/drawingml/2006/main">
              <a:ext uri="{FF2B5EF4-FFF2-40B4-BE49-F238E27FC236}">
                <a16:creationId xmlns:a16="http://schemas.microsoft.com/office/drawing/2014/main" id="{6C093491-0690-444D-B9D6-FFD6294DDC2D}"/>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26</a:t>
            </a:r>
          </a:p>
        </p:txBody>
      </p:sp>
      <p:sp>
        <p:nvSpPr>
          <p:cNvPr id="3" name="">
            <a:extLst xmlns:a="http://schemas.openxmlformats.org/drawingml/2006/main">
              <a:ext uri="{FF2B5EF4-FFF2-40B4-BE49-F238E27FC236}">
                <a16:creationId xmlns:a16="http://schemas.microsoft.com/office/drawing/2014/main" id="{331208DD-4DF0-4F52-8F5C-6EA3AED53749}"/>
              </a:ext>
            </a:extLst>
          </p:cNvPr>
          <p:cNvSpPr>
            <a:spLocks xmlns:a="http://schemas.openxmlformats.org/drawingml/2006/main" noGrp="1"/>
          </p:cNvSpPr>
          <p:nvPr/>
        </p:nvSpPr>
        <p:spPr>
          <a:xfrm xmlns:a="http://schemas.openxmlformats.org/drawingml/2006/main">
            <a:off x="762000" y="3086100"/>
            <a:ext cx="10668000" cy="190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E13D5EB-A577-4C76-BC70-80EA5F945673}"/>
              </a:ext>
            </a:extLst>
          </p:cNvPr>
          <p:cNvSpPr>
            <a:spLocks xmlns:a="http://schemas.openxmlformats.org/drawingml/2006/main" noGrp="1"/>
          </p:cNvSpPr>
          <p:nvPr/>
        </p:nvSpPr>
        <p:spPr>
          <a:xfrm xmlns:a="http://schemas.openxmlformats.org/drawingml/2006/main">
            <a:off x="781050" y="3009900"/>
            <a:ext cx="171450" cy="171450"/>
          </a:xfrm>
          <a:prstGeom xmlns:a="http://schemas.openxmlformats.org/drawingml/2006/main" prst="ellipse">
            <a:avLst/>
          </a:prstGeom>
          <a:solidFill xmlns:a="http://schemas.openxmlformats.org/drawingml/2006/main">
            <a:srgbClr val="11111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D6D2E84-56A1-4B82-A1F5-D5CA93C570A3}"/>
              </a:ext>
            </a:extLst>
          </p:cNvPr>
          <p:cNvSpPr>
            <a:spLocks xmlns:a="http://schemas.openxmlformats.org/drawingml/2006/main" noGrp="1"/>
          </p:cNvSpPr>
          <p:nvPr/>
        </p:nvSpPr>
        <p:spPr>
          <a:xfrm xmlns:a="http://schemas.openxmlformats.org/drawingml/2006/main">
            <a:off x="781050" y="2428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425" b="0">
                <a:solidFill>
                  <a:srgbClr val="5F6368"/>
                </a:solidFill>
                <a:latin typeface="Arial"/>
                <a:ea typeface="Arial"/>
                <a:cs typeface="Arial"/>
              </a:defRPr>
            </a:pPr>
            <a:r>
              <a:rPr sz="1425" b="0">
                <a:solidFill>
                  <a:srgbClr val="5F6368"/>
                </a:solidFill>
                <a:latin typeface="Arial"/>
                <a:ea typeface="Arial"/>
                <a:cs typeface="Arial"/>
              </a:rPr>
              <a:t>تکمیل</a:t>
            </a:r>
          </a:p>
        </p:txBody>
      </p:sp>
      <p:sp>
        <p:nvSpPr>
          <p:cNvPr id="6" name="">
            <a:extLst xmlns:a="http://schemas.openxmlformats.org/drawingml/2006/main">
              <a:ext uri="{FF2B5EF4-FFF2-40B4-BE49-F238E27FC236}">
                <a16:creationId xmlns:a16="http://schemas.microsoft.com/office/drawing/2014/main" id="{5E1AA4E4-68D8-4F40-848C-EAF59A5F03C6}"/>
              </a:ext>
            </a:extLst>
          </p:cNvPr>
          <p:cNvSpPr>
            <a:spLocks xmlns:a="http://schemas.openxmlformats.org/drawingml/2006/main" noGrp="1"/>
          </p:cNvSpPr>
          <p:nvPr/>
        </p:nvSpPr>
        <p:spPr>
          <a:xfrm xmlns:a="http://schemas.openxmlformats.org/drawingml/2006/main">
            <a:off x="781050" y="3581400"/>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75" b="1">
                <a:solidFill>
                  <a:srgbClr val="111111"/>
                </a:solidFill>
                <a:latin typeface="Arial"/>
                <a:ea typeface="Arial"/>
                <a:cs typeface="Arial"/>
              </a:defRPr>
            </a:pPr>
            <a:r>
              <a:rPr sz="1875" b="1">
                <a:solidFill>
                  <a:srgbClr val="111111"/>
                </a:solidFill>
                <a:latin typeface="Arial"/>
                <a:ea typeface="Arial"/>
                <a:cs typeface="Arial"/>
              </a:rPr>
              <a:t>۱۱۰ موفقیت مکمل</a:t>
            </a:r>
          </a:p>
        </p:txBody>
      </p:sp>
      <p:sp>
        <p:nvSpPr>
          <p:cNvPr id="7" name="">
            <a:extLst xmlns:a="http://schemas.openxmlformats.org/drawingml/2006/main">
              <a:ext uri="{FF2B5EF4-FFF2-40B4-BE49-F238E27FC236}">
                <a16:creationId xmlns:a16="http://schemas.microsoft.com/office/drawing/2014/main" id="{A78F5E2D-8A99-4C9E-BF75-7093EE33A21E}"/>
              </a:ext>
            </a:extLst>
          </p:cNvPr>
          <p:cNvSpPr>
            <a:spLocks xmlns:a="http://schemas.openxmlformats.org/drawingml/2006/main" noGrp="1"/>
          </p:cNvSpPr>
          <p:nvPr/>
        </p:nvSpPr>
        <p:spPr>
          <a:xfrm xmlns:a="http://schemas.openxmlformats.org/drawingml/2006/main">
            <a:off x="781050" y="4171950"/>
            <a:ext cx="285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۸۴ کامل؛ ۷۱ درست و ۱۳ پسرفت.</a:t>
            </a:r>
          </a:p>
        </p:txBody>
      </p:sp>
      <p:sp>
        <p:nvSpPr>
          <p:cNvPr id="8" name="">
            <a:extLst xmlns:a="http://schemas.openxmlformats.org/drawingml/2006/main">
              <a:ext uri="{FF2B5EF4-FFF2-40B4-BE49-F238E27FC236}">
                <a16:creationId xmlns:a16="http://schemas.microsoft.com/office/drawing/2014/main" id="{ECA73E03-FD7A-40B2-A877-ACE094F5E3DE}"/>
              </a:ext>
            </a:extLst>
          </p:cNvPr>
          <p:cNvSpPr>
            <a:spLocks xmlns:a="http://schemas.openxmlformats.org/drawingml/2006/main" noGrp="1"/>
          </p:cNvSpPr>
          <p:nvPr/>
        </p:nvSpPr>
        <p:spPr>
          <a:xfrm xmlns:a="http://schemas.openxmlformats.org/drawingml/2006/main">
            <a:off x="4324350" y="3009900"/>
            <a:ext cx="171450" cy="171450"/>
          </a:xfrm>
          <a:prstGeom xmlns:a="http://schemas.openxmlformats.org/drawingml/2006/main" prst="ellipse">
            <a:avLst/>
          </a:prstGeom>
          <a:solidFill xmlns:a="http://schemas.openxmlformats.org/drawingml/2006/main">
            <a:srgbClr val="11111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1D34649-36D0-49D1-8BA1-CFB8EEEB4B05}"/>
              </a:ext>
            </a:extLst>
          </p:cNvPr>
          <p:cNvSpPr>
            <a:spLocks xmlns:a="http://schemas.openxmlformats.org/drawingml/2006/main" noGrp="1"/>
          </p:cNvSpPr>
          <p:nvPr/>
        </p:nvSpPr>
        <p:spPr>
          <a:xfrm xmlns:a="http://schemas.openxmlformats.org/drawingml/2006/main">
            <a:off x="4324350" y="2428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425" b="0">
                <a:solidFill>
                  <a:srgbClr val="5F6368"/>
                </a:solidFill>
                <a:latin typeface="Arial"/>
                <a:ea typeface="Arial"/>
                <a:cs typeface="Arial"/>
              </a:defRPr>
            </a:pPr>
            <a:r>
              <a:rPr sz="1425" b="0">
                <a:solidFill>
                  <a:srgbClr val="5F6368"/>
                </a:solidFill>
                <a:latin typeface="Arial"/>
                <a:ea typeface="Arial"/>
                <a:cs typeface="Arial"/>
              </a:rPr>
              <a:t>بازپخش</a:t>
            </a:r>
          </a:p>
        </p:txBody>
      </p:sp>
      <p:sp>
        <p:nvSpPr>
          <p:cNvPr id="10" name="">
            <a:extLst xmlns:a="http://schemas.openxmlformats.org/drawingml/2006/main">
              <a:ext uri="{FF2B5EF4-FFF2-40B4-BE49-F238E27FC236}">
                <a16:creationId xmlns:a16="http://schemas.microsoft.com/office/drawing/2014/main" id="{13A33667-C52A-4537-A634-00F3E16B90B8}"/>
              </a:ext>
            </a:extLst>
          </p:cNvPr>
          <p:cNvSpPr>
            <a:spLocks xmlns:a="http://schemas.openxmlformats.org/drawingml/2006/main" noGrp="1"/>
          </p:cNvSpPr>
          <p:nvPr/>
        </p:nvSpPr>
        <p:spPr>
          <a:xfrm xmlns:a="http://schemas.openxmlformats.org/drawingml/2006/main">
            <a:off x="4324350" y="3581400"/>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75" b="1">
                <a:solidFill>
                  <a:srgbClr val="111111"/>
                </a:solidFill>
                <a:latin typeface="Arial"/>
                <a:ea typeface="Arial"/>
                <a:cs typeface="Arial"/>
              </a:defRPr>
            </a:pPr>
            <a:r>
              <a:rPr sz="1875" b="1">
                <a:solidFill>
                  <a:srgbClr val="111111"/>
                </a:solidFill>
                <a:latin typeface="Arial"/>
                <a:ea typeface="Arial"/>
                <a:cs typeface="Arial"/>
              </a:rPr>
              <a:t>۷۰ شکست انتخاب‌شده</a:t>
            </a:r>
          </a:p>
        </p:txBody>
      </p:sp>
      <p:sp>
        <p:nvSpPr>
          <p:cNvPr id="11" name="">
            <a:extLst xmlns:a="http://schemas.openxmlformats.org/drawingml/2006/main">
              <a:ext uri="{FF2B5EF4-FFF2-40B4-BE49-F238E27FC236}">
                <a16:creationId xmlns:a16="http://schemas.microsoft.com/office/drawing/2014/main" id="{A9ECBFCA-FA6C-4655-B054-83EA5901ECFD}"/>
              </a:ext>
            </a:extLst>
          </p:cNvPr>
          <p:cNvSpPr>
            <a:spLocks xmlns:a="http://schemas.openxmlformats.org/drawingml/2006/main" noGrp="1"/>
          </p:cNvSpPr>
          <p:nvPr/>
        </p:nvSpPr>
        <p:spPr>
          <a:xfrm xmlns:a="http://schemas.openxmlformats.org/drawingml/2006/main">
            <a:off x="4324350" y="4171950"/>
            <a:ext cx="285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۲۵/۷۰ درست با پرامپت و داور متفاوت.</a:t>
            </a:r>
          </a:p>
        </p:txBody>
      </p:sp>
      <p:sp>
        <p:nvSpPr>
          <p:cNvPr id="12" name="">
            <a:extLst xmlns:a="http://schemas.openxmlformats.org/drawingml/2006/main">
              <a:ext uri="{FF2B5EF4-FFF2-40B4-BE49-F238E27FC236}">
                <a16:creationId xmlns:a16="http://schemas.microsoft.com/office/drawing/2014/main" id="{0293A87C-10D3-43D4-A673-A1DECF95554A}"/>
              </a:ext>
            </a:extLst>
          </p:cNvPr>
          <p:cNvSpPr>
            <a:spLocks xmlns:a="http://schemas.openxmlformats.org/drawingml/2006/main" noGrp="1"/>
          </p:cNvSpPr>
          <p:nvPr/>
        </p:nvSpPr>
        <p:spPr>
          <a:xfrm xmlns:a="http://schemas.openxmlformats.org/drawingml/2006/main">
            <a:off x="7867650" y="3009900"/>
            <a:ext cx="171450" cy="1714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6A81D7D-A959-4185-8305-678E6C99904C}"/>
              </a:ext>
            </a:extLst>
          </p:cNvPr>
          <p:cNvSpPr>
            <a:spLocks xmlns:a="http://schemas.openxmlformats.org/drawingml/2006/main" noGrp="1"/>
          </p:cNvSpPr>
          <p:nvPr/>
        </p:nvSpPr>
        <p:spPr>
          <a:xfrm xmlns:a="http://schemas.openxmlformats.org/drawingml/2006/main">
            <a:off x="7867650" y="2428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425" b="0">
                <a:solidFill>
                  <a:srgbClr val="5F6368"/>
                </a:solidFill>
                <a:latin typeface="Arial"/>
                <a:ea typeface="Arial"/>
                <a:cs typeface="Arial"/>
              </a:defRPr>
            </a:pPr>
            <a:r>
              <a:rPr sz="1425" b="0">
                <a:solidFill>
                  <a:srgbClr val="5F6368"/>
                </a:solidFill>
                <a:latin typeface="Arial"/>
                <a:ea typeface="Arial"/>
                <a:cs typeface="Arial"/>
              </a:rPr>
              <a:t>v7</a:t>
            </a:r>
          </a:p>
        </p:txBody>
      </p:sp>
      <p:sp>
        <p:nvSpPr>
          <p:cNvPr id="14" name="">
            <a:extLst xmlns:a="http://schemas.openxmlformats.org/drawingml/2006/main">
              <a:ext uri="{FF2B5EF4-FFF2-40B4-BE49-F238E27FC236}">
                <a16:creationId xmlns:a16="http://schemas.microsoft.com/office/drawing/2014/main" id="{AD1C064B-2B3A-4FB5-BB26-0EA660D1D72F}"/>
              </a:ext>
            </a:extLst>
          </p:cNvPr>
          <p:cNvSpPr>
            <a:spLocks xmlns:a="http://schemas.openxmlformats.org/drawingml/2006/main" noGrp="1"/>
          </p:cNvSpPr>
          <p:nvPr/>
        </p:nvSpPr>
        <p:spPr>
          <a:xfrm xmlns:a="http://schemas.openxmlformats.org/drawingml/2006/main">
            <a:off x="7867650" y="3581400"/>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875" b="1">
                <a:solidFill>
                  <a:srgbClr val="111111"/>
                </a:solidFill>
                <a:latin typeface="Arial"/>
                <a:ea typeface="Arial"/>
                <a:cs typeface="Arial"/>
              </a:defRPr>
            </a:pPr>
            <a:r>
              <a:rPr sz="1875" b="1">
                <a:solidFill>
                  <a:srgbClr val="111111"/>
                </a:solidFill>
                <a:latin typeface="Arial"/>
                <a:ea typeface="Arial"/>
                <a:cs typeface="Arial"/>
              </a:rPr>
              <a:t>۱۸۰ مورد آلوده</a:t>
            </a:r>
          </a:p>
        </p:txBody>
      </p:sp>
      <p:sp>
        <p:nvSpPr>
          <p:cNvPr id="15" name="">
            <a:extLst xmlns:a="http://schemas.openxmlformats.org/drawingml/2006/main">
              <a:ext uri="{FF2B5EF4-FFF2-40B4-BE49-F238E27FC236}">
                <a16:creationId xmlns:a16="http://schemas.microsoft.com/office/drawing/2014/main" id="{1644518B-5CE7-4AC7-B025-19AAFF327340}"/>
              </a:ext>
            </a:extLst>
          </p:cNvPr>
          <p:cNvSpPr>
            <a:spLocks xmlns:a="http://schemas.openxmlformats.org/drawingml/2006/main" noGrp="1"/>
          </p:cNvSpPr>
          <p:nvPr/>
        </p:nvSpPr>
        <p:spPr>
          <a:xfrm xmlns:a="http://schemas.openxmlformats.org/drawingml/2006/main">
            <a:off x="7867650" y="4171950"/>
            <a:ext cx="285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111111"/>
                </a:solidFill>
                <a:latin typeface="Arial"/>
                <a:ea typeface="Arial"/>
                <a:cs typeface="Arial"/>
              </a:defRPr>
            </a:pPr>
            <a:r>
              <a:rPr sz="1575" b="0">
                <a:solidFill>
                  <a:srgbClr val="111111"/>
                </a:solidFill>
                <a:latin typeface="Arial"/>
                <a:ea typeface="Arial"/>
                <a:cs typeface="Arial"/>
              </a:rPr>
              <a:t>۳۱۶ خطای 402؛ ۳۸۸ جایگزین خالی؛ تشدید بی‌اثر.</a:t>
            </a:r>
          </a:p>
        </p:txBody>
      </p:sp>
      <p:sp>
        <p:nvSpPr>
          <p:cNvPr id="16" name="">
            <a:extLst xmlns:a="http://schemas.openxmlformats.org/drawingml/2006/main">
              <a:ext uri="{FF2B5EF4-FFF2-40B4-BE49-F238E27FC236}">
                <a16:creationId xmlns:a16="http://schemas.microsoft.com/office/drawing/2014/main" id="{50713088-58BC-4380-BEED-45D76AD73D9F}"/>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حقیقت علمی LongMemEval و دفتر مقایسهٔ اجراها</a:t>
            </a:r>
          </a:p>
        </p:txBody>
      </p:sp>
    </p:spTree>
    <p:extLst>
      <p:ext uri="{BB962C8B-B14F-4D97-AF65-F5344CB8AC3E}">
        <p14:creationId xmlns:p14="http://schemas.microsoft.com/office/powerpoint/2010/main" val="170310689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CA7E780-D7F4-44A7-8E1D-4B4E5FCEC72E}"/>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پشتیبان — نگاشت کنش سامانه‌های بیرونی</a:t>
            </a:r>
          </a:p>
        </p:txBody>
      </p:sp>
      <p:sp>
        <p:nvSpPr>
          <p:cNvPr id="2" name="">
            <a:extLst xmlns:a="http://schemas.openxmlformats.org/drawingml/2006/main">
              <a:ext uri="{FF2B5EF4-FFF2-40B4-BE49-F238E27FC236}">
                <a16:creationId xmlns:a16="http://schemas.microsoft.com/office/drawing/2014/main" id="{1014A26F-6D7C-4790-A78C-F8BD0C69F958}"/>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27</a:t>
            </a:r>
          </a:p>
        </p:txBody>
      </p:sp>
      <p:graphicFrame>
        <p:nvGraphicFramePr>
          <p:cNvPr id="7" name=""/>
          <p:cNvGraphicFramePr/>
          <p:nvPr/>
        </p:nvGraphicFramePr>
        <p:xfrm>
          <a:off xmlns:a="http://schemas.openxmlformats.org/drawingml/2006/main" x="495300" y="1543050"/>
          <a:ext xmlns:a="http://schemas.openxmlformats.org/drawingml/2006/main" cx="11201400" cy="4476750"/>
        </p:xfrm>
        <a:graphic xmlns:a="http://schemas.openxmlformats.org/drawingml/2006/main">
          <a:graphicData uri="http://schemas.openxmlformats.org/drawingml/2006/table">
            <a:tbl>
              <a:tblPr/>
              <a:tblGrid>
                <a:gridCol w="3520440"/>
                <a:gridCol w="2720340"/>
                <a:gridCol w="2720340"/>
                <a:gridCol w="2240280"/>
              </a:tblGrid>
              <a:tr h="895350">
                <a:tc>
                  <a:txBody>
                    <a:bodyPr/>
                    <a:lstStyle/>
                    <a:p>
                      <a:pPr algn="r"/>
                      <a:r>
                        <a:rPr sz="1425" b="1">
                          <a:solidFill>
                            <a:srgbClr val="111111"/>
                          </a:solidFill>
                          <a:latin typeface="Arial"/>
                          <a:ea typeface="Arial"/>
                          <a:cs typeface="Arial"/>
                        </a:rPr>
                        <a:t>محدودیت ساختاری</a:t>
                      </a:r>
                    </a:p>
                  </a:txBody>
                  <a:tcPr marL="91440" marR="91440" marT="45720" marB="45720">
                    <a:solidFill>
                      <a:srgbClr val="DCEBFA"/>
                    </a:solidFill>
                  </a:tcPr>
                </a:tc>
                <a:tc>
                  <a:txBody>
                    <a:bodyPr/>
                    <a:lstStyle/>
                    <a:p>
                      <a:pPr algn="r"/>
                      <a:r>
                        <a:rPr sz="1425" b="1">
                          <a:solidFill>
                            <a:srgbClr val="111111"/>
                          </a:solidFill>
                          <a:latin typeface="Arial"/>
                          <a:ea typeface="Arial"/>
                          <a:cs typeface="Arial"/>
                        </a:rPr>
                        <a:t>NOOP→KEEP</a:t>
                      </a:r>
                    </a:p>
                  </a:txBody>
                  <a:tcPr marL="91440" marR="91440" marT="45720" marB="45720">
                    <a:solidFill>
                      <a:srgbClr val="DCEBFA"/>
                    </a:solidFill>
                  </a:tcPr>
                </a:tc>
                <a:tc>
                  <a:txBody>
                    <a:bodyPr/>
                    <a:lstStyle/>
                    <a:p>
                      <a:pPr algn="r"/>
                      <a:r>
                        <a:rPr sz="1425" b="1">
                          <a:solidFill>
                            <a:srgbClr val="111111"/>
                          </a:solidFill>
                          <a:latin typeface="Arial"/>
                          <a:ea typeface="Arial"/>
                          <a:cs typeface="Arial"/>
                        </a:rPr>
                        <a:t>NOOP→ABSTAIN</a:t>
                      </a:r>
                    </a:p>
                  </a:txBody>
                  <a:tcPr marL="91440" marR="91440" marT="45720" marB="45720">
                    <a:solidFill>
                      <a:srgbClr val="DCEBFA"/>
                    </a:solidFill>
                  </a:tcPr>
                </a:tc>
                <a:tc>
                  <a:txBody>
                    <a:bodyPr/>
                    <a:lstStyle/>
                    <a:p>
                      <a:pPr algn="r"/>
                      <a:r>
                        <a:rPr sz="1425" b="1">
                          <a:solidFill>
                            <a:srgbClr val="111111"/>
                          </a:solidFill>
                          <a:latin typeface="Arial"/>
                          <a:ea typeface="Arial"/>
                          <a:cs typeface="Arial"/>
                        </a:rPr>
                        <a:t>رابط</a:t>
                      </a:r>
                    </a:p>
                  </a:txBody>
                  <a:tcPr marL="91440" marR="91440" marT="45720" marB="45720">
                    <a:solidFill>
                      <a:srgbClr val="DCEBFA"/>
                    </a:solidFill>
                  </a:tcPr>
                </a:tc>
              </a:tr>
              <a:tr h="895350">
                <a:tc>
                  <a:txBody>
                    <a:bodyPr/>
                    <a:lstStyle/>
                    <a:p>
                      <a:pPr algn="r"/>
                      <a:r>
                        <a:rPr sz="1350" b="0">
                          <a:solidFill>
                            <a:srgbClr val="111111"/>
                          </a:solidFill>
                          <a:latin typeface="Arial"/>
                          <a:ea typeface="Arial"/>
                          <a:cs typeface="Arial"/>
                        </a:rPr>
                        <a:t>فاقد معنای خودداری KSA</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0.489</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0.678</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Letta</a:t>
                      </a:r>
                    </a:p>
                  </a:txBody>
                  <a:tcPr marL="91440" marR="91440" marT="45720" marB="45720">
                    <a:solidFill>
                      <a:srgbClr val="F7F7F7"/>
                    </a:solidFill>
                  </a:tcPr>
                </a:tc>
              </a:tr>
              <a:tr h="895350">
                <a:tc>
                  <a:txBody>
                    <a:bodyPr/>
                    <a:lstStyle/>
                    <a:p>
                      <a:pPr algn="r"/>
                      <a:r>
                        <a:rPr sz="1350" b="0">
                          <a:solidFill>
                            <a:srgbClr val="111111"/>
                          </a:solidFill>
                          <a:latin typeface="Arial"/>
                          <a:ea typeface="Arial"/>
                          <a:cs typeface="Arial"/>
                        </a:rPr>
                        <a:t>NOOP یعنی بدون به‌روزرسانی</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0.400</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0.622</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Mem0</a:t>
                      </a:r>
                    </a:p>
                  </a:txBody>
                  <a:tcPr marL="91440" marR="91440" marT="45720" marB="45720">
                    <a:solidFill>
                      <a:srgbClr val="FFFFFF"/>
                    </a:solidFill>
                  </a:tcPr>
                </a:tc>
              </a:tr>
              <a:tr h="895350">
                <a:tc>
                  <a:txBody>
                    <a:bodyPr/>
                    <a:lstStyle/>
                    <a:p>
                      <a:pPr algn="r"/>
                      <a:r>
                        <a:rPr sz="1350" b="0">
                          <a:solidFill>
                            <a:srgbClr val="111111"/>
                          </a:solidFill>
                          <a:latin typeface="Arial"/>
                          <a:ea typeface="Arial"/>
                          <a:cs typeface="Arial"/>
                        </a:rPr>
                        <a:t>ابطال گراف برابر کنش طلایی نیست</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0.139</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0.383</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Graphiti</a:t>
                      </a:r>
                    </a:p>
                  </a:txBody>
                  <a:tcPr marL="91440" marR="91440" marT="45720" marB="45720">
                    <a:solidFill>
                      <a:srgbClr val="F7F7F7"/>
                    </a:solidFill>
                  </a:tcPr>
                </a:tc>
              </a:tr>
              <a:tr h="895350">
                <a:tc>
                  <a:txBody>
                    <a:bodyPr/>
                    <a:lstStyle/>
                    <a:p>
                      <a:pPr algn="r"/>
                      <a:r>
                        <a:rPr sz="1350" b="0">
                          <a:solidFill>
                            <a:srgbClr val="111111"/>
                          </a:solidFill>
                          <a:latin typeface="Arial"/>
                          <a:ea typeface="Arial"/>
                          <a:cs typeface="Arial"/>
                        </a:rPr>
                        <a:t>جایگزینی نامشهود؛ فقط کران</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0.144</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MemOS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6F6F69A-0FEE-409D-9F04-E4DCBDD44E02}"/>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گزارش سامانه‌های بیرونی و دفتر نتایج v1.1</a:t>
            </a:r>
          </a:p>
        </p:txBody>
      </p:sp>
    </p:spTree>
    <p:extLst>
      <p:ext uri="{BB962C8B-B14F-4D97-AF65-F5344CB8AC3E}">
        <p14:creationId xmlns:p14="http://schemas.microsoft.com/office/powerpoint/2010/main" val="168658761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AF01943-1409-4A51-AB50-BBEB923F7A67}"/>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پشتیبان — نزدیک‌ترین کارها ادعای نوآوری را محدود می‌کنند</a:t>
            </a:r>
          </a:p>
        </p:txBody>
      </p:sp>
      <p:sp>
        <p:nvSpPr>
          <p:cNvPr id="2" name="">
            <a:extLst xmlns:a="http://schemas.openxmlformats.org/drawingml/2006/main">
              <a:ext uri="{FF2B5EF4-FFF2-40B4-BE49-F238E27FC236}">
                <a16:creationId xmlns:a16="http://schemas.microsoft.com/office/drawing/2014/main" id="{5492FB23-12A7-42BE-B815-3888FDB92640}"/>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28</a:t>
            </a:r>
          </a:p>
        </p:txBody>
      </p:sp>
      <p:graphicFrame>
        <p:nvGraphicFramePr>
          <p:cNvPr id="7" name=""/>
          <p:cNvGraphicFramePr/>
          <p:nvPr/>
        </p:nvGraphicFramePr>
        <p:xfrm>
          <a:off xmlns:a="http://schemas.openxmlformats.org/drawingml/2006/main" x="495300" y="1543050"/>
          <a:ext xmlns:a="http://schemas.openxmlformats.org/drawingml/2006/main" cx="11201400" cy="4476750"/>
        </p:xfrm>
        <a:graphic xmlns:a="http://schemas.openxmlformats.org/drawingml/2006/main">
          <a:graphicData uri="http://schemas.openxmlformats.org/drawingml/2006/table">
            <a:tbl>
              <a:tblPr/>
              <a:tblGrid>
                <a:gridCol w="4825218"/>
                <a:gridCol w="4135902"/>
                <a:gridCol w="2240280"/>
              </a:tblGrid>
              <a:tr h="746125">
                <a:tc>
                  <a:txBody>
                    <a:bodyPr/>
                    <a:lstStyle/>
                    <a:p>
                      <a:pPr algn="r"/>
                      <a:r>
                        <a:rPr sz="1425" b="1">
                          <a:solidFill>
                            <a:srgbClr val="111111"/>
                          </a:solidFill>
                          <a:latin typeface="Arial"/>
                          <a:ea typeface="Arial"/>
                          <a:cs typeface="Arial"/>
                        </a:rPr>
                        <a:t>تفاوت با ترکیب ارزیابی‌شدهٔ KSA</a:t>
                      </a:r>
                    </a:p>
                  </a:txBody>
                  <a:tcPr marL="91440" marR="91440" marT="45720" marB="45720">
                    <a:solidFill>
                      <a:srgbClr val="DCEBFA"/>
                    </a:solidFill>
                  </a:tcPr>
                </a:tc>
                <a:tc>
                  <a:txBody>
                    <a:bodyPr/>
                    <a:lstStyle/>
                    <a:p>
                      <a:pPr algn="r"/>
                      <a:r>
                        <a:rPr sz="1425" b="1">
                          <a:solidFill>
                            <a:srgbClr val="111111"/>
                          </a:solidFill>
                          <a:latin typeface="Arial"/>
                          <a:ea typeface="Arial"/>
                          <a:cs typeface="Arial"/>
                        </a:rPr>
                        <a:t>ایدهٔ مشترک</a:t>
                      </a:r>
                    </a:p>
                  </a:txBody>
                  <a:tcPr marL="91440" marR="91440" marT="45720" marB="45720">
                    <a:solidFill>
                      <a:srgbClr val="DCEBFA"/>
                    </a:solidFill>
                  </a:tcPr>
                </a:tc>
                <a:tc>
                  <a:txBody>
                    <a:bodyPr/>
                    <a:lstStyle/>
                    <a:p>
                      <a:pPr algn="r"/>
                      <a:r>
                        <a:rPr sz="1425" b="1">
                          <a:solidFill>
                            <a:srgbClr val="111111"/>
                          </a:solidFill>
                          <a:latin typeface="Arial"/>
                          <a:ea typeface="Arial"/>
                          <a:cs typeface="Arial"/>
                        </a:rPr>
                        <a:t>کار نزدیک</a:t>
                      </a:r>
                    </a:p>
                  </a:txBody>
                  <a:tcPr marL="91440" marR="91440" marT="45720" marB="45720">
                    <a:solidFill>
                      <a:srgbClr val="DCEBFA"/>
                    </a:solidFill>
                  </a:tcPr>
                </a:tc>
              </a:tr>
              <a:tr h="746125">
                <a:tc>
                  <a:txBody>
                    <a:bodyPr/>
                    <a:lstStyle/>
                    <a:p>
                      <a:pPr algn="r"/>
                      <a:r>
                        <a:rPr sz="1350" b="0">
                          <a:solidFill>
                            <a:srgbClr val="111111"/>
                          </a:solidFill>
                          <a:latin typeface="Arial"/>
                          <a:ea typeface="Arial"/>
                          <a:cs typeface="Arial"/>
                        </a:rPr>
                        <a:t>قرارداد پایگاه‌داده؛ بدون ارزیابی سیاست LLM</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انتظار تأیید و ردیف ممیزی</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TOKI</a:t>
                      </a:r>
                    </a:p>
                  </a:txBody>
                  <a:tcPr marL="91440" marR="91440" marT="45720" marB="45720">
                    <a:solidFill>
                      <a:srgbClr val="F7F7F7"/>
                    </a:solidFill>
                  </a:tcPr>
                </a:tc>
              </a:tr>
              <a:tr h="746125">
                <a:tc>
                  <a:txBody>
                    <a:bodyPr/>
                    <a:lstStyle/>
                    <a:p>
                      <a:pPr algn="r"/>
                      <a:r>
                        <a:rPr sz="1350" b="0">
                          <a:solidFill>
                            <a:srgbClr val="111111"/>
                          </a:solidFill>
                          <a:latin typeface="Arial"/>
                          <a:ea typeface="Arial"/>
                          <a:cs typeface="Arial"/>
                        </a:rPr>
                        <a:t>سیاست RL غیرشفاف؛ پاداش سطح پاسخ</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کنش‌های گسستهٔ نوشتن</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Memory-R1</a:t>
                      </a:r>
                    </a:p>
                  </a:txBody>
                  <a:tcPr marL="91440" marR="91440" marT="45720" marB="45720">
                    <a:solidFill>
                      <a:srgbClr val="FFFFFF"/>
                    </a:solidFill>
                  </a:tcPr>
                </a:tc>
              </a:tr>
              <a:tr h="746125">
                <a:tc>
                  <a:txBody>
                    <a:bodyPr/>
                    <a:lstStyle/>
                    <a:p>
                      <a:pPr algn="r"/>
                      <a:r>
                        <a:rPr sz="1350" b="0">
                          <a:solidFill>
                            <a:srgbClr val="111111"/>
                          </a:solidFill>
                          <a:latin typeface="Arial"/>
                          <a:ea typeface="Arial"/>
                          <a:cs typeface="Arial"/>
                        </a:rPr>
                        <a:t>بدون سیاست سه‌گانه و آزمون تبار</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حافظهٔ نوع‌دار</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MemGuard</a:t>
                      </a:r>
                    </a:p>
                  </a:txBody>
                  <a:tcPr marL="91440" marR="91440" marT="45720" marB="45720">
                    <a:solidFill>
                      <a:srgbClr val="F7F7F7"/>
                    </a:solidFill>
                  </a:tcPr>
                </a:tc>
              </a:tr>
              <a:tr h="746125">
                <a:tc>
                  <a:txBody>
                    <a:bodyPr/>
                    <a:lstStyle/>
                    <a:p>
                      <a:pPr algn="r"/>
                      <a:r>
                        <a:rPr sz="1350" b="0">
                          <a:solidFill>
                            <a:srgbClr val="111111"/>
                          </a:solidFill>
                          <a:latin typeface="Arial"/>
                          <a:ea typeface="Arial"/>
                          <a:cs typeface="Arial"/>
                        </a:rPr>
                        <a:t>معیار خواندن، نه گذار نوشتن</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حل حالت و مقاومت پیش‌فرض</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STALE</a:t>
                      </a:r>
                    </a:p>
                  </a:txBody>
                  <a:tcPr marL="91440" marR="91440" marT="45720" marB="45720">
                    <a:solidFill>
                      <a:srgbClr val="FFFFFF"/>
                    </a:solidFill>
                  </a:tcPr>
                </a:tc>
              </a:tr>
              <a:tr h="746125">
                <a:tc>
                  <a:txBody>
                    <a:bodyPr/>
                    <a:lstStyle/>
                    <a:p>
                      <a:pPr algn="r"/>
                      <a:r>
                        <a:rPr sz="1350" b="0">
                          <a:solidFill>
                            <a:srgbClr val="111111"/>
                          </a:solidFill>
                          <a:latin typeface="Arial"/>
                          <a:ea typeface="Arial"/>
                          <a:cs typeface="Arial"/>
                        </a:rPr>
                        <a:t>ابطال به‌عنوان کنش حاکمیتی سنجیده نشده</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ابطال زمانی</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Graphiti/Zep</a:t>
                      </a:r>
                    </a:p>
                  </a:txBody>
                  <a:tcPr marL="91440" marR="91440" marT="45720" marB="45720">
                    <a:solidFill>
                      <a:srgbClr val="F7F7F7"/>
                    </a:solidFill>
                  </a:tcPr>
                </a:tc>
              </a:tr>
            </a:tbl>
          </a:graphicData>
        </a:graphic>
      </p:graphicFrame>
      <p:sp>
        <p:nvSpPr>
          <p:cNvPr id="4" name="">
            <a:extLst xmlns:a="http://schemas.openxmlformats.org/drawingml/2006/main">
              <a:ext uri="{FF2B5EF4-FFF2-40B4-BE49-F238E27FC236}">
                <a16:creationId xmlns:a16="http://schemas.microsoft.com/office/drawing/2014/main" id="{174356DD-68E4-410C-B8C0-97C811297F3A}"/>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تحلیل نزدیک‌ترین همسایه‌ها و ماتریس نوآوری</a:t>
            </a:r>
          </a:p>
        </p:txBody>
      </p:sp>
    </p:spTree>
    <p:extLst>
      <p:ext uri="{BB962C8B-B14F-4D97-AF65-F5344CB8AC3E}">
        <p14:creationId xmlns:p14="http://schemas.microsoft.com/office/powerpoint/2010/main" val="213812274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33F06BA-6A5C-4301-9DBB-D2FDE0A61439}"/>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پشتیبان — خطرهای اخلاقی و استقرار</a:t>
            </a:r>
          </a:p>
        </p:txBody>
      </p:sp>
      <p:sp>
        <p:nvSpPr>
          <p:cNvPr id="2" name="">
            <a:extLst xmlns:a="http://schemas.openxmlformats.org/drawingml/2006/main">
              <a:ext uri="{FF2B5EF4-FFF2-40B4-BE49-F238E27FC236}">
                <a16:creationId xmlns:a16="http://schemas.microsoft.com/office/drawing/2014/main" id="{8859A496-3EE7-4A0C-8951-37050D3D69C8}"/>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29</a:t>
            </a:r>
          </a:p>
        </p:txBody>
      </p:sp>
      <p:sp>
        <p:nvSpPr>
          <p:cNvPr id="3" name="">
            <a:extLst xmlns:a="http://schemas.openxmlformats.org/drawingml/2006/main">
              <a:ext uri="{FF2B5EF4-FFF2-40B4-BE49-F238E27FC236}">
                <a16:creationId xmlns:a16="http://schemas.microsoft.com/office/drawing/2014/main" id="{A42463A8-F01F-4C58-AA08-EFA16FDDF2A7}"/>
              </a:ext>
            </a:extLst>
          </p:cNvPr>
          <p:cNvSpPr>
            <a:spLocks xmlns:a="http://schemas.openxmlformats.org/drawingml/2006/main" noGrp="1"/>
          </p:cNvSpPr>
          <p:nvPr/>
        </p:nvSpPr>
        <p:spPr>
          <a:xfrm xmlns:a="http://schemas.openxmlformats.org/drawingml/2006/main">
            <a:off x="495300" y="1666875"/>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کاهش خطر</a:t>
            </a:r>
          </a:p>
        </p:txBody>
      </p:sp>
      <p:sp>
        <p:nvSpPr>
          <p:cNvPr id="4" name="">
            <a:extLst xmlns:a="http://schemas.openxmlformats.org/drawingml/2006/main">
              <a:ext uri="{FF2B5EF4-FFF2-40B4-BE49-F238E27FC236}">
                <a16:creationId xmlns:a16="http://schemas.microsoft.com/office/drawing/2014/main" id="{E9EDAF83-24BC-40A3-AEB4-D8262674957A}"/>
              </a:ext>
            </a:extLst>
          </p:cNvPr>
          <p:cNvSpPr>
            <a:spLocks xmlns:a="http://schemas.openxmlformats.org/drawingml/2006/main" noGrp="1"/>
          </p:cNvSpPr>
          <p:nvPr/>
        </p:nvSpPr>
        <p:spPr>
          <a:xfrm xmlns:a="http://schemas.openxmlformats.org/drawingml/2006/main">
            <a:off x="495300" y="2257425"/>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تبار افزایشی، کنترل دسترسی، تأیید دوگانه، بازبینی و سیاست نگه‌داری.</a:t>
            </a:r>
          </a:p>
        </p:txBody>
      </p:sp>
      <p:sp>
        <p:nvSpPr>
          <p:cNvPr id="5" name="">
            <a:extLst xmlns:a="http://schemas.openxmlformats.org/drawingml/2006/main">
              <a:ext uri="{FF2B5EF4-FFF2-40B4-BE49-F238E27FC236}">
                <a16:creationId xmlns:a16="http://schemas.microsoft.com/office/drawing/2014/main" id="{6E93B078-F9D2-48FF-A9B8-4CC95D71F3A8}"/>
              </a:ext>
            </a:extLst>
          </p:cNvPr>
          <p:cNvSpPr>
            <a:spLocks xmlns:a="http://schemas.openxmlformats.org/drawingml/2006/main" noGrp="1"/>
          </p:cNvSpPr>
          <p:nvPr/>
        </p:nvSpPr>
        <p:spPr>
          <a:xfrm xmlns:a="http://schemas.openxmlformats.org/drawingml/2006/main">
            <a:off x="6229350" y="1666875"/>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مرز خودکارسازی</a:t>
            </a:r>
          </a:p>
        </p:txBody>
      </p:sp>
      <p:sp>
        <p:nvSpPr>
          <p:cNvPr id="6" name="">
            <a:extLst xmlns:a="http://schemas.openxmlformats.org/drawingml/2006/main">
              <a:ext uri="{FF2B5EF4-FFF2-40B4-BE49-F238E27FC236}">
                <a16:creationId xmlns:a16="http://schemas.microsoft.com/office/drawing/2014/main" id="{FDCB93FA-585E-46B9-8310-178EAF69C6A3}"/>
              </a:ext>
            </a:extLst>
          </p:cNvPr>
          <p:cNvSpPr>
            <a:spLocks xmlns:a="http://schemas.openxmlformats.org/drawingml/2006/main" noGrp="1"/>
          </p:cNvSpPr>
          <p:nvPr/>
        </p:nvSpPr>
        <p:spPr>
          <a:xfrm xmlns:a="http://schemas.openxmlformats.org/drawingml/2006/main">
            <a:off x="6229350" y="2257425"/>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نتایج پژوهش، تغییر خودکار نامحدود حافظه را توجیه نمی‌کند.</a:t>
            </a:r>
          </a:p>
        </p:txBody>
      </p:sp>
      <p:sp>
        <p:nvSpPr>
          <p:cNvPr id="7" name="">
            <a:extLst xmlns:a="http://schemas.openxmlformats.org/drawingml/2006/main">
              <a:ext uri="{FF2B5EF4-FFF2-40B4-BE49-F238E27FC236}">
                <a16:creationId xmlns:a16="http://schemas.microsoft.com/office/drawing/2014/main" id="{DDF777E4-0D5B-4178-A57B-E207B5F15E6B}"/>
              </a:ext>
            </a:extLst>
          </p:cNvPr>
          <p:cNvSpPr>
            <a:spLocks xmlns:a="http://schemas.openxmlformats.org/drawingml/2006/main" noGrp="1"/>
          </p:cNvSpPr>
          <p:nvPr/>
        </p:nvSpPr>
        <p:spPr>
          <a:xfrm xmlns:a="http://schemas.openxmlformats.org/drawingml/2006/main">
            <a:off x="495300" y="3886200"/>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خطر نگه‌داری</a:t>
            </a:r>
          </a:p>
        </p:txBody>
      </p:sp>
      <p:sp>
        <p:nvSpPr>
          <p:cNvPr id="8" name="">
            <a:extLst xmlns:a="http://schemas.openxmlformats.org/drawingml/2006/main">
              <a:ext uri="{FF2B5EF4-FFF2-40B4-BE49-F238E27FC236}">
                <a16:creationId xmlns:a16="http://schemas.microsoft.com/office/drawing/2014/main" id="{C91BD80B-0529-46D6-975D-02F0FCDA1EB0}"/>
              </a:ext>
            </a:extLst>
          </p:cNvPr>
          <p:cNvSpPr>
            <a:spLocks xmlns:a="http://schemas.openxmlformats.org/drawingml/2006/main" noGrp="1"/>
          </p:cNvSpPr>
          <p:nvPr/>
        </p:nvSpPr>
        <p:spPr>
          <a:xfrm xmlns:a="http://schemas.openxmlformats.org/drawingml/2006/main">
            <a:off x="495300" y="4476750"/>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حفظ تاریخچه ریسک حریم خصوصی، استخراج و استنباط عضویت را افزایش می‌دهد.</a:t>
            </a:r>
          </a:p>
        </p:txBody>
      </p:sp>
      <p:sp>
        <p:nvSpPr>
          <p:cNvPr id="9" name="">
            <a:extLst xmlns:a="http://schemas.openxmlformats.org/drawingml/2006/main">
              <a:ext uri="{FF2B5EF4-FFF2-40B4-BE49-F238E27FC236}">
                <a16:creationId xmlns:a16="http://schemas.microsoft.com/office/drawing/2014/main" id="{6638F9C3-761A-455A-A1EC-5589B1F48361}"/>
              </a:ext>
            </a:extLst>
          </p:cNvPr>
          <p:cNvSpPr>
            <a:spLocks xmlns:a="http://schemas.openxmlformats.org/drawingml/2006/main" noGrp="1"/>
          </p:cNvSpPr>
          <p:nvPr/>
        </p:nvSpPr>
        <p:spPr>
          <a:xfrm xmlns:a="http://schemas.openxmlformats.org/drawingml/2006/main">
            <a:off x="6229350" y="3886200"/>
            <a:ext cx="5467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950" b="1">
                <a:solidFill>
                  <a:srgbClr val="111111"/>
                </a:solidFill>
                <a:latin typeface="Arial"/>
                <a:ea typeface="Arial"/>
                <a:cs typeface="Arial"/>
              </a:defRPr>
            </a:pPr>
            <a:r>
              <a:rPr sz="1950" b="1">
                <a:solidFill>
                  <a:srgbClr val="111111"/>
                </a:solidFill>
                <a:latin typeface="Arial"/>
                <a:ea typeface="Arial"/>
                <a:cs typeface="Arial"/>
              </a:rPr>
              <a:t>سوءاستفاده از بازنگری</a:t>
            </a:r>
          </a:p>
        </p:txBody>
      </p:sp>
      <p:sp>
        <p:nvSpPr>
          <p:cNvPr id="10" name="">
            <a:extLst xmlns:a="http://schemas.openxmlformats.org/drawingml/2006/main">
              <a:ext uri="{FF2B5EF4-FFF2-40B4-BE49-F238E27FC236}">
                <a16:creationId xmlns:a16="http://schemas.microsoft.com/office/drawing/2014/main" id="{4318C44E-8103-4DFA-83A4-4C51683F803C}"/>
              </a:ext>
            </a:extLst>
          </p:cNvPr>
          <p:cNvSpPr>
            <a:spLocks xmlns:a="http://schemas.openxmlformats.org/drawingml/2006/main" noGrp="1"/>
          </p:cNvSpPr>
          <p:nvPr/>
        </p:nvSpPr>
        <p:spPr>
          <a:xfrm xmlns:a="http://schemas.openxmlformats.org/drawingml/2006/main">
            <a:off x="6229350" y="4476750"/>
            <a:ext cx="54673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0">
                <a:solidFill>
                  <a:srgbClr val="5F6368"/>
                </a:solidFill>
                <a:latin typeface="Arial"/>
                <a:ea typeface="Arial"/>
                <a:cs typeface="Arial"/>
              </a:defRPr>
            </a:pPr>
            <a:r>
              <a:rPr sz="1575" b="0">
                <a:solidFill>
                  <a:srgbClr val="5F6368"/>
                </a:solidFill>
                <a:latin typeface="Arial"/>
                <a:ea typeface="Arial"/>
                <a:cs typeface="Arial"/>
              </a:rPr>
              <a:t>جایگزینی می‌تواند برای بازنویسی سابقه یا جعل منشأ به‌کار رود.</a:t>
            </a:r>
          </a:p>
        </p:txBody>
      </p:sp>
      <p:sp>
        <p:nvSpPr>
          <p:cNvPr id="11" name="">
            <a:extLst xmlns:a="http://schemas.openxmlformats.org/drawingml/2006/main">
              <a:ext uri="{FF2B5EF4-FFF2-40B4-BE49-F238E27FC236}">
                <a16:creationId xmlns:a16="http://schemas.microsoft.com/office/drawing/2014/main" id="{DD875AEF-730E-4778-954F-89109FBCC831}"/>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فصل ۹ پایان‌نامه و بحث NIST AI RMF</a:t>
            </a:r>
          </a:p>
        </p:txBody>
      </p:sp>
    </p:spTree>
    <p:extLst>
      <p:ext uri="{BB962C8B-B14F-4D97-AF65-F5344CB8AC3E}">
        <p14:creationId xmlns:p14="http://schemas.microsoft.com/office/powerpoint/2010/main" val="184106058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7EA14FA-1607-47B1-AB9E-318E84EFC22A}"/>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پشتیبان — نتایج کامل تکمیلی MGP-6</a:t>
            </a:r>
          </a:p>
        </p:txBody>
      </p:sp>
      <p:sp>
        <p:nvSpPr>
          <p:cNvPr id="2" name="">
            <a:extLst xmlns:a="http://schemas.openxmlformats.org/drawingml/2006/main">
              <a:ext uri="{FF2B5EF4-FFF2-40B4-BE49-F238E27FC236}">
                <a16:creationId xmlns:a16="http://schemas.microsoft.com/office/drawing/2014/main" id="{61609BFF-9773-43C2-A49F-4B58F7BAE55E}"/>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30</a:t>
            </a:r>
          </a:p>
        </p:txBody>
      </p:sp>
      <p:graphicFrame>
        <p:nvGraphicFramePr>
          <p:cNvPr id="7" name=""/>
          <p:cNvGraphicFramePr/>
          <p:nvPr/>
        </p:nvGraphicFramePr>
        <p:xfrm>
          <a:off xmlns:a="http://schemas.openxmlformats.org/drawingml/2006/main" x="495300" y="1543050"/>
          <a:ext xmlns:a="http://schemas.openxmlformats.org/drawingml/2006/main" cx="11201400" cy="4476750"/>
        </p:xfrm>
        <a:graphic xmlns:a="http://schemas.openxmlformats.org/drawingml/2006/main">
          <a:graphicData uri="http://schemas.openxmlformats.org/drawingml/2006/table">
            <a:tbl>
              <a:tblPr/>
              <a:tblGrid>
                <a:gridCol w="2301658"/>
                <a:gridCol w="2301658"/>
                <a:gridCol w="1687882"/>
                <a:gridCol w="1687882"/>
                <a:gridCol w="3222321"/>
              </a:tblGrid>
              <a:tr h="746125">
                <a:tc>
                  <a:txBody>
                    <a:bodyPr/>
                    <a:lstStyle/>
                    <a:p>
                      <a:pPr algn="r"/>
                      <a:r>
                        <a:rPr sz="1425" b="1">
                          <a:solidFill>
                            <a:srgbClr val="111111"/>
                          </a:solidFill>
                          <a:latin typeface="Arial"/>
                          <a:ea typeface="Arial"/>
                          <a:cs typeface="Arial"/>
                        </a:rPr>
                        <a:t>مقاومت پیش‌فرض</a:t>
                      </a:r>
                    </a:p>
                  </a:txBody>
                  <a:tcPr marL="91440" marR="91440" marT="45720" marB="45720">
                    <a:solidFill>
                      <a:srgbClr val="DCEBFA"/>
                    </a:solidFill>
                  </a:tcPr>
                </a:tc>
                <a:tc>
                  <a:txBody>
                    <a:bodyPr/>
                    <a:lstStyle/>
                    <a:p>
                      <a:pPr algn="r"/>
                      <a:r>
                        <a:rPr sz="1425" b="1">
                          <a:solidFill>
                            <a:srgbClr val="111111"/>
                          </a:solidFill>
                          <a:latin typeface="Arial"/>
                          <a:ea typeface="Arial"/>
                          <a:cs typeface="Arial"/>
                        </a:rPr>
                        <a:t>ثبت نامعتبر</a:t>
                      </a:r>
                    </a:p>
                  </a:txBody>
                  <a:tcPr marL="91440" marR="91440" marT="45720" marB="45720">
                    <a:solidFill>
                      <a:srgbClr val="DCEBFA"/>
                    </a:solidFill>
                  </a:tcPr>
                </a:tc>
                <a:tc>
                  <a:txBody>
                    <a:bodyPr/>
                    <a:lstStyle/>
                    <a:p>
                      <a:pPr algn="r"/>
                      <a:r>
                        <a:rPr sz="1425" b="1">
                          <a:solidFill>
                            <a:srgbClr val="111111"/>
                          </a:solidFill>
                          <a:latin typeface="Arial"/>
                          <a:ea typeface="Arial"/>
                          <a:cs typeface="Arial"/>
                        </a:rPr>
                        <a:t>F1 کلان</a:t>
                      </a:r>
                    </a:p>
                  </a:txBody>
                  <a:tcPr marL="91440" marR="91440" marT="45720" marB="45720">
                    <a:solidFill>
                      <a:srgbClr val="DCEBFA"/>
                    </a:solidFill>
                  </a:tcPr>
                </a:tc>
                <a:tc>
                  <a:txBody>
                    <a:bodyPr/>
                    <a:lstStyle/>
                    <a:p>
                      <a:pPr algn="r"/>
                      <a:r>
                        <a:rPr sz="1425" b="1">
                          <a:solidFill>
                            <a:srgbClr val="111111"/>
                          </a:solidFill>
                          <a:latin typeface="Arial"/>
                          <a:ea typeface="Arial"/>
                          <a:cs typeface="Arial"/>
                        </a:rPr>
                        <a:t>دقت</a:t>
                      </a:r>
                    </a:p>
                  </a:txBody>
                  <a:tcPr marL="91440" marR="91440" marT="45720" marB="45720">
                    <a:solidFill>
                      <a:srgbClr val="DCEBFA"/>
                    </a:solidFill>
                  </a:tcPr>
                </a:tc>
                <a:tc>
                  <a:txBody>
                    <a:bodyPr/>
                    <a:lstStyle/>
                    <a:p>
                      <a:pPr algn="r"/>
                      <a:r>
                        <a:rPr sz="1425" b="1">
                          <a:solidFill>
                            <a:srgbClr val="111111"/>
                          </a:solidFill>
                          <a:latin typeface="Arial"/>
                          <a:ea typeface="Arial"/>
                          <a:cs typeface="Arial"/>
                        </a:rPr>
                        <a:t>سامانه</a:t>
                      </a:r>
                    </a:p>
                  </a:txBody>
                  <a:tcPr marL="91440" marR="91440" marT="45720" marB="45720">
                    <a:solidFill>
                      <a:srgbClr val="DCEBFA"/>
                    </a:solidFill>
                  </a:tcPr>
                </a:tc>
              </a:tr>
              <a:tr h="746125">
                <a:tc>
                  <a:txBody>
                    <a:bodyPr/>
                    <a:lstStyle/>
                    <a:p>
                      <a:pPr algn="r"/>
                      <a:r>
                        <a:rPr sz="1350" b="0">
                          <a:solidFill>
                            <a:srgbClr val="111111"/>
                          </a:solidFill>
                          <a:latin typeface="Arial"/>
                          <a:ea typeface="Arial"/>
                          <a:cs typeface="Arial"/>
                        </a:rPr>
                        <a:t>1.0000</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0.0000</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0.9399</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0.9222</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KSA قاعده</a:t>
                      </a:r>
                    </a:p>
                  </a:txBody>
                  <a:tcPr marL="91440" marR="91440" marT="45720" marB="45720">
                    <a:solidFill>
                      <a:srgbClr val="F7F7F7"/>
                    </a:solidFill>
                  </a:tcPr>
                </a:tc>
              </a:tr>
              <a:tr h="746125">
                <a:tc>
                  <a:txBody>
                    <a:bodyPr/>
                    <a:lstStyle/>
                    <a:p>
                      <a:pPr algn="r"/>
                      <a:r>
                        <a:rPr sz="1350" b="0">
                          <a:solidFill>
                            <a:srgbClr val="111111"/>
                          </a:solidFill>
                          <a:latin typeface="Arial"/>
                          <a:ea typeface="Arial"/>
                          <a:cs typeface="Arial"/>
                        </a:rPr>
                        <a:t>0.0889</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0.0758</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0.8913</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0.8889</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KSA مدل</a:t>
                      </a:r>
                    </a:p>
                  </a:txBody>
                  <a:tcPr marL="91440" marR="91440" marT="45720" marB="45720">
                    <a:solidFill>
                      <a:srgbClr val="FFFFFF"/>
                    </a:solidFill>
                  </a:tcPr>
                </a:tc>
              </a:tr>
              <a:tr h="746125">
                <a:tc>
                  <a:txBody>
                    <a:bodyPr/>
                    <a:lstStyle/>
                    <a:p>
                      <a:pPr algn="r"/>
                      <a:r>
                        <a:rPr sz="1350" b="0">
                          <a:solidFill>
                            <a:srgbClr val="111111"/>
                          </a:solidFill>
                          <a:latin typeface="Arial"/>
                          <a:ea typeface="Arial"/>
                          <a:cs typeface="Arial"/>
                        </a:rPr>
                        <a:t>—</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0.6061</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0.6657</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0.7000</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صفرنمونه</a:t>
                      </a:r>
                    </a:p>
                  </a:txBody>
                  <a:tcPr marL="91440" marR="91440" marT="45720" marB="45720">
                    <a:solidFill>
                      <a:srgbClr val="F7F7F7"/>
                    </a:solidFill>
                  </a:tcPr>
                </a:tc>
              </a:tr>
              <a:tr h="746125">
                <a:tc>
                  <a:txBody>
                    <a:bodyPr/>
                    <a:lstStyle/>
                    <a:p>
                      <a:pPr algn="r"/>
                      <a:r>
                        <a:rPr sz="1350" b="0">
                          <a:solidFill>
                            <a:srgbClr val="111111"/>
                          </a:solidFill>
                          <a:latin typeface="Arial"/>
                          <a:ea typeface="Arial"/>
                          <a:cs typeface="Arial"/>
                        </a:rPr>
                        <a:t>—</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1.0000</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0.2203</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0.4222</a:t>
                      </a:r>
                    </a:p>
                  </a:txBody>
                  <a:tcPr marL="91440" marR="91440" marT="45720" marB="45720">
                    <a:solidFill>
                      <a:srgbClr val="FFFFFF"/>
                    </a:solidFill>
                  </a:tcPr>
                </a:tc>
                <a:tc>
                  <a:txBody>
                    <a:bodyPr/>
                    <a:lstStyle/>
                    <a:p>
                      <a:pPr algn="r"/>
                      <a:r>
                        <a:rPr sz="1350" b="0">
                          <a:solidFill>
                            <a:srgbClr val="111111"/>
                          </a:solidFill>
                          <a:latin typeface="Arial"/>
                          <a:ea typeface="Arial"/>
                          <a:cs typeface="Arial"/>
                        </a:rPr>
                        <a:t>B4 بازنویسی</a:t>
                      </a:r>
                    </a:p>
                  </a:txBody>
                  <a:tcPr marL="91440" marR="91440" marT="45720" marB="45720">
                    <a:solidFill>
                      <a:srgbClr val="FFFFFF"/>
                    </a:solidFill>
                  </a:tcPr>
                </a:tc>
              </a:tr>
              <a:tr h="746125">
                <a:tc>
                  <a:txBody>
                    <a:bodyPr/>
                    <a:lstStyle/>
                    <a:p>
                      <a:pPr algn="r"/>
                      <a:r>
                        <a:rPr sz="1350" b="0">
                          <a:solidFill>
                            <a:srgbClr val="111111"/>
                          </a:solidFill>
                          <a:latin typeface="Arial"/>
                          <a:ea typeface="Arial"/>
                          <a:cs typeface="Arial"/>
                        </a:rPr>
                        <a:t>ناقص 174/180</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0.7692</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0.7833</a:t>
                      </a:r>
                    </a:p>
                  </a:txBody>
                  <a:tcPr marL="91440" marR="91440" marT="45720" marB="45720">
                    <a:solidFill>
                      <a:srgbClr val="F7F7F7"/>
                    </a:solidFill>
                  </a:tcPr>
                </a:tc>
                <a:tc>
                  <a:txBody>
                    <a:bodyPr/>
                    <a:lstStyle/>
                    <a:p>
                      <a:pPr algn="r"/>
                      <a:r>
                        <a:rPr sz="1350" b="0">
                          <a:solidFill>
                            <a:srgbClr val="111111"/>
                          </a:solidFill>
                          <a:latin typeface="Arial"/>
                          <a:ea typeface="Arial"/>
                          <a:cs typeface="Arial"/>
                        </a:rPr>
                        <a:t>شش‌نمونه</a:t>
                      </a:r>
                    </a:p>
                  </a:txBody>
                  <a:tcPr marL="91440" marR="91440" marT="45720" marB="45720">
                    <a:solidFill>
                      <a:srgbClr val="F7F7F7"/>
                    </a:solidFill>
                  </a:tcPr>
                </a:tc>
              </a:tr>
            </a:tbl>
          </a:graphicData>
        </a:graphic>
      </p:graphicFrame>
      <p:sp>
        <p:nvSpPr>
          <p:cNvPr id="4" name="">
            <a:extLst xmlns:a="http://schemas.openxmlformats.org/drawingml/2006/main">
              <a:ext uri="{FF2B5EF4-FFF2-40B4-BE49-F238E27FC236}">
                <a16:creationId xmlns:a16="http://schemas.microsoft.com/office/drawing/2014/main" id="{ED5CCA87-081D-48CA-B32B-BBEA1D6BCB47}"/>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گزارش‌های نهایی MGP-6 v2</a:t>
            </a:r>
          </a:p>
        </p:txBody>
      </p:sp>
    </p:spTree>
    <p:extLst>
      <p:ext uri="{BB962C8B-B14F-4D97-AF65-F5344CB8AC3E}">
        <p14:creationId xmlns:p14="http://schemas.microsoft.com/office/powerpoint/2010/main" val="155495746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A6E2955-00D3-4D75-A9A3-9C36C1B58B9B}"/>
              </a:ext>
            </a:extLst>
          </p:cNvPr>
          <p:cNvSpPr>
            <a:spLocks xmlns:a="http://schemas.openxmlformats.org/drawingml/2006/main" noGrp="1"/>
          </p:cNvSpPr>
          <p:nvPr/>
        </p:nvSpPr>
        <p:spPr>
          <a:xfrm xmlns:a="http://schemas.openxmlformats.org/drawingml/2006/main">
            <a:off x="495300" y="3714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225" b="1">
                <a:solidFill>
                  <a:srgbClr val="111111"/>
                </a:solidFill>
                <a:latin typeface="Arial"/>
                <a:ea typeface="Arial"/>
                <a:cs typeface="Arial"/>
              </a:defRPr>
            </a:pPr>
            <a:r>
              <a:rPr sz="3225" b="1">
                <a:solidFill>
                  <a:srgbClr val="111111"/>
                </a:solidFill>
                <a:latin typeface="Arial"/>
                <a:ea typeface="Arial"/>
                <a:cs typeface="Arial"/>
              </a:rPr>
              <a:t>پشتیبان — معماری کد با لایه‌های ارزیابی هم‌راستاست</a:t>
            </a:r>
          </a:p>
        </p:txBody>
      </p:sp>
      <p:sp>
        <p:nvSpPr>
          <p:cNvPr id="2" name="">
            <a:extLst xmlns:a="http://schemas.openxmlformats.org/drawingml/2006/main">
              <a:ext uri="{FF2B5EF4-FFF2-40B4-BE49-F238E27FC236}">
                <a16:creationId xmlns:a16="http://schemas.microsoft.com/office/drawing/2014/main" id="{DFC11576-C009-4111-8C5F-C1DEC8B38364}"/>
              </a:ext>
            </a:extLst>
          </p:cNvPr>
          <p:cNvSpPr>
            <a:spLocks xmlns:a="http://schemas.openxmlformats.org/drawingml/2006/main" noGrp="1"/>
          </p:cNvSpPr>
          <p:nvPr/>
        </p:nvSpPr>
        <p:spPr>
          <a:xfrm xmlns:a="http://schemas.openxmlformats.org/drawingml/2006/main">
            <a:off x="1118235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31</a:t>
            </a:r>
          </a:p>
        </p:txBody>
      </p:sp>
      <p:sp>
        <p:nvSpPr>
          <p:cNvPr id="3" name="">
            <a:extLst xmlns:a="http://schemas.openxmlformats.org/drawingml/2006/main">
              <a:ext uri="{FF2B5EF4-FFF2-40B4-BE49-F238E27FC236}">
                <a16:creationId xmlns:a16="http://schemas.microsoft.com/office/drawing/2014/main" id="{881DBAD5-B432-4E99-8089-5BA459BDC0C2}"/>
              </a:ext>
            </a:extLst>
          </p:cNvPr>
          <p:cNvSpPr>
            <a:spLocks xmlns:a="http://schemas.openxmlformats.org/drawingml/2006/main" noGrp="1"/>
          </p:cNvSpPr>
          <p:nvPr/>
        </p:nvSpPr>
        <p:spPr>
          <a:xfrm xmlns:a="http://schemas.openxmlformats.org/drawingml/2006/main">
            <a:off x="495300" y="2457450"/>
            <a:ext cx="1524000" cy="9144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EBE9AE8-2822-40AD-B81A-24DFF3430339}"/>
              </a:ext>
            </a:extLst>
          </p:cNvPr>
          <p:cNvSpPr>
            <a:spLocks xmlns:a="http://schemas.openxmlformats.org/drawingml/2006/main" noGrp="1"/>
          </p:cNvSpPr>
          <p:nvPr/>
        </p:nvSpPr>
        <p:spPr>
          <a:xfrm xmlns:a="http://schemas.openxmlformats.org/drawingml/2006/main">
            <a:off x="590550" y="2628900"/>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111"/>
                </a:solidFill>
                <a:latin typeface="Arial"/>
                <a:ea typeface="Arial"/>
                <a:cs typeface="Arial"/>
              </a:defRPr>
            </a:pPr>
            <a:r>
              <a:rPr sz="1575" b="1">
                <a:solidFill>
                  <a:srgbClr val="111111"/>
                </a:solidFill>
                <a:latin typeface="Arial"/>
                <a:ea typeface="Arial"/>
                <a:cs typeface="Arial"/>
              </a:rPr>
              <a:t>ارزیابی</a:t>
            </a:r>
          </a:p>
        </p:txBody>
      </p:sp>
      <p:sp>
        <p:nvSpPr>
          <p:cNvPr id="5" name="">
            <a:extLst xmlns:a="http://schemas.openxmlformats.org/drawingml/2006/main">
              <a:ext uri="{FF2B5EF4-FFF2-40B4-BE49-F238E27FC236}">
                <a16:creationId xmlns:a16="http://schemas.microsoft.com/office/drawing/2014/main" id="{F4E9C8C9-D51C-419E-B2D6-2FEEE0AA1B6E}"/>
              </a:ext>
            </a:extLst>
          </p:cNvPr>
          <p:cNvSpPr>
            <a:spLocks xmlns:a="http://schemas.openxmlformats.org/drawingml/2006/main" noGrp="1"/>
          </p:cNvSpPr>
          <p:nvPr/>
        </p:nvSpPr>
        <p:spPr>
          <a:xfrm xmlns:a="http://schemas.openxmlformats.org/drawingml/2006/main">
            <a:off x="2057400" y="2705100"/>
            <a:ext cx="28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b="1">
                <a:solidFill>
                  <a:srgbClr val="5F6368"/>
                </a:solidFill>
                <a:latin typeface="Arial"/>
                <a:ea typeface="Arial"/>
                <a:cs typeface="Arial"/>
              </a:defRPr>
            </a:pPr>
            <a:r>
              <a:rPr sz="2250" b="1">
                <a:solidFill>
                  <a:srgbClr val="5F6368"/>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BF6A1BEB-33BA-41C6-96A9-6AA70A11D20E}"/>
              </a:ext>
            </a:extLst>
          </p:cNvPr>
          <p:cNvSpPr>
            <a:spLocks xmlns:a="http://schemas.openxmlformats.org/drawingml/2006/main" noGrp="1"/>
          </p:cNvSpPr>
          <p:nvPr/>
        </p:nvSpPr>
        <p:spPr>
          <a:xfrm xmlns:a="http://schemas.openxmlformats.org/drawingml/2006/main">
            <a:off x="2371725" y="2457450"/>
            <a:ext cx="1524000" cy="9144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EF190D3-2DED-43FF-9904-AABCC2295D01}"/>
              </a:ext>
            </a:extLst>
          </p:cNvPr>
          <p:cNvSpPr>
            <a:spLocks xmlns:a="http://schemas.openxmlformats.org/drawingml/2006/main" noGrp="1"/>
          </p:cNvSpPr>
          <p:nvPr/>
        </p:nvSpPr>
        <p:spPr>
          <a:xfrm xmlns:a="http://schemas.openxmlformats.org/drawingml/2006/main">
            <a:off x="2466975" y="2628900"/>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111"/>
                </a:solidFill>
                <a:latin typeface="Arial"/>
                <a:ea typeface="Arial"/>
                <a:cs typeface="Arial"/>
              </a:defRPr>
            </a:pPr>
            <a:r>
              <a:rPr sz="1575" b="1">
                <a:solidFill>
                  <a:srgbClr val="111111"/>
                </a:solidFill>
                <a:latin typeface="Arial"/>
                <a:ea typeface="Arial"/>
                <a:cs typeface="Arial"/>
              </a:rPr>
              <a:t>بازیابی</a:t>
            </a:r>
          </a:p>
        </p:txBody>
      </p:sp>
      <p:sp>
        <p:nvSpPr>
          <p:cNvPr id="8" name="">
            <a:extLst xmlns:a="http://schemas.openxmlformats.org/drawingml/2006/main">
              <a:ext uri="{FF2B5EF4-FFF2-40B4-BE49-F238E27FC236}">
                <a16:creationId xmlns:a16="http://schemas.microsoft.com/office/drawing/2014/main" id="{8BC0BDBB-5ACF-4843-840E-80C709FB112C}"/>
              </a:ext>
            </a:extLst>
          </p:cNvPr>
          <p:cNvSpPr>
            <a:spLocks xmlns:a="http://schemas.openxmlformats.org/drawingml/2006/main" noGrp="1"/>
          </p:cNvSpPr>
          <p:nvPr/>
        </p:nvSpPr>
        <p:spPr>
          <a:xfrm xmlns:a="http://schemas.openxmlformats.org/drawingml/2006/main">
            <a:off x="3933825" y="2705100"/>
            <a:ext cx="28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b="1">
                <a:solidFill>
                  <a:srgbClr val="5F6368"/>
                </a:solidFill>
                <a:latin typeface="Arial"/>
                <a:ea typeface="Arial"/>
                <a:cs typeface="Arial"/>
              </a:defRPr>
            </a:pPr>
            <a:r>
              <a:rPr sz="2250" b="1">
                <a:solidFill>
                  <a:srgbClr val="5F6368"/>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F7E9DB75-CB66-4AE9-93A3-DEE712B297BC}"/>
              </a:ext>
            </a:extLst>
          </p:cNvPr>
          <p:cNvSpPr>
            <a:spLocks xmlns:a="http://schemas.openxmlformats.org/drawingml/2006/main" noGrp="1"/>
          </p:cNvSpPr>
          <p:nvPr/>
        </p:nvSpPr>
        <p:spPr>
          <a:xfrm xmlns:a="http://schemas.openxmlformats.org/drawingml/2006/main">
            <a:off x="4248150" y="2457450"/>
            <a:ext cx="1524000" cy="914400"/>
          </a:xfrm>
          <a:prstGeom xmlns:a="http://schemas.openxmlformats.org/drawingml/2006/main" prst="rect">
            <a:avLst/>
          </a:prstGeom>
          <a:solidFill xmlns:a="http://schemas.openxmlformats.org/drawingml/2006/main">
            <a:srgbClr val="D0EDFA"/>
          </a:solidFill>
          <a:ln xmlns:a="http://schemas.openxmlformats.org/drawingml/2006/main" w="9525">
            <a:solidFill>
              <a:srgbClr val="3D8DFF"/>
            </a:solidFill>
            <a:prstDash val="solid"/>
          </a:ln>
        </p:spPr>
      </p:sp>
      <p:sp>
        <p:nvSpPr>
          <p:cNvPr id="10" name="">
            <a:extLst xmlns:a="http://schemas.openxmlformats.org/drawingml/2006/main">
              <a:ext uri="{FF2B5EF4-FFF2-40B4-BE49-F238E27FC236}">
                <a16:creationId xmlns:a16="http://schemas.microsoft.com/office/drawing/2014/main" id="{466B83CB-75C3-4F1F-8F4C-EDF6896543F3}"/>
              </a:ext>
            </a:extLst>
          </p:cNvPr>
          <p:cNvSpPr>
            <a:spLocks xmlns:a="http://schemas.openxmlformats.org/drawingml/2006/main" noGrp="1"/>
          </p:cNvSpPr>
          <p:nvPr/>
        </p:nvSpPr>
        <p:spPr>
          <a:xfrm xmlns:a="http://schemas.openxmlformats.org/drawingml/2006/main">
            <a:off x="4343400" y="2628900"/>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111"/>
                </a:solidFill>
                <a:latin typeface="Arial"/>
                <a:ea typeface="Arial"/>
                <a:cs typeface="Arial"/>
              </a:defRPr>
            </a:pPr>
            <a:r>
              <a:rPr sz="1575" b="1">
                <a:solidFill>
                  <a:srgbClr val="111111"/>
                </a:solidFill>
                <a:latin typeface="Arial"/>
                <a:ea typeface="Arial"/>
                <a:cs typeface="Arial"/>
              </a:rPr>
              <a:t>ذخیرهٔ حافظه</a:t>
            </a:r>
          </a:p>
        </p:txBody>
      </p:sp>
      <p:sp>
        <p:nvSpPr>
          <p:cNvPr id="11" name="">
            <a:extLst xmlns:a="http://schemas.openxmlformats.org/drawingml/2006/main">
              <a:ext uri="{FF2B5EF4-FFF2-40B4-BE49-F238E27FC236}">
                <a16:creationId xmlns:a16="http://schemas.microsoft.com/office/drawing/2014/main" id="{AF17FAC4-F931-4A36-85F6-C4A5597F6055}"/>
              </a:ext>
            </a:extLst>
          </p:cNvPr>
          <p:cNvSpPr>
            <a:spLocks xmlns:a="http://schemas.openxmlformats.org/drawingml/2006/main" noGrp="1"/>
          </p:cNvSpPr>
          <p:nvPr/>
        </p:nvSpPr>
        <p:spPr>
          <a:xfrm xmlns:a="http://schemas.openxmlformats.org/drawingml/2006/main">
            <a:off x="5810250" y="2705100"/>
            <a:ext cx="28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b="1">
                <a:solidFill>
                  <a:srgbClr val="5F6368"/>
                </a:solidFill>
                <a:latin typeface="Arial"/>
                <a:ea typeface="Arial"/>
                <a:cs typeface="Arial"/>
              </a:defRPr>
            </a:pPr>
            <a:r>
              <a:rPr sz="2250" b="1">
                <a:solidFill>
                  <a:srgbClr val="5F6368"/>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36FEC3C6-7DB8-48B3-AEFB-BE21C1CB8E01}"/>
              </a:ext>
            </a:extLst>
          </p:cNvPr>
          <p:cNvSpPr>
            <a:spLocks xmlns:a="http://schemas.openxmlformats.org/drawingml/2006/main" noGrp="1"/>
          </p:cNvSpPr>
          <p:nvPr/>
        </p:nvSpPr>
        <p:spPr>
          <a:xfrm xmlns:a="http://schemas.openxmlformats.org/drawingml/2006/main">
            <a:off x="6124575" y="2457450"/>
            <a:ext cx="1524000" cy="9144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CBEF77D-F933-4560-9AF3-99891B9FC554}"/>
              </a:ext>
            </a:extLst>
          </p:cNvPr>
          <p:cNvSpPr>
            <a:spLocks xmlns:a="http://schemas.openxmlformats.org/drawingml/2006/main" noGrp="1"/>
          </p:cNvSpPr>
          <p:nvPr/>
        </p:nvSpPr>
        <p:spPr>
          <a:xfrm xmlns:a="http://schemas.openxmlformats.org/drawingml/2006/main">
            <a:off x="6219825" y="2628900"/>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111"/>
                </a:solidFill>
                <a:latin typeface="Arial"/>
                <a:ea typeface="Arial"/>
                <a:cs typeface="Arial"/>
              </a:defRPr>
            </a:pPr>
            <a:r>
              <a:rPr sz="1575" b="1">
                <a:solidFill>
                  <a:srgbClr val="111111"/>
                </a:solidFill>
                <a:latin typeface="Arial"/>
                <a:ea typeface="Arial"/>
                <a:cs typeface="Arial"/>
              </a:rPr>
              <a:t>کنترل‌گر</a:t>
            </a:r>
          </a:p>
        </p:txBody>
      </p:sp>
      <p:sp>
        <p:nvSpPr>
          <p:cNvPr id="14" name="">
            <a:extLst xmlns:a="http://schemas.openxmlformats.org/drawingml/2006/main">
              <a:ext uri="{FF2B5EF4-FFF2-40B4-BE49-F238E27FC236}">
                <a16:creationId xmlns:a16="http://schemas.microsoft.com/office/drawing/2014/main" id="{E1EAAB3C-1623-4F6F-A712-BFD9117808FE}"/>
              </a:ext>
            </a:extLst>
          </p:cNvPr>
          <p:cNvSpPr>
            <a:spLocks xmlns:a="http://schemas.openxmlformats.org/drawingml/2006/main" noGrp="1"/>
          </p:cNvSpPr>
          <p:nvPr/>
        </p:nvSpPr>
        <p:spPr>
          <a:xfrm xmlns:a="http://schemas.openxmlformats.org/drawingml/2006/main">
            <a:off x="7686675" y="2705100"/>
            <a:ext cx="28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b="1">
                <a:solidFill>
                  <a:srgbClr val="5F6368"/>
                </a:solidFill>
                <a:latin typeface="Arial"/>
                <a:ea typeface="Arial"/>
                <a:cs typeface="Arial"/>
              </a:defRPr>
            </a:pPr>
            <a:r>
              <a:rPr sz="2250" b="1">
                <a:solidFill>
                  <a:srgbClr val="5F6368"/>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0243180C-755F-445A-9E6D-62B6946C8B68}"/>
              </a:ext>
            </a:extLst>
          </p:cNvPr>
          <p:cNvSpPr>
            <a:spLocks xmlns:a="http://schemas.openxmlformats.org/drawingml/2006/main" noGrp="1"/>
          </p:cNvSpPr>
          <p:nvPr/>
        </p:nvSpPr>
        <p:spPr>
          <a:xfrm xmlns:a="http://schemas.openxmlformats.org/drawingml/2006/main">
            <a:off x="8001000" y="2457450"/>
            <a:ext cx="1524000" cy="9144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4957FD4-93B0-4023-A213-455CFD34C21F}"/>
              </a:ext>
            </a:extLst>
          </p:cNvPr>
          <p:cNvSpPr>
            <a:spLocks xmlns:a="http://schemas.openxmlformats.org/drawingml/2006/main" noGrp="1"/>
          </p:cNvSpPr>
          <p:nvPr/>
        </p:nvSpPr>
        <p:spPr>
          <a:xfrm xmlns:a="http://schemas.openxmlformats.org/drawingml/2006/main">
            <a:off x="8096250" y="2628900"/>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111"/>
                </a:solidFill>
                <a:latin typeface="Arial"/>
                <a:ea typeface="Arial"/>
                <a:cs typeface="Arial"/>
              </a:defRPr>
            </a:pPr>
            <a:r>
              <a:rPr sz="1575" b="1">
                <a:solidFill>
                  <a:srgbClr val="111111"/>
                </a:solidFill>
                <a:latin typeface="Arial"/>
                <a:ea typeface="Arial"/>
                <a:cs typeface="Arial"/>
              </a:rPr>
              <a:t>استخراج</a:t>
            </a:r>
          </a:p>
        </p:txBody>
      </p:sp>
      <p:sp>
        <p:nvSpPr>
          <p:cNvPr id="17" name="">
            <a:extLst xmlns:a="http://schemas.openxmlformats.org/drawingml/2006/main">
              <a:ext uri="{FF2B5EF4-FFF2-40B4-BE49-F238E27FC236}">
                <a16:creationId xmlns:a16="http://schemas.microsoft.com/office/drawing/2014/main" id="{00C6982A-BD45-4893-92E7-D7EDBCE3B6B7}"/>
              </a:ext>
            </a:extLst>
          </p:cNvPr>
          <p:cNvSpPr>
            <a:spLocks xmlns:a="http://schemas.openxmlformats.org/drawingml/2006/main" noGrp="1"/>
          </p:cNvSpPr>
          <p:nvPr/>
        </p:nvSpPr>
        <p:spPr>
          <a:xfrm xmlns:a="http://schemas.openxmlformats.org/drawingml/2006/main">
            <a:off x="9563100" y="2705100"/>
            <a:ext cx="28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b="1">
                <a:solidFill>
                  <a:srgbClr val="5F6368"/>
                </a:solidFill>
                <a:latin typeface="Arial"/>
                <a:ea typeface="Arial"/>
                <a:cs typeface="Arial"/>
              </a:defRPr>
            </a:pPr>
            <a:r>
              <a:rPr sz="2250" b="1">
                <a:solidFill>
                  <a:srgbClr val="5F6368"/>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DE2B8F03-FD17-4766-9CE3-4D85168DC090}"/>
              </a:ext>
            </a:extLst>
          </p:cNvPr>
          <p:cNvSpPr>
            <a:spLocks xmlns:a="http://schemas.openxmlformats.org/drawingml/2006/main" noGrp="1"/>
          </p:cNvSpPr>
          <p:nvPr/>
        </p:nvSpPr>
        <p:spPr>
          <a:xfrm xmlns:a="http://schemas.openxmlformats.org/drawingml/2006/main">
            <a:off x="9877425" y="2457450"/>
            <a:ext cx="1524000" cy="9144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E6F135A-41CE-44B4-8329-7C0A8ECD9B06}"/>
              </a:ext>
            </a:extLst>
          </p:cNvPr>
          <p:cNvSpPr>
            <a:spLocks xmlns:a="http://schemas.openxmlformats.org/drawingml/2006/main" noGrp="1"/>
          </p:cNvSpPr>
          <p:nvPr/>
        </p:nvSpPr>
        <p:spPr>
          <a:xfrm xmlns:a="http://schemas.openxmlformats.org/drawingml/2006/main">
            <a:off x="9972675" y="2628900"/>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111"/>
                </a:solidFill>
                <a:latin typeface="Arial"/>
                <a:ea typeface="Arial"/>
                <a:cs typeface="Arial"/>
              </a:defRPr>
            </a:pPr>
            <a:r>
              <a:rPr sz="1575" b="1">
                <a:solidFill>
                  <a:srgbClr val="111111"/>
                </a:solidFill>
                <a:latin typeface="Arial"/>
                <a:ea typeface="Arial"/>
                <a:cs typeface="Arial"/>
              </a:rPr>
              <a:t>داده / شِما</a:t>
            </a:r>
          </a:p>
        </p:txBody>
      </p:sp>
      <p:sp>
        <p:nvSpPr>
          <p:cNvPr id="20" name="">
            <a:extLst xmlns:a="http://schemas.openxmlformats.org/drawingml/2006/main">
              <a:ext uri="{FF2B5EF4-FFF2-40B4-BE49-F238E27FC236}">
                <a16:creationId xmlns:a16="http://schemas.microsoft.com/office/drawing/2014/main" id="{AD16F813-8F5F-490A-A2B4-8DA1588F92F5}"/>
              </a:ext>
            </a:extLst>
          </p:cNvPr>
          <p:cNvSpPr>
            <a:spLocks xmlns:a="http://schemas.openxmlformats.org/drawingml/2006/main" noGrp="1"/>
          </p:cNvSpPr>
          <p:nvPr/>
        </p:nvSpPr>
        <p:spPr>
          <a:xfrm xmlns:a="http://schemas.openxmlformats.org/drawingml/2006/main">
            <a:off x="2381250" y="4095750"/>
            <a:ext cx="7429500" cy="11049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7A9287B-D8E2-4D92-A7EA-AD8CAD5209A2}"/>
              </a:ext>
            </a:extLst>
          </p:cNvPr>
          <p:cNvSpPr>
            <a:spLocks xmlns:a="http://schemas.openxmlformats.org/drawingml/2006/main" noGrp="1"/>
          </p:cNvSpPr>
          <p:nvPr/>
        </p:nvSpPr>
        <p:spPr>
          <a:xfrm xmlns:a="http://schemas.openxmlformats.org/drawingml/2006/main">
            <a:off x="2686050" y="4343400"/>
            <a:ext cx="6819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00" b="1">
                <a:solidFill>
                  <a:srgbClr val="111111"/>
                </a:solidFill>
                <a:latin typeface="Arial"/>
                <a:ea typeface="Arial"/>
                <a:cs typeface="Arial"/>
              </a:defRPr>
            </a:pPr>
            <a:r>
              <a:rPr sz="1800" b="1">
                <a:solidFill>
                  <a:srgbClr val="111111"/>
                </a:solidFill>
                <a:latin typeface="Arial"/>
                <a:ea typeface="Arial"/>
                <a:cs typeface="Arial"/>
              </a:rPr>
              <a:t>آزمون‌ها قیدها، بازیابی پس از خطا، ادغام، منشأ و امتیازدهی قطعی MGP را پوشش می‌دهند</a:t>
            </a:r>
          </a:p>
        </p:txBody>
      </p:sp>
      <p:sp>
        <p:nvSpPr>
          <p:cNvPr id="22" name="">
            <a:extLst xmlns:a="http://schemas.openxmlformats.org/drawingml/2006/main">
              <a:ext uri="{FF2B5EF4-FFF2-40B4-BE49-F238E27FC236}">
                <a16:creationId xmlns:a16="http://schemas.microsoft.com/office/drawing/2014/main" id="{584134C6-085B-4637-89F2-E7A7BBD00C8E}"/>
              </a:ext>
            </a:extLst>
          </p:cNvPr>
          <p:cNvSpPr>
            <a:spLocks xmlns:a="http://schemas.openxmlformats.org/drawingml/2006/main" noGrp="1"/>
          </p:cNvSpPr>
          <p:nvPr/>
        </p:nvSpPr>
        <p:spPr>
          <a:xfrm xmlns:a="http://schemas.openxmlformats.org/drawingml/2006/main">
            <a:off x="762000" y="6353175"/>
            <a:ext cx="10191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675" b="0">
                <a:solidFill>
                  <a:srgbClr val="5F6368"/>
                </a:solidFill>
                <a:latin typeface="Arial"/>
                <a:ea typeface="Arial"/>
                <a:cs typeface="Arial"/>
              </a:defRPr>
            </a:pPr>
            <a:r>
              <a:rPr sz="675" b="0">
                <a:solidFill>
                  <a:srgbClr val="5F6368"/>
                </a:solidFill>
                <a:latin typeface="Arial"/>
                <a:ea typeface="Arial"/>
                <a:cs typeface="Arial"/>
              </a:rPr>
              <a:t>منبع: src/ksa؛ scripts/evaluation؛ tests؛ ردیابی رفتار به کد</a:t>
            </a:r>
          </a:p>
        </p:txBody>
      </p:sp>
    </p:spTree>
    <p:extLst>
      <p:ext uri="{BB962C8B-B14F-4D97-AF65-F5344CB8AC3E}">
        <p14:creationId xmlns:p14="http://schemas.microsoft.com/office/powerpoint/2010/main" val="6310331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2026-07-13T09:35:30.8470000Z</dcterms:created>
  <dcterms:modified xsi:type="dcterms:W3CDTF">2026-07-13T09:35:30.8470000Z</dcterms:modified>
</coreProperties>
</file>